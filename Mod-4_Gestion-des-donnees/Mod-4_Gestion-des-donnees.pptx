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57" r:id="rId2"/>
    <p:sldId id="260" r:id="rId3"/>
    <p:sldId id="312" r:id="rId4"/>
    <p:sldId id="313" r:id="rId5"/>
    <p:sldId id="315" r:id="rId6"/>
    <p:sldId id="314" r:id="rId7"/>
    <p:sldId id="316" r:id="rId8"/>
    <p:sldId id="317" r:id="rId9"/>
    <p:sldId id="318" r:id="rId10"/>
    <p:sldId id="354" r:id="rId11"/>
    <p:sldId id="319" r:id="rId12"/>
    <p:sldId id="320" r:id="rId13"/>
    <p:sldId id="322" r:id="rId14"/>
    <p:sldId id="323" r:id="rId15"/>
    <p:sldId id="324" r:id="rId16"/>
    <p:sldId id="325" r:id="rId17"/>
    <p:sldId id="326" r:id="rId18"/>
    <p:sldId id="327" r:id="rId19"/>
    <p:sldId id="328" r:id="rId20"/>
    <p:sldId id="321" r:id="rId21"/>
    <p:sldId id="329" r:id="rId22"/>
    <p:sldId id="330" r:id="rId23"/>
    <p:sldId id="331" r:id="rId24"/>
    <p:sldId id="332" r:id="rId25"/>
    <p:sldId id="333" r:id="rId26"/>
    <p:sldId id="334" r:id="rId27"/>
    <p:sldId id="335" r:id="rId28"/>
    <p:sldId id="336" r:id="rId29"/>
    <p:sldId id="337" r:id="rId30"/>
    <p:sldId id="338" r:id="rId31"/>
    <p:sldId id="339" r:id="rId32"/>
    <p:sldId id="340" r:id="rId33"/>
    <p:sldId id="341" r:id="rId34"/>
    <p:sldId id="342" r:id="rId35"/>
    <p:sldId id="345" r:id="rId36"/>
    <p:sldId id="344" r:id="rId37"/>
    <p:sldId id="346" r:id="rId38"/>
    <p:sldId id="347" r:id="rId39"/>
    <p:sldId id="343" r:id="rId40"/>
    <p:sldId id="349" r:id="rId41"/>
    <p:sldId id="350" r:id="rId42"/>
    <p:sldId id="351" r:id="rId43"/>
    <p:sldId id="352" r:id="rId44"/>
    <p:sldId id="353" r:id="rId45"/>
  </p:sldIdLst>
  <p:sldSz cx="12192000" cy="6858000"/>
  <p:notesSz cx="6858000" cy="9144000"/>
  <p:custDataLst>
    <p:tags r:id="rId47"/>
  </p:custData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29" autoAdjust="0"/>
    <p:restoredTop sz="78935" autoAdjust="0"/>
  </p:normalViewPr>
  <p:slideViewPr>
    <p:cSldViewPr snapToGrid="0">
      <p:cViewPr varScale="1">
        <p:scale>
          <a:sx n="84" d="100"/>
          <a:sy n="84" d="100"/>
        </p:scale>
        <p:origin x="1566"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gs" Target="tags/tag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BFB633-4452-4F0C-BA0F-2CD00723C3AC}" type="datetimeFigureOut">
              <a:rPr lang="fr-FR" smtClean="0"/>
              <a:t>08/12/2024</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BD2029-649D-48EA-8D54-71DE188D0EA1}" type="slidenum">
              <a:rPr lang="fr-FR" smtClean="0"/>
              <a:t>‹N°›</a:t>
            </a:fld>
            <a:endParaRPr lang="fr-FR"/>
          </a:p>
        </p:txBody>
      </p:sp>
    </p:spTree>
    <p:extLst>
      <p:ext uri="{BB962C8B-B14F-4D97-AF65-F5344CB8AC3E}">
        <p14:creationId xmlns:p14="http://schemas.microsoft.com/office/powerpoint/2010/main" val="9040125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Ne pas oublier =&gt; Emargement Feuille de Présence</a:t>
            </a:r>
          </a:p>
          <a:p>
            <a:endParaRPr lang="fr-FR" dirty="0"/>
          </a:p>
        </p:txBody>
      </p:sp>
      <p:sp>
        <p:nvSpPr>
          <p:cNvPr id="4" name="Espace réservé du numéro de diapositive 3"/>
          <p:cNvSpPr>
            <a:spLocks noGrp="1"/>
          </p:cNvSpPr>
          <p:nvPr>
            <p:ph type="sldNum" sz="quarter" idx="5"/>
          </p:nvPr>
        </p:nvSpPr>
        <p:spPr/>
        <p:txBody>
          <a:bodyPr/>
          <a:lstStyle/>
          <a:p>
            <a:fld id="{0C781474-524D-480F-B4CF-E5E3F72A0E8D}" type="slidenum">
              <a:rPr lang="fr-FR" smtClean="0"/>
              <a:t>1</a:t>
            </a:fld>
            <a:endParaRPr lang="fr-FR"/>
          </a:p>
        </p:txBody>
      </p:sp>
    </p:spTree>
    <p:extLst>
      <p:ext uri="{BB962C8B-B14F-4D97-AF65-F5344CB8AC3E}">
        <p14:creationId xmlns:p14="http://schemas.microsoft.com/office/powerpoint/2010/main" val="20758797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65474-698E-53CB-4E65-E795FBDDC17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FB8F05E-7D17-A158-8E33-BAD2176210D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12ED2A6-D3C3-0EDF-A2E9-F1139408C1C6}"/>
              </a:ext>
            </a:extLst>
          </p:cNvPr>
          <p:cNvSpPr>
            <a:spLocks noGrp="1"/>
          </p:cNvSpPr>
          <p:nvPr>
            <p:ph type="body" idx="1"/>
          </p:nvPr>
        </p:nvSpPr>
        <p:spPr/>
        <p:txBody>
          <a:bodyPr/>
          <a:lstStyle/>
          <a:p>
            <a:r>
              <a:rPr lang="fr-FR" dirty="0"/>
              <a:t>Ne pas oublier =&gt; Emargement Feuille de Présence</a:t>
            </a:r>
          </a:p>
          <a:p>
            <a:endParaRPr lang="fr-FR" dirty="0"/>
          </a:p>
        </p:txBody>
      </p:sp>
      <p:sp>
        <p:nvSpPr>
          <p:cNvPr id="4" name="Espace réservé du numéro de diapositive 3">
            <a:extLst>
              <a:ext uri="{FF2B5EF4-FFF2-40B4-BE49-F238E27FC236}">
                <a16:creationId xmlns:a16="http://schemas.microsoft.com/office/drawing/2014/main" id="{253CFAF7-5D07-9F6A-5EC0-5876E1B45B12}"/>
              </a:ext>
            </a:extLst>
          </p:cNvPr>
          <p:cNvSpPr>
            <a:spLocks noGrp="1"/>
          </p:cNvSpPr>
          <p:nvPr>
            <p:ph type="sldNum" sz="quarter" idx="5"/>
          </p:nvPr>
        </p:nvSpPr>
        <p:spPr/>
        <p:txBody>
          <a:bodyPr/>
          <a:lstStyle/>
          <a:p>
            <a:fld id="{0C781474-524D-480F-B4CF-E5E3F72A0E8D}" type="slidenum">
              <a:rPr lang="fr-FR" smtClean="0"/>
              <a:t>5</a:t>
            </a:fld>
            <a:endParaRPr lang="fr-FR"/>
          </a:p>
        </p:txBody>
      </p:sp>
    </p:spTree>
    <p:extLst>
      <p:ext uri="{BB962C8B-B14F-4D97-AF65-F5344CB8AC3E}">
        <p14:creationId xmlns:p14="http://schemas.microsoft.com/office/powerpoint/2010/main" val="18745176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F1063-6A81-29EF-3858-8CD92DAB8CF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55CEAE9-DAAD-9CFC-0BDB-BA4B9CBA4D7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DD1EB95-8084-9FE3-57DA-509604D05F25}"/>
              </a:ext>
            </a:extLst>
          </p:cNvPr>
          <p:cNvSpPr>
            <a:spLocks noGrp="1"/>
          </p:cNvSpPr>
          <p:nvPr>
            <p:ph type="body" idx="1"/>
          </p:nvPr>
        </p:nvSpPr>
        <p:spPr/>
        <p:txBody>
          <a:bodyPr/>
          <a:lstStyle/>
          <a:p>
            <a:r>
              <a:rPr lang="fr-FR" dirty="0"/>
              <a:t>Ne pas oublier =&gt; Emargement Feuille de Présence</a:t>
            </a:r>
          </a:p>
          <a:p>
            <a:endParaRPr lang="fr-FR" dirty="0"/>
          </a:p>
        </p:txBody>
      </p:sp>
      <p:sp>
        <p:nvSpPr>
          <p:cNvPr id="4" name="Espace réservé du numéro de diapositive 3">
            <a:extLst>
              <a:ext uri="{FF2B5EF4-FFF2-40B4-BE49-F238E27FC236}">
                <a16:creationId xmlns:a16="http://schemas.microsoft.com/office/drawing/2014/main" id="{5FE8065A-48B9-D455-DF03-4A667EA1272B}"/>
              </a:ext>
            </a:extLst>
          </p:cNvPr>
          <p:cNvSpPr>
            <a:spLocks noGrp="1"/>
          </p:cNvSpPr>
          <p:nvPr>
            <p:ph type="sldNum" sz="quarter" idx="5"/>
          </p:nvPr>
        </p:nvSpPr>
        <p:spPr/>
        <p:txBody>
          <a:bodyPr/>
          <a:lstStyle/>
          <a:p>
            <a:fld id="{0C781474-524D-480F-B4CF-E5E3F72A0E8D}" type="slidenum">
              <a:rPr lang="fr-FR" smtClean="0"/>
              <a:t>11</a:t>
            </a:fld>
            <a:endParaRPr lang="fr-FR"/>
          </a:p>
        </p:txBody>
      </p:sp>
    </p:spTree>
    <p:extLst>
      <p:ext uri="{BB962C8B-B14F-4D97-AF65-F5344CB8AC3E}">
        <p14:creationId xmlns:p14="http://schemas.microsoft.com/office/powerpoint/2010/main" val="18994499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A0260-9C23-338D-8FCB-7BADBA645D3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E128F43-1C50-4B40-500F-105DCC12937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A320425-6574-8CDB-BE6A-33415CD45BCF}"/>
              </a:ext>
            </a:extLst>
          </p:cNvPr>
          <p:cNvSpPr>
            <a:spLocks noGrp="1"/>
          </p:cNvSpPr>
          <p:nvPr>
            <p:ph type="body" idx="1"/>
          </p:nvPr>
        </p:nvSpPr>
        <p:spPr/>
        <p:txBody>
          <a:bodyPr/>
          <a:lstStyle/>
          <a:p>
            <a:r>
              <a:rPr lang="fr-FR" dirty="0"/>
              <a:t>Ne pas oublier =&gt; Emargement Feuille de Présence</a:t>
            </a:r>
          </a:p>
          <a:p>
            <a:endParaRPr lang="fr-FR" dirty="0"/>
          </a:p>
        </p:txBody>
      </p:sp>
      <p:sp>
        <p:nvSpPr>
          <p:cNvPr id="4" name="Espace réservé du numéro de diapositive 3">
            <a:extLst>
              <a:ext uri="{FF2B5EF4-FFF2-40B4-BE49-F238E27FC236}">
                <a16:creationId xmlns:a16="http://schemas.microsoft.com/office/drawing/2014/main" id="{EC51A48E-1AC1-131F-F075-C9052FD881B0}"/>
              </a:ext>
            </a:extLst>
          </p:cNvPr>
          <p:cNvSpPr>
            <a:spLocks noGrp="1"/>
          </p:cNvSpPr>
          <p:nvPr>
            <p:ph type="sldNum" sz="quarter" idx="5"/>
          </p:nvPr>
        </p:nvSpPr>
        <p:spPr/>
        <p:txBody>
          <a:bodyPr/>
          <a:lstStyle/>
          <a:p>
            <a:fld id="{0C781474-524D-480F-B4CF-E5E3F72A0E8D}" type="slidenum">
              <a:rPr lang="fr-FR" smtClean="0"/>
              <a:t>12</a:t>
            </a:fld>
            <a:endParaRPr lang="fr-FR"/>
          </a:p>
        </p:txBody>
      </p:sp>
    </p:spTree>
    <p:extLst>
      <p:ext uri="{BB962C8B-B14F-4D97-AF65-F5344CB8AC3E}">
        <p14:creationId xmlns:p14="http://schemas.microsoft.com/office/powerpoint/2010/main" val="9058873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F7891-8407-BB7C-D01A-1E52FF83272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2C87754-DE86-52BD-B657-08B8A3C9475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93D6A1C-56B3-85D0-F622-20B5EAF53972}"/>
              </a:ext>
            </a:extLst>
          </p:cNvPr>
          <p:cNvSpPr>
            <a:spLocks noGrp="1"/>
          </p:cNvSpPr>
          <p:nvPr>
            <p:ph type="body" idx="1"/>
          </p:nvPr>
        </p:nvSpPr>
        <p:spPr/>
        <p:txBody>
          <a:bodyPr/>
          <a:lstStyle/>
          <a:p>
            <a:r>
              <a:rPr lang="fr-FR" dirty="0"/>
              <a:t>Ne pas oublier =&gt; Emargement Feuille de Présence</a:t>
            </a:r>
          </a:p>
          <a:p>
            <a:endParaRPr lang="fr-FR" dirty="0"/>
          </a:p>
        </p:txBody>
      </p:sp>
      <p:sp>
        <p:nvSpPr>
          <p:cNvPr id="4" name="Espace réservé du numéro de diapositive 3">
            <a:extLst>
              <a:ext uri="{FF2B5EF4-FFF2-40B4-BE49-F238E27FC236}">
                <a16:creationId xmlns:a16="http://schemas.microsoft.com/office/drawing/2014/main" id="{90B5FC1C-CD19-054D-797D-49DB832DE7A7}"/>
              </a:ext>
            </a:extLst>
          </p:cNvPr>
          <p:cNvSpPr>
            <a:spLocks noGrp="1"/>
          </p:cNvSpPr>
          <p:nvPr>
            <p:ph type="sldNum" sz="quarter" idx="5"/>
          </p:nvPr>
        </p:nvSpPr>
        <p:spPr/>
        <p:txBody>
          <a:bodyPr/>
          <a:lstStyle/>
          <a:p>
            <a:fld id="{0C781474-524D-480F-B4CF-E5E3F72A0E8D}" type="slidenum">
              <a:rPr lang="fr-FR" smtClean="0"/>
              <a:t>20</a:t>
            </a:fld>
            <a:endParaRPr lang="fr-FR"/>
          </a:p>
        </p:txBody>
      </p:sp>
    </p:spTree>
    <p:extLst>
      <p:ext uri="{BB962C8B-B14F-4D97-AF65-F5344CB8AC3E}">
        <p14:creationId xmlns:p14="http://schemas.microsoft.com/office/powerpoint/2010/main" val="22308883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BBD2029-649D-48EA-8D54-71DE188D0EA1}" type="slidenum">
              <a:rPr lang="fr-FR" smtClean="0"/>
              <a:t>32</a:t>
            </a:fld>
            <a:endParaRPr lang="fr-FR"/>
          </a:p>
        </p:txBody>
      </p:sp>
    </p:spTree>
    <p:extLst>
      <p:ext uri="{BB962C8B-B14F-4D97-AF65-F5344CB8AC3E}">
        <p14:creationId xmlns:p14="http://schemas.microsoft.com/office/powerpoint/2010/main" val="38028281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809F5-1DB4-57D7-610F-CD006799A49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B5F03A8-357B-8E9F-8966-3C2F2D1525F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E127C22-1FF4-FBC5-94D1-21456A426267}"/>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9965530E-4C1A-0859-7A65-9A02193925A1}"/>
              </a:ext>
            </a:extLst>
          </p:cNvPr>
          <p:cNvSpPr>
            <a:spLocks noGrp="1"/>
          </p:cNvSpPr>
          <p:nvPr>
            <p:ph type="sldNum" sz="quarter" idx="5"/>
          </p:nvPr>
        </p:nvSpPr>
        <p:spPr/>
        <p:txBody>
          <a:bodyPr/>
          <a:lstStyle/>
          <a:p>
            <a:fld id="{CBBD2029-649D-48EA-8D54-71DE188D0EA1}" type="slidenum">
              <a:rPr lang="fr-FR" smtClean="0"/>
              <a:t>35</a:t>
            </a:fld>
            <a:endParaRPr lang="fr-FR"/>
          </a:p>
        </p:txBody>
      </p:sp>
    </p:spTree>
    <p:extLst>
      <p:ext uri="{BB962C8B-B14F-4D97-AF65-F5344CB8AC3E}">
        <p14:creationId xmlns:p14="http://schemas.microsoft.com/office/powerpoint/2010/main" val="29400680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BBD2029-649D-48EA-8D54-71DE188D0EA1}" type="slidenum">
              <a:rPr lang="fr-FR" smtClean="0"/>
              <a:t>36</a:t>
            </a:fld>
            <a:endParaRPr lang="fr-FR"/>
          </a:p>
        </p:txBody>
      </p:sp>
    </p:spTree>
    <p:extLst>
      <p:ext uri="{BB962C8B-B14F-4D97-AF65-F5344CB8AC3E}">
        <p14:creationId xmlns:p14="http://schemas.microsoft.com/office/powerpoint/2010/main" val="41732816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CBFC3-91A4-E3E1-C5BC-57EFDB6F8D3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DE89C50-3A7F-7F40-A245-3E667BAA35C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0BAAAB9-43D5-9238-C92E-EC1920025931}"/>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CF5DBAAB-C337-EEFD-8389-031BF4037132}"/>
              </a:ext>
            </a:extLst>
          </p:cNvPr>
          <p:cNvSpPr>
            <a:spLocks noGrp="1"/>
          </p:cNvSpPr>
          <p:nvPr>
            <p:ph type="sldNum" sz="quarter" idx="5"/>
          </p:nvPr>
        </p:nvSpPr>
        <p:spPr/>
        <p:txBody>
          <a:bodyPr/>
          <a:lstStyle/>
          <a:p>
            <a:fld id="{CBBD2029-649D-48EA-8D54-71DE188D0EA1}" type="slidenum">
              <a:rPr lang="fr-FR" smtClean="0"/>
              <a:t>37</a:t>
            </a:fld>
            <a:endParaRPr lang="fr-FR"/>
          </a:p>
        </p:txBody>
      </p:sp>
    </p:spTree>
    <p:extLst>
      <p:ext uri="{BB962C8B-B14F-4D97-AF65-F5344CB8AC3E}">
        <p14:creationId xmlns:p14="http://schemas.microsoft.com/office/powerpoint/2010/main" val="22399936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118E7-5BD9-E73A-1405-60CEB3030B0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73CE773-2ACB-FE74-4BDA-346DF516914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423031B-04E1-B99A-C9BC-24EF17CBA3EA}"/>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C23AA158-DC31-F904-EA13-C4330EF170E9}"/>
              </a:ext>
            </a:extLst>
          </p:cNvPr>
          <p:cNvSpPr>
            <a:spLocks noGrp="1"/>
          </p:cNvSpPr>
          <p:nvPr>
            <p:ph type="sldNum" sz="quarter" idx="5"/>
          </p:nvPr>
        </p:nvSpPr>
        <p:spPr/>
        <p:txBody>
          <a:bodyPr/>
          <a:lstStyle/>
          <a:p>
            <a:fld id="{CBBD2029-649D-48EA-8D54-71DE188D0EA1}" type="slidenum">
              <a:rPr lang="fr-FR" smtClean="0"/>
              <a:t>38</a:t>
            </a:fld>
            <a:endParaRPr lang="fr-FR"/>
          </a:p>
        </p:txBody>
      </p:sp>
    </p:spTree>
    <p:extLst>
      <p:ext uri="{BB962C8B-B14F-4D97-AF65-F5344CB8AC3E}">
        <p14:creationId xmlns:p14="http://schemas.microsoft.com/office/powerpoint/2010/main" val="41977701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C1955-E432-830E-7B5D-1B2FD91450D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E7D8158-646B-DB6B-AA4C-78CB26E8000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3FBF295-85E1-1F9C-5697-3EEFBD0C06D7}"/>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A1DD85CD-9DD7-A786-B616-80F90A30A509}"/>
              </a:ext>
            </a:extLst>
          </p:cNvPr>
          <p:cNvSpPr>
            <a:spLocks noGrp="1"/>
          </p:cNvSpPr>
          <p:nvPr>
            <p:ph type="sldNum" sz="quarter" idx="5"/>
          </p:nvPr>
        </p:nvSpPr>
        <p:spPr/>
        <p:txBody>
          <a:bodyPr/>
          <a:lstStyle/>
          <a:p>
            <a:fld id="{CBBD2029-649D-48EA-8D54-71DE188D0EA1}" type="slidenum">
              <a:rPr lang="fr-FR" smtClean="0"/>
              <a:t>40</a:t>
            </a:fld>
            <a:endParaRPr lang="fr-FR"/>
          </a:p>
        </p:txBody>
      </p:sp>
    </p:spTree>
    <p:extLst>
      <p:ext uri="{BB962C8B-B14F-4D97-AF65-F5344CB8AC3E}">
        <p14:creationId xmlns:p14="http://schemas.microsoft.com/office/powerpoint/2010/main" val="31494198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78C4A-7866-4F5D-9182-C2853E70AA7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11C8279-701A-89C0-BDC5-E58E73C9EBA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EEC1890-6F23-63AA-4C00-E482CC7CC75A}"/>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D7D3DE15-6C5A-2F29-454F-D3A4DF6880F8}"/>
              </a:ext>
            </a:extLst>
          </p:cNvPr>
          <p:cNvSpPr>
            <a:spLocks noGrp="1"/>
          </p:cNvSpPr>
          <p:nvPr>
            <p:ph type="sldNum" sz="quarter" idx="5"/>
          </p:nvPr>
        </p:nvSpPr>
        <p:spPr/>
        <p:txBody>
          <a:bodyPr/>
          <a:lstStyle/>
          <a:p>
            <a:fld id="{CBBD2029-649D-48EA-8D54-71DE188D0EA1}" type="slidenum">
              <a:rPr lang="fr-FR" smtClean="0"/>
              <a:t>41</a:t>
            </a:fld>
            <a:endParaRPr lang="fr-FR"/>
          </a:p>
        </p:txBody>
      </p:sp>
    </p:spTree>
    <p:extLst>
      <p:ext uri="{BB962C8B-B14F-4D97-AF65-F5344CB8AC3E}">
        <p14:creationId xmlns:p14="http://schemas.microsoft.com/office/powerpoint/2010/main" val="35368640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2F664A-059F-EEC8-D68A-65FC10E896AC}"/>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29AEC2E7-F1C4-1C38-B04C-56354F215DD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6FDDE066-AB9D-10A6-035A-E7D64775ACEC}"/>
              </a:ext>
            </a:extLst>
          </p:cNvPr>
          <p:cNvSpPr>
            <a:spLocks noGrp="1"/>
          </p:cNvSpPr>
          <p:nvPr>
            <p:ph type="dt" sz="half" idx="10"/>
          </p:nvPr>
        </p:nvSpPr>
        <p:spPr/>
        <p:txBody>
          <a:bodyPr/>
          <a:lstStyle/>
          <a:p>
            <a:fld id="{28A432E4-1CFA-442C-ACF5-97C5B2B5FF8E}" type="datetimeFigureOut">
              <a:rPr lang="fr-FR" smtClean="0"/>
              <a:t>08/12/2024</a:t>
            </a:fld>
            <a:endParaRPr lang="fr-FR"/>
          </a:p>
        </p:txBody>
      </p:sp>
      <p:sp>
        <p:nvSpPr>
          <p:cNvPr id="5" name="Espace réservé du pied de page 4">
            <a:extLst>
              <a:ext uri="{FF2B5EF4-FFF2-40B4-BE49-F238E27FC236}">
                <a16:creationId xmlns:a16="http://schemas.microsoft.com/office/drawing/2014/main" id="{13BC6729-19A6-D706-DA77-B328A89A3AA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1C2CA31-0CB5-B632-6348-E5C24E9F20F2}"/>
              </a:ext>
            </a:extLst>
          </p:cNvPr>
          <p:cNvSpPr>
            <a:spLocks noGrp="1"/>
          </p:cNvSpPr>
          <p:nvPr>
            <p:ph type="sldNum" sz="quarter" idx="12"/>
          </p:nvPr>
        </p:nvSpPr>
        <p:spPr/>
        <p:txBody>
          <a:bodyPr/>
          <a:lstStyle/>
          <a:p>
            <a:fld id="{A1FE79D6-AF01-429E-97DB-8E09522D6EB4}" type="slidenum">
              <a:rPr lang="fr-FR" smtClean="0"/>
              <a:t>‹N°›</a:t>
            </a:fld>
            <a:endParaRPr lang="fr-FR"/>
          </a:p>
        </p:txBody>
      </p:sp>
    </p:spTree>
    <p:extLst>
      <p:ext uri="{BB962C8B-B14F-4D97-AF65-F5344CB8AC3E}">
        <p14:creationId xmlns:p14="http://schemas.microsoft.com/office/powerpoint/2010/main" val="2487751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675F23C-D034-D4B2-B6D6-C988AF210353}"/>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517EE1C-B0EA-80F7-7FA2-3016744099A7}"/>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2296F5A-963F-6CAA-9E35-A44E11181D65}"/>
              </a:ext>
            </a:extLst>
          </p:cNvPr>
          <p:cNvSpPr>
            <a:spLocks noGrp="1"/>
          </p:cNvSpPr>
          <p:nvPr>
            <p:ph type="dt" sz="half" idx="10"/>
          </p:nvPr>
        </p:nvSpPr>
        <p:spPr/>
        <p:txBody>
          <a:bodyPr/>
          <a:lstStyle/>
          <a:p>
            <a:fld id="{28A432E4-1CFA-442C-ACF5-97C5B2B5FF8E}" type="datetimeFigureOut">
              <a:rPr lang="fr-FR" smtClean="0"/>
              <a:t>08/12/2024</a:t>
            </a:fld>
            <a:endParaRPr lang="fr-FR"/>
          </a:p>
        </p:txBody>
      </p:sp>
      <p:sp>
        <p:nvSpPr>
          <p:cNvPr id="5" name="Espace réservé du pied de page 4">
            <a:extLst>
              <a:ext uri="{FF2B5EF4-FFF2-40B4-BE49-F238E27FC236}">
                <a16:creationId xmlns:a16="http://schemas.microsoft.com/office/drawing/2014/main" id="{96D194B4-99E5-94EB-8511-4F6DFBEF85D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FE1FBB4-B697-C4E8-93A2-E76661E293BF}"/>
              </a:ext>
            </a:extLst>
          </p:cNvPr>
          <p:cNvSpPr>
            <a:spLocks noGrp="1"/>
          </p:cNvSpPr>
          <p:nvPr>
            <p:ph type="sldNum" sz="quarter" idx="12"/>
          </p:nvPr>
        </p:nvSpPr>
        <p:spPr/>
        <p:txBody>
          <a:bodyPr/>
          <a:lstStyle/>
          <a:p>
            <a:fld id="{A1FE79D6-AF01-429E-97DB-8E09522D6EB4}" type="slidenum">
              <a:rPr lang="fr-FR" smtClean="0"/>
              <a:t>‹N°›</a:t>
            </a:fld>
            <a:endParaRPr lang="fr-FR"/>
          </a:p>
        </p:txBody>
      </p:sp>
    </p:spTree>
    <p:extLst>
      <p:ext uri="{BB962C8B-B14F-4D97-AF65-F5344CB8AC3E}">
        <p14:creationId xmlns:p14="http://schemas.microsoft.com/office/powerpoint/2010/main" val="3673425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05C1CB3-7730-60BA-CFB3-0BF79CAF0464}"/>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A5C38469-6442-AD0E-A789-8CBFB4050DC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FCE92584-9951-E6E3-BC51-2D3E16622663}"/>
              </a:ext>
            </a:extLst>
          </p:cNvPr>
          <p:cNvSpPr>
            <a:spLocks noGrp="1"/>
          </p:cNvSpPr>
          <p:nvPr>
            <p:ph type="dt" sz="half" idx="10"/>
          </p:nvPr>
        </p:nvSpPr>
        <p:spPr/>
        <p:txBody>
          <a:bodyPr/>
          <a:lstStyle/>
          <a:p>
            <a:fld id="{28A432E4-1CFA-442C-ACF5-97C5B2B5FF8E}" type="datetimeFigureOut">
              <a:rPr lang="fr-FR" smtClean="0"/>
              <a:t>08/12/2024</a:t>
            </a:fld>
            <a:endParaRPr lang="fr-FR"/>
          </a:p>
        </p:txBody>
      </p:sp>
      <p:sp>
        <p:nvSpPr>
          <p:cNvPr id="5" name="Espace réservé du pied de page 4">
            <a:extLst>
              <a:ext uri="{FF2B5EF4-FFF2-40B4-BE49-F238E27FC236}">
                <a16:creationId xmlns:a16="http://schemas.microsoft.com/office/drawing/2014/main" id="{6A9D5CF5-5060-CB3F-7509-C0A4111D9C2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04AD789-4BB9-D7A9-8988-A2EB83EC77ED}"/>
              </a:ext>
            </a:extLst>
          </p:cNvPr>
          <p:cNvSpPr>
            <a:spLocks noGrp="1"/>
          </p:cNvSpPr>
          <p:nvPr>
            <p:ph type="sldNum" sz="quarter" idx="12"/>
          </p:nvPr>
        </p:nvSpPr>
        <p:spPr/>
        <p:txBody>
          <a:bodyPr/>
          <a:lstStyle/>
          <a:p>
            <a:fld id="{A1FE79D6-AF01-429E-97DB-8E09522D6EB4}" type="slidenum">
              <a:rPr lang="fr-FR" smtClean="0"/>
              <a:t>‹N°›</a:t>
            </a:fld>
            <a:endParaRPr lang="fr-FR"/>
          </a:p>
        </p:txBody>
      </p:sp>
    </p:spTree>
    <p:extLst>
      <p:ext uri="{BB962C8B-B14F-4D97-AF65-F5344CB8AC3E}">
        <p14:creationId xmlns:p14="http://schemas.microsoft.com/office/powerpoint/2010/main" val="36785477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E07DE5-5D42-71C8-D4B1-4173B61EEBF6}"/>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C8F9D175-FDCF-3841-3CDA-10815BFF5E5A}"/>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2EC324F8-4591-C703-EF01-A6A2C23B1933}"/>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97C848DF-C65E-ABD9-1D96-67C0166A6527}"/>
              </a:ext>
            </a:extLst>
          </p:cNvPr>
          <p:cNvSpPr>
            <a:spLocks noGrp="1"/>
          </p:cNvSpPr>
          <p:nvPr>
            <p:ph type="dt" sz="half" idx="10"/>
          </p:nvPr>
        </p:nvSpPr>
        <p:spPr/>
        <p:txBody>
          <a:bodyPr/>
          <a:lstStyle/>
          <a:p>
            <a:fld id="{28A432E4-1CFA-442C-ACF5-97C5B2B5FF8E}" type="datetimeFigureOut">
              <a:rPr lang="fr-FR" smtClean="0"/>
              <a:t>08/12/2024</a:t>
            </a:fld>
            <a:endParaRPr lang="fr-FR"/>
          </a:p>
        </p:txBody>
      </p:sp>
      <p:sp>
        <p:nvSpPr>
          <p:cNvPr id="6" name="Espace réservé du pied de page 5">
            <a:extLst>
              <a:ext uri="{FF2B5EF4-FFF2-40B4-BE49-F238E27FC236}">
                <a16:creationId xmlns:a16="http://schemas.microsoft.com/office/drawing/2014/main" id="{D301EF98-EB8E-9B4F-EF87-25E620F7FB25}"/>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99F0968B-8251-D87D-722C-7EDFD944DAD8}"/>
              </a:ext>
            </a:extLst>
          </p:cNvPr>
          <p:cNvSpPr>
            <a:spLocks noGrp="1"/>
          </p:cNvSpPr>
          <p:nvPr>
            <p:ph type="sldNum" sz="quarter" idx="12"/>
          </p:nvPr>
        </p:nvSpPr>
        <p:spPr/>
        <p:txBody>
          <a:bodyPr/>
          <a:lstStyle/>
          <a:p>
            <a:fld id="{A1FE79D6-AF01-429E-97DB-8E09522D6EB4}" type="slidenum">
              <a:rPr lang="fr-FR" smtClean="0"/>
              <a:t>‹N°›</a:t>
            </a:fld>
            <a:endParaRPr lang="fr-FR"/>
          </a:p>
        </p:txBody>
      </p:sp>
    </p:spTree>
    <p:extLst>
      <p:ext uri="{BB962C8B-B14F-4D97-AF65-F5344CB8AC3E}">
        <p14:creationId xmlns:p14="http://schemas.microsoft.com/office/powerpoint/2010/main" val="241454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FB227C8-0D39-D095-0665-81CA6B32C871}"/>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DBB8148B-3DFB-BCBC-142A-B5F02F09D5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D3ABF01A-BA75-06FC-3BC4-B9599AD2D21E}"/>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E3165BAA-9262-1656-523D-2673D5445A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24ED93D7-5366-01CB-BECF-837161AD7479}"/>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3A9E1B4F-F985-5C10-8C02-3C859BEBB542}"/>
              </a:ext>
            </a:extLst>
          </p:cNvPr>
          <p:cNvSpPr>
            <a:spLocks noGrp="1"/>
          </p:cNvSpPr>
          <p:nvPr>
            <p:ph type="dt" sz="half" idx="10"/>
          </p:nvPr>
        </p:nvSpPr>
        <p:spPr/>
        <p:txBody>
          <a:bodyPr/>
          <a:lstStyle/>
          <a:p>
            <a:fld id="{28A432E4-1CFA-442C-ACF5-97C5B2B5FF8E}" type="datetimeFigureOut">
              <a:rPr lang="fr-FR" smtClean="0"/>
              <a:t>08/12/2024</a:t>
            </a:fld>
            <a:endParaRPr lang="fr-FR"/>
          </a:p>
        </p:txBody>
      </p:sp>
      <p:sp>
        <p:nvSpPr>
          <p:cNvPr id="8" name="Espace réservé du pied de page 7">
            <a:extLst>
              <a:ext uri="{FF2B5EF4-FFF2-40B4-BE49-F238E27FC236}">
                <a16:creationId xmlns:a16="http://schemas.microsoft.com/office/drawing/2014/main" id="{275277AE-DFB8-7095-4417-8D1C65DB356D}"/>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061C9DEB-60BB-1459-482E-7ADF270567BA}"/>
              </a:ext>
            </a:extLst>
          </p:cNvPr>
          <p:cNvSpPr>
            <a:spLocks noGrp="1"/>
          </p:cNvSpPr>
          <p:nvPr>
            <p:ph type="sldNum" sz="quarter" idx="12"/>
          </p:nvPr>
        </p:nvSpPr>
        <p:spPr/>
        <p:txBody>
          <a:bodyPr/>
          <a:lstStyle/>
          <a:p>
            <a:fld id="{A1FE79D6-AF01-429E-97DB-8E09522D6EB4}" type="slidenum">
              <a:rPr lang="fr-FR" smtClean="0"/>
              <a:t>‹N°›</a:t>
            </a:fld>
            <a:endParaRPr lang="fr-FR"/>
          </a:p>
        </p:txBody>
      </p:sp>
    </p:spTree>
    <p:extLst>
      <p:ext uri="{BB962C8B-B14F-4D97-AF65-F5344CB8AC3E}">
        <p14:creationId xmlns:p14="http://schemas.microsoft.com/office/powerpoint/2010/main" val="29871389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7FC6003-F040-4C7D-CDAC-2F3469318182}"/>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15EDE10A-6569-8F20-648A-09AB4B846453}"/>
              </a:ext>
            </a:extLst>
          </p:cNvPr>
          <p:cNvSpPr>
            <a:spLocks noGrp="1"/>
          </p:cNvSpPr>
          <p:nvPr>
            <p:ph type="dt" sz="half" idx="10"/>
          </p:nvPr>
        </p:nvSpPr>
        <p:spPr/>
        <p:txBody>
          <a:bodyPr/>
          <a:lstStyle/>
          <a:p>
            <a:fld id="{28A432E4-1CFA-442C-ACF5-97C5B2B5FF8E}" type="datetimeFigureOut">
              <a:rPr lang="fr-FR" smtClean="0"/>
              <a:t>08/12/2024</a:t>
            </a:fld>
            <a:endParaRPr lang="fr-FR"/>
          </a:p>
        </p:txBody>
      </p:sp>
      <p:sp>
        <p:nvSpPr>
          <p:cNvPr id="4" name="Espace réservé du pied de page 3">
            <a:extLst>
              <a:ext uri="{FF2B5EF4-FFF2-40B4-BE49-F238E27FC236}">
                <a16:creationId xmlns:a16="http://schemas.microsoft.com/office/drawing/2014/main" id="{000298DC-F1E5-CD4F-DC38-90C79E7375BB}"/>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48314C87-270E-F72E-AD0F-40252E2B1F26}"/>
              </a:ext>
            </a:extLst>
          </p:cNvPr>
          <p:cNvSpPr>
            <a:spLocks noGrp="1"/>
          </p:cNvSpPr>
          <p:nvPr>
            <p:ph type="sldNum" sz="quarter" idx="12"/>
          </p:nvPr>
        </p:nvSpPr>
        <p:spPr/>
        <p:txBody>
          <a:bodyPr/>
          <a:lstStyle/>
          <a:p>
            <a:fld id="{A1FE79D6-AF01-429E-97DB-8E09522D6EB4}" type="slidenum">
              <a:rPr lang="fr-FR" smtClean="0"/>
              <a:t>‹N°›</a:t>
            </a:fld>
            <a:endParaRPr lang="fr-FR"/>
          </a:p>
        </p:txBody>
      </p:sp>
    </p:spTree>
    <p:extLst>
      <p:ext uri="{BB962C8B-B14F-4D97-AF65-F5344CB8AC3E}">
        <p14:creationId xmlns:p14="http://schemas.microsoft.com/office/powerpoint/2010/main" val="36426343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12584D6E-E9C8-1FF3-C895-C71CCAC48FF1}"/>
              </a:ext>
            </a:extLst>
          </p:cNvPr>
          <p:cNvSpPr>
            <a:spLocks noGrp="1"/>
          </p:cNvSpPr>
          <p:nvPr>
            <p:ph type="dt" sz="half" idx="10"/>
          </p:nvPr>
        </p:nvSpPr>
        <p:spPr/>
        <p:txBody>
          <a:bodyPr/>
          <a:lstStyle/>
          <a:p>
            <a:fld id="{28A432E4-1CFA-442C-ACF5-97C5B2B5FF8E}" type="datetimeFigureOut">
              <a:rPr lang="fr-FR" smtClean="0"/>
              <a:t>08/12/2024</a:t>
            </a:fld>
            <a:endParaRPr lang="fr-FR"/>
          </a:p>
        </p:txBody>
      </p:sp>
      <p:sp>
        <p:nvSpPr>
          <p:cNvPr id="3" name="Espace réservé du pied de page 2">
            <a:extLst>
              <a:ext uri="{FF2B5EF4-FFF2-40B4-BE49-F238E27FC236}">
                <a16:creationId xmlns:a16="http://schemas.microsoft.com/office/drawing/2014/main" id="{B3BA6163-D544-4680-26E2-FCCC813A3FC2}"/>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5B1A9173-B161-753E-5251-A5024DDA1531}"/>
              </a:ext>
            </a:extLst>
          </p:cNvPr>
          <p:cNvSpPr>
            <a:spLocks noGrp="1"/>
          </p:cNvSpPr>
          <p:nvPr>
            <p:ph type="sldNum" sz="quarter" idx="12"/>
          </p:nvPr>
        </p:nvSpPr>
        <p:spPr/>
        <p:txBody>
          <a:bodyPr/>
          <a:lstStyle/>
          <a:p>
            <a:fld id="{A1FE79D6-AF01-429E-97DB-8E09522D6EB4}" type="slidenum">
              <a:rPr lang="fr-FR" smtClean="0"/>
              <a:t>‹N°›</a:t>
            </a:fld>
            <a:endParaRPr lang="fr-FR"/>
          </a:p>
        </p:txBody>
      </p:sp>
    </p:spTree>
    <p:extLst>
      <p:ext uri="{BB962C8B-B14F-4D97-AF65-F5344CB8AC3E}">
        <p14:creationId xmlns:p14="http://schemas.microsoft.com/office/powerpoint/2010/main" val="1534206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060B96-A01C-F496-9CF5-C9A06332E13D}"/>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EFEAE92-9636-059F-B032-63B354D267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DD3ED1F4-F21A-902B-3CA7-59589CBCDD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84F44A1-5CAC-E861-7E3C-6C1C08B99602}"/>
              </a:ext>
            </a:extLst>
          </p:cNvPr>
          <p:cNvSpPr>
            <a:spLocks noGrp="1"/>
          </p:cNvSpPr>
          <p:nvPr>
            <p:ph type="dt" sz="half" idx="10"/>
          </p:nvPr>
        </p:nvSpPr>
        <p:spPr/>
        <p:txBody>
          <a:bodyPr/>
          <a:lstStyle/>
          <a:p>
            <a:fld id="{28A432E4-1CFA-442C-ACF5-97C5B2B5FF8E}" type="datetimeFigureOut">
              <a:rPr lang="fr-FR" smtClean="0"/>
              <a:t>08/12/2024</a:t>
            </a:fld>
            <a:endParaRPr lang="fr-FR"/>
          </a:p>
        </p:txBody>
      </p:sp>
      <p:sp>
        <p:nvSpPr>
          <p:cNvPr id="6" name="Espace réservé du pied de page 5">
            <a:extLst>
              <a:ext uri="{FF2B5EF4-FFF2-40B4-BE49-F238E27FC236}">
                <a16:creationId xmlns:a16="http://schemas.microsoft.com/office/drawing/2014/main" id="{24FCBE39-014A-0B65-DB92-0A3623D15D8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7C28487-1CFA-A659-0B13-DB3D8A102447}"/>
              </a:ext>
            </a:extLst>
          </p:cNvPr>
          <p:cNvSpPr>
            <a:spLocks noGrp="1"/>
          </p:cNvSpPr>
          <p:nvPr>
            <p:ph type="sldNum" sz="quarter" idx="12"/>
          </p:nvPr>
        </p:nvSpPr>
        <p:spPr/>
        <p:txBody>
          <a:bodyPr/>
          <a:lstStyle/>
          <a:p>
            <a:fld id="{A1FE79D6-AF01-429E-97DB-8E09522D6EB4}" type="slidenum">
              <a:rPr lang="fr-FR" smtClean="0"/>
              <a:t>‹N°›</a:t>
            </a:fld>
            <a:endParaRPr lang="fr-FR"/>
          </a:p>
        </p:txBody>
      </p:sp>
    </p:spTree>
    <p:extLst>
      <p:ext uri="{BB962C8B-B14F-4D97-AF65-F5344CB8AC3E}">
        <p14:creationId xmlns:p14="http://schemas.microsoft.com/office/powerpoint/2010/main" val="27255035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F654124-647B-0CCA-B7BD-C62F7FD939DA}"/>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23AC5CA5-E1DA-FCE6-1345-7ED70E65DF1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5588D1CE-EB81-EFC9-2D8B-E633CB950E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4B26416D-9487-2649-2EBA-B01E7510D4B2}"/>
              </a:ext>
            </a:extLst>
          </p:cNvPr>
          <p:cNvSpPr>
            <a:spLocks noGrp="1"/>
          </p:cNvSpPr>
          <p:nvPr>
            <p:ph type="dt" sz="half" idx="10"/>
          </p:nvPr>
        </p:nvSpPr>
        <p:spPr/>
        <p:txBody>
          <a:bodyPr/>
          <a:lstStyle/>
          <a:p>
            <a:fld id="{28A432E4-1CFA-442C-ACF5-97C5B2B5FF8E}" type="datetimeFigureOut">
              <a:rPr lang="fr-FR" smtClean="0"/>
              <a:t>08/12/2024</a:t>
            </a:fld>
            <a:endParaRPr lang="fr-FR"/>
          </a:p>
        </p:txBody>
      </p:sp>
      <p:sp>
        <p:nvSpPr>
          <p:cNvPr id="6" name="Espace réservé du pied de page 5">
            <a:extLst>
              <a:ext uri="{FF2B5EF4-FFF2-40B4-BE49-F238E27FC236}">
                <a16:creationId xmlns:a16="http://schemas.microsoft.com/office/drawing/2014/main" id="{4A43A3F5-6918-0FB4-2EDD-69B37E8F55B4}"/>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7152DAC-533D-2AD3-4EA3-4CAF88808B09}"/>
              </a:ext>
            </a:extLst>
          </p:cNvPr>
          <p:cNvSpPr>
            <a:spLocks noGrp="1"/>
          </p:cNvSpPr>
          <p:nvPr>
            <p:ph type="sldNum" sz="quarter" idx="12"/>
          </p:nvPr>
        </p:nvSpPr>
        <p:spPr/>
        <p:txBody>
          <a:bodyPr/>
          <a:lstStyle/>
          <a:p>
            <a:fld id="{A1FE79D6-AF01-429E-97DB-8E09522D6EB4}" type="slidenum">
              <a:rPr lang="fr-FR" smtClean="0"/>
              <a:t>‹N°›</a:t>
            </a:fld>
            <a:endParaRPr lang="fr-FR"/>
          </a:p>
        </p:txBody>
      </p:sp>
    </p:spTree>
    <p:extLst>
      <p:ext uri="{BB962C8B-B14F-4D97-AF65-F5344CB8AC3E}">
        <p14:creationId xmlns:p14="http://schemas.microsoft.com/office/powerpoint/2010/main" val="16719800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FB7C5E1-5A74-4066-9258-9689127F1406}"/>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B181FAC3-5931-C80D-92CB-58FD7ECF9448}"/>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E2AA56D-5A1C-BDE7-B4F7-3DAB460536C3}"/>
              </a:ext>
            </a:extLst>
          </p:cNvPr>
          <p:cNvSpPr>
            <a:spLocks noGrp="1"/>
          </p:cNvSpPr>
          <p:nvPr>
            <p:ph type="dt" sz="half" idx="10"/>
          </p:nvPr>
        </p:nvSpPr>
        <p:spPr/>
        <p:txBody>
          <a:bodyPr/>
          <a:lstStyle/>
          <a:p>
            <a:fld id="{28A432E4-1CFA-442C-ACF5-97C5B2B5FF8E}" type="datetimeFigureOut">
              <a:rPr lang="fr-FR" smtClean="0"/>
              <a:t>08/12/2024</a:t>
            </a:fld>
            <a:endParaRPr lang="fr-FR"/>
          </a:p>
        </p:txBody>
      </p:sp>
      <p:sp>
        <p:nvSpPr>
          <p:cNvPr id="5" name="Espace réservé du pied de page 4">
            <a:extLst>
              <a:ext uri="{FF2B5EF4-FFF2-40B4-BE49-F238E27FC236}">
                <a16:creationId xmlns:a16="http://schemas.microsoft.com/office/drawing/2014/main" id="{04E05F36-197F-7FBD-5798-90875B85430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D1296A4-F7A5-A2AB-3D7B-FF917A03CF6F}"/>
              </a:ext>
            </a:extLst>
          </p:cNvPr>
          <p:cNvSpPr>
            <a:spLocks noGrp="1"/>
          </p:cNvSpPr>
          <p:nvPr>
            <p:ph type="sldNum" sz="quarter" idx="12"/>
          </p:nvPr>
        </p:nvSpPr>
        <p:spPr/>
        <p:txBody>
          <a:bodyPr/>
          <a:lstStyle/>
          <a:p>
            <a:fld id="{A1FE79D6-AF01-429E-97DB-8E09522D6EB4}" type="slidenum">
              <a:rPr lang="fr-FR" smtClean="0"/>
              <a:t>‹N°›</a:t>
            </a:fld>
            <a:endParaRPr lang="fr-FR"/>
          </a:p>
        </p:txBody>
      </p:sp>
    </p:spTree>
    <p:extLst>
      <p:ext uri="{BB962C8B-B14F-4D97-AF65-F5344CB8AC3E}">
        <p14:creationId xmlns:p14="http://schemas.microsoft.com/office/powerpoint/2010/main" val="17281811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32A4462F-4A89-A815-3915-CABE558532F1}"/>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2E877E45-2189-2E91-7D4C-F2EF9485E625}"/>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67A4733-F5CA-A325-FD4E-C38F4C0628B4}"/>
              </a:ext>
            </a:extLst>
          </p:cNvPr>
          <p:cNvSpPr>
            <a:spLocks noGrp="1"/>
          </p:cNvSpPr>
          <p:nvPr>
            <p:ph type="dt" sz="half" idx="10"/>
          </p:nvPr>
        </p:nvSpPr>
        <p:spPr/>
        <p:txBody>
          <a:bodyPr/>
          <a:lstStyle/>
          <a:p>
            <a:fld id="{28A432E4-1CFA-442C-ACF5-97C5B2B5FF8E}" type="datetimeFigureOut">
              <a:rPr lang="fr-FR" smtClean="0"/>
              <a:t>08/12/2024</a:t>
            </a:fld>
            <a:endParaRPr lang="fr-FR"/>
          </a:p>
        </p:txBody>
      </p:sp>
      <p:sp>
        <p:nvSpPr>
          <p:cNvPr id="5" name="Espace réservé du pied de page 4">
            <a:extLst>
              <a:ext uri="{FF2B5EF4-FFF2-40B4-BE49-F238E27FC236}">
                <a16:creationId xmlns:a16="http://schemas.microsoft.com/office/drawing/2014/main" id="{E5290AFC-28AB-490D-053D-D2005E428A8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32527DB-E708-F54F-809C-6C67CB9FCFA1}"/>
              </a:ext>
            </a:extLst>
          </p:cNvPr>
          <p:cNvSpPr>
            <a:spLocks noGrp="1"/>
          </p:cNvSpPr>
          <p:nvPr>
            <p:ph type="sldNum" sz="quarter" idx="12"/>
          </p:nvPr>
        </p:nvSpPr>
        <p:spPr/>
        <p:txBody>
          <a:bodyPr/>
          <a:lstStyle/>
          <a:p>
            <a:fld id="{A1FE79D6-AF01-429E-97DB-8E09522D6EB4}" type="slidenum">
              <a:rPr lang="fr-FR" smtClean="0"/>
              <a:t>‹N°›</a:t>
            </a:fld>
            <a:endParaRPr lang="fr-FR"/>
          </a:p>
        </p:txBody>
      </p:sp>
    </p:spTree>
    <p:extLst>
      <p:ext uri="{BB962C8B-B14F-4D97-AF65-F5344CB8AC3E}">
        <p14:creationId xmlns:p14="http://schemas.microsoft.com/office/powerpoint/2010/main" val="8592646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FC76727E-87F9-3794-D15B-6EF8DF16E5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DD11FBC2-91F5-AE16-554F-2C6D19E1FD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D6BE479-732D-F825-6318-9FE69396D2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8A432E4-1CFA-442C-ACF5-97C5B2B5FF8E}" type="datetimeFigureOut">
              <a:rPr lang="fr-FR" smtClean="0"/>
              <a:t>08/12/2024</a:t>
            </a:fld>
            <a:endParaRPr lang="fr-FR"/>
          </a:p>
        </p:txBody>
      </p:sp>
      <p:sp>
        <p:nvSpPr>
          <p:cNvPr id="5" name="Espace réservé du pied de page 4">
            <a:extLst>
              <a:ext uri="{FF2B5EF4-FFF2-40B4-BE49-F238E27FC236}">
                <a16:creationId xmlns:a16="http://schemas.microsoft.com/office/drawing/2014/main" id="{7EE4BB5D-34B9-84E1-9BE6-2E8C5F328C5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AE0EA71F-EB77-36EC-E324-E17F2ADDB6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1FE79D6-AF01-429E-97DB-8E09522D6EB4}" type="slidenum">
              <a:rPr lang="fr-FR" smtClean="0"/>
              <a:t>‹N°›</a:t>
            </a:fld>
            <a:endParaRPr lang="fr-FR"/>
          </a:p>
        </p:txBody>
      </p:sp>
    </p:spTree>
    <p:extLst>
      <p:ext uri="{BB962C8B-B14F-4D97-AF65-F5344CB8AC3E}">
        <p14:creationId xmlns:p14="http://schemas.microsoft.com/office/powerpoint/2010/main" val="13639691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 7" descr="Une image contenant texte, conception, capture d’écran, croquis">
            <a:extLst>
              <a:ext uri="{FF2B5EF4-FFF2-40B4-BE49-F238E27FC236}">
                <a16:creationId xmlns:a16="http://schemas.microsoft.com/office/drawing/2014/main" id="{AFFC5B44-9129-B866-C88F-D220AE85F684}"/>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rot="5400000">
            <a:off x="2596613" y="-2596610"/>
            <a:ext cx="6998776" cy="12192000"/>
          </a:xfrm>
          <a:prstGeom prst="rect">
            <a:avLst/>
          </a:prstGeom>
        </p:spPr>
      </p:pic>
      <p:sp>
        <p:nvSpPr>
          <p:cNvPr id="2" name="Titre 1">
            <a:extLst>
              <a:ext uri="{FF2B5EF4-FFF2-40B4-BE49-F238E27FC236}">
                <a16:creationId xmlns:a16="http://schemas.microsoft.com/office/drawing/2014/main" id="{A628ABC8-9E53-0506-D73C-F2A430DE8282}"/>
              </a:ext>
            </a:extLst>
          </p:cNvPr>
          <p:cNvSpPr>
            <a:spLocks noGrp="1"/>
          </p:cNvSpPr>
          <p:nvPr>
            <p:ph type="ctrTitle"/>
          </p:nvPr>
        </p:nvSpPr>
        <p:spPr>
          <a:xfrm>
            <a:off x="345186" y="2433638"/>
            <a:ext cx="3741039" cy="738187"/>
          </a:xfrm>
        </p:spPr>
        <p:txBody>
          <a:bodyPr>
            <a:normAutofit fontScale="90000"/>
          </a:bodyPr>
          <a:lstStyle/>
          <a:p>
            <a:pPr algn="l"/>
            <a:r>
              <a:rPr lang="fr-FR" sz="4500" b="1" dirty="0">
                <a:solidFill>
                  <a:schemeClr val="tx2"/>
                </a:solidFill>
                <a:latin typeface="Lora" pitchFamily="2" charset="0"/>
              </a:rPr>
              <a:t>Microservices</a:t>
            </a:r>
          </a:p>
        </p:txBody>
      </p:sp>
      <p:sp>
        <p:nvSpPr>
          <p:cNvPr id="3" name="Sous-titre 2">
            <a:extLst>
              <a:ext uri="{FF2B5EF4-FFF2-40B4-BE49-F238E27FC236}">
                <a16:creationId xmlns:a16="http://schemas.microsoft.com/office/drawing/2014/main" id="{7080C133-3620-FD6D-C39C-D9DD86DF3B9F}"/>
              </a:ext>
            </a:extLst>
          </p:cNvPr>
          <p:cNvSpPr>
            <a:spLocks noGrp="1"/>
          </p:cNvSpPr>
          <p:nvPr>
            <p:ph type="subTitle" idx="1"/>
          </p:nvPr>
        </p:nvSpPr>
        <p:spPr>
          <a:xfrm>
            <a:off x="4324350" y="6643878"/>
            <a:ext cx="2890647" cy="214122"/>
          </a:xfrm>
        </p:spPr>
        <p:txBody>
          <a:bodyPr>
            <a:noAutofit/>
          </a:bodyPr>
          <a:lstStyle/>
          <a:p>
            <a:r>
              <a:rPr lang="fr-FR" sz="1100" b="1" dirty="0">
                <a:solidFill>
                  <a:schemeClr val="tx2"/>
                </a:solidFill>
              </a:rPr>
              <a:t>Préparé et Présenté par Daniel  Lawson</a:t>
            </a:r>
          </a:p>
        </p:txBody>
      </p:sp>
      <p:sp>
        <p:nvSpPr>
          <p:cNvPr id="4" name="ZoneTexte 3">
            <a:extLst>
              <a:ext uri="{FF2B5EF4-FFF2-40B4-BE49-F238E27FC236}">
                <a16:creationId xmlns:a16="http://schemas.microsoft.com/office/drawing/2014/main" id="{238429A5-14AB-5158-C435-5F50CFE1D820}"/>
              </a:ext>
            </a:extLst>
          </p:cNvPr>
          <p:cNvSpPr txBox="1"/>
          <p:nvPr/>
        </p:nvSpPr>
        <p:spPr>
          <a:xfrm>
            <a:off x="345186" y="3238500"/>
            <a:ext cx="4864989" cy="461665"/>
          </a:xfrm>
          <a:prstGeom prst="rect">
            <a:avLst/>
          </a:prstGeom>
          <a:noFill/>
        </p:spPr>
        <p:txBody>
          <a:bodyPr wrap="square" rtlCol="0">
            <a:spAutoFit/>
          </a:bodyPr>
          <a:lstStyle/>
          <a:p>
            <a:r>
              <a:rPr lang="fr-FR" sz="2400" b="1" dirty="0">
                <a:solidFill>
                  <a:schemeClr val="tx2"/>
                </a:solidFill>
                <a:latin typeface="Lora" pitchFamily="2" charset="0"/>
              </a:rPr>
              <a:t>Module 4: Gestion des données </a:t>
            </a:r>
          </a:p>
        </p:txBody>
      </p:sp>
    </p:spTree>
    <p:extLst>
      <p:ext uri="{BB962C8B-B14F-4D97-AF65-F5344CB8AC3E}">
        <p14:creationId xmlns:p14="http://schemas.microsoft.com/office/powerpoint/2010/main" val="108155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9F8046C7-59C6-E9C9-C220-2A88E0E8AA74}"/>
              </a:ext>
            </a:extLst>
          </p:cNvPr>
          <p:cNvSpPr txBox="1">
            <a:spLocks/>
          </p:cNvSpPr>
          <p:nvPr/>
        </p:nvSpPr>
        <p:spPr>
          <a:xfrm>
            <a:off x="223520" y="309791"/>
            <a:ext cx="3027680" cy="40036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b="1" dirty="0"/>
              <a:t>Dans ce module …</a:t>
            </a:r>
          </a:p>
        </p:txBody>
      </p:sp>
      <p:cxnSp>
        <p:nvCxnSpPr>
          <p:cNvPr id="5" name="Connecteur droit 4">
            <a:extLst>
              <a:ext uri="{FF2B5EF4-FFF2-40B4-BE49-F238E27FC236}">
                <a16:creationId xmlns:a16="http://schemas.microsoft.com/office/drawing/2014/main" id="{555718AF-B7AD-AAD3-6D4E-C60371FD6A96}"/>
              </a:ext>
            </a:extLst>
          </p:cNvPr>
          <p:cNvCxnSpPr>
            <a:cxnSpLocks/>
          </p:cNvCxnSpPr>
          <p:nvPr/>
        </p:nvCxnSpPr>
        <p:spPr>
          <a:xfrm>
            <a:off x="0" y="86754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Sous-titre 2">
            <a:extLst>
              <a:ext uri="{FF2B5EF4-FFF2-40B4-BE49-F238E27FC236}">
                <a16:creationId xmlns:a16="http://schemas.microsoft.com/office/drawing/2014/main" id="{02826535-6718-FF2C-7532-A8BEE5D7C409}"/>
              </a:ext>
            </a:extLst>
          </p:cNvPr>
          <p:cNvSpPr txBox="1">
            <a:spLocks/>
          </p:cNvSpPr>
          <p:nvPr/>
        </p:nvSpPr>
        <p:spPr>
          <a:xfrm>
            <a:off x="4324350" y="6643878"/>
            <a:ext cx="2890647" cy="2141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100" b="1">
                <a:solidFill>
                  <a:schemeClr val="tx2"/>
                </a:solidFill>
              </a:rPr>
              <a:t>Préparé et Présenté par Daniel  Lawson</a:t>
            </a:r>
            <a:endParaRPr lang="fr-FR" sz="1100" b="1" dirty="0">
              <a:solidFill>
                <a:schemeClr val="tx2"/>
              </a:solidFill>
            </a:endParaRPr>
          </a:p>
        </p:txBody>
      </p:sp>
      <p:sp>
        <p:nvSpPr>
          <p:cNvPr id="8" name="Espace réservé du contenu 2">
            <a:extLst>
              <a:ext uri="{FF2B5EF4-FFF2-40B4-BE49-F238E27FC236}">
                <a16:creationId xmlns:a16="http://schemas.microsoft.com/office/drawing/2014/main" id="{10EA6810-1064-CDCD-FC71-1A6D3F6B8B37}"/>
              </a:ext>
            </a:extLst>
          </p:cNvPr>
          <p:cNvSpPr>
            <a:spLocks noGrp="1"/>
          </p:cNvSpPr>
          <p:nvPr>
            <p:ph idx="1"/>
          </p:nvPr>
        </p:nvSpPr>
        <p:spPr>
          <a:xfrm>
            <a:off x="320040" y="1287145"/>
            <a:ext cx="11530090" cy="4977730"/>
          </a:xfrm>
        </p:spPr>
        <p:txBody>
          <a:bodyPr>
            <a:noAutofit/>
          </a:bodyPr>
          <a:lstStyle/>
          <a:p>
            <a:pPr>
              <a:lnSpc>
                <a:spcPct val="150000"/>
              </a:lnSpc>
            </a:pPr>
            <a:r>
              <a:rPr lang="fr-FR" sz="2200" dirty="0"/>
              <a:t>Quelques questions au sein de notre équipe</a:t>
            </a:r>
          </a:p>
          <a:p>
            <a:pPr>
              <a:lnSpc>
                <a:spcPct val="150000"/>
              </a:lnSpc>
            </a:pPr>
            <a:r>
              <a:rPr lang="fr-FR" sz="2200" dirty="0"/>
              <a:t>Introduction à la gestion des données en architecture </a:t>
            </a:r>
            <a:r>
              <a:rPr lang="fr-FR" sz="2200" dirty="0" err="1"/>
              <a:t>microservices</a:t>
            </a:r>
            <a:endParaRPr lang="fr-FR" sz="2200" dirty="0"/>
          </a:p>
          <a:p>
            <a:pPr>
              <a:lnSpc>
                <a:spcPct val="150000"/>
              </a:lnSpc>
            </a:pPr>
            <a:r>
              <a:rPr lang="fr-FR" sz="2200" dirty="0"/>
              <a:t>Stratégies de gestion des données</a:t>
            </a:r>
          </a:p>
          <a:p>
            <a:pPr>
              <a:lnSpc>
                <a:spcPct val="150000"/>
              </a:lnSpc>
            </a:pPr>
            <a:r>
              <a:rPr lang="fr-FR" sz="2200" dirty="0"/>
              <a:t>Défis liés à la gestion des transactions dans les systèmes distribués</a:t>
            </a:r>
          </a:p>
          <a:p>
            <a:pPr>
              <a:lnSpc>
                <a:spcPct val="150000"/>
              </a:lnSpc>
            </a:pPr>
            <a:r>
              <a:rPr lang="fr-FR" sz="2200" dirty="0"/>
              <a:t>Réponses aux questions</a:t>
            </a:r>
          </a:p>
          <a:p>
            <a:pPr>
              <a:lnSpc>
                <a:spcPct val="150000"/>
              </a:lnSpc>
            </a:pPr>
            <a:r>
              <a:rPr lang="fr-FR" sz="2200" dirty="0"/>
              <a:t>Contrôle de connaissances</a:t>
            </a:r>
          </a:p>
        </p:txBody>
      </p:sp>
    </p:spTree>
    <p:extLst>
      <p:ext uri="{BB962C8B-B14F-4D97-AF65-F5344CB8AC3E}">
        <p14:creationId xmlns:p14="http://schemas.microsoft.com/office/powerpoint/2010/main" val="16034758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2" name="Picture 4" descr="Tiny business persons working on jigsaw puzzle together. Metaphor for cooperation or partnership, collaboration between team of people flat vector illustration. Communication, teamwork concept">
            <a:extLst>
              <a:ext uri="{FF2B5EF4-FFF2-40B4-BE49-F238E27FC236}">
                <a16:creationId xmlns:a16="http://schemas.microsoft.com/office/drawing/2014/main" id="{3E526906-89B6-D8E5-A04D-3665B0A00E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39231"/>
            <a:ext cx="5962650" cy="4591050"/>
          </a:xfrm>
          <a:prstGeom prst="rect">
            <a:avLst/>
          </a:prstGeom>
          <a:noFill/>
          <a:extLst>
            <a:ext uri="{909E8E84-426E-40DD-AFC4-6F175D3DCCD1}">
              <a14:hiddenFill xmlns:a14="http://schemas.microsoft.com/office/drawing/2010/main">
                <a:solidFill>
                  <a:srgbClr val="FFFFFF"/>
                </a:solidFill>
              </a14:hiddenFill>
            </a:ext>
          </a:extLst>
        </p:spPr>
      </p:pic>
      <p:sp>
        <p:nvSpPr>
          <p:cNvPr id="3" name="Espace réservé du contenu 2">
            <a:extLst>
              <a:ext uri="{FF2B5EF4-FFF2-40B4-BE49-F238E27FC236}">
                <a16:creationId xmlns:a16="http://schemas.microsoft.com/office/drawing/2014/main" id="{5D1598F1-3F5E-181B-29E7-26081FFE38F7}"/>
              </a:ext>
            </a:extLst>
          </p:cNvPr>
          <p:cNvSpPr>
            <a:spLocks noGrp="1"/>
          </p:cNvSpPr>
          <p:nvPr>
            <p:ph idx="1"/>
          </p:nvPr>
        </p:nvSpPr>
        <p:spPr>
          <a:xfrm>
            <a:off x="5415280" y="1287144"/>
            <a:ext cx="6635990" cy="5083171"/>
          </a:xfrm>
        </p:spPr>
        <p:txBody>
          <a:bodyPr>
            <a:noAutofit/>
          </a:bodyPr>
          <a:lstStyle/>
          <a:p>
            <a:pPr>
              <a:lnSpc>
                <a:spcPct val="150000"/>
              </a:lnSpc>
            </a:pPr>
            <a:r>
              <a:rPr lang="fr-FR" sz="2200" dirty="0"/>
              <a:t>Quelles stratégies adopter quant à la gestion des données de nos </a:t>
            </a:r>
            <a:r>
              <a:rPr lang="fr-FR" sz="2200" dirty="0" err="1"/>
              <a:t>microservices</a:t>
            </a:r>
            <a:r>
              <a:rPr lang="fr-FR" sz="2200" dirty="0"/>
              <a:t> ?</a:t>
            </a:r>
          </a:p>
          <a:p>
            <a:pPr>
              <a:lnSpc>
                <a:spcPct val="150000"/>
              </a:lnSpc>
            </a:pPr>
            <a:r>
              <a:rPr lang="fr-FR" sz="2200" dirty="0"/>
              <a:t>Faut-il éviter ou accepter la duplication des données entre les services ?</a:t>
            </a:r>
          </a:p>
          <a:p>
            <a:pPr>
              <a:lnSpc>
                <a:spcPct val="150000"/>
              </a:lnSpc>
            </a:pPr>
            <a:r>
              <a:rPr lang="fr-FR" sz="2200" dirty="0"/>
              <a:t>Comment assurer : </a:t>
            </a:r>
          </a:p>
          <a:p>
            <a:pPr lvl="1">
              <a:lnSpc>
                <a:spcPct val="150000"/>
              </a:lnSpc>
            </a:pPr>
            <a:r>
              <a:rPr lang="fr-FR" sz="2000" dirty="0"/>
              <a:t>La</a:t>
            </a:r>
            <a:r>
              <a:rPr lang="fr-FR" sz="1800" dirty="0"/>
              <a:t> </a:t>
            </a:r>
            <a:r>
              <a:rPr lang="fr-FR" sz="2000" dirty="0"/>
              <a:t>cohérence</a:t>
            </a:r>
          </a:p>
          <a:p>
            <a:pPr lvl="1">
              <a:lnSpc>
                <a:spcPct val="150000"/>
              </a:lnSpc>
            </a:pPr>
            <a:r>
              <a:rPr lang="fr-FR" sz="2000" dirty="0"/>
              <a:t>La fiabilité</a:t>
            </a:r>
          </a:p>
          <a:p>
            <a:pPr lvl="1">
              <a:lnSpc>
                <a:spcPct val="150000"/>
              </a:lnSpc>
            </a:pPr>
            <a:r>
              <a:rPr lang="fr-FR" sz="2000" dirty="0"/>
              <a:t>La disponibilité</a:t>
            </a:r>
          </a:p>
          <a:p>
            <a:pPr lvl="1">
              <a:lnSpc>
                <a:spcPct val="150000"/>
              </a:lnSpc>
            </a:pPr>
            <a:r>
              <a:rPr lang="fr-FR" sz="2000" dirty="0"/>
              <a:t>La résilience et la tolérance aux pannes</a:t>
            </a:r>
          </a:p>
        </p:txBody>
      </p:sp>
      <p:sp>
        <p:nvSpPr>
          <p:cNvPr id="4" name="Titre 1">
            <a:extLst>
              <a:ext uri="{FF2B5EF4-FFF2-40B4-BE49-F238E27FC236}">
                <a16:creationId xmlns:a16="http://schemas.microsoft.com/office/drawing/2014/main" id="{9F8046C7-59C6-E9C9-C220-2A88E0E8AA74}"/>
              </a:ext>
            </a:extLst>
          </p:cNvPr>
          <p:cNvSpPr txBox="1">
            <a:spLocks/>
          </p:cNvSpPr>
          <p:nvPr/>
        </p:nvSpPr>
        <p:spPr>
          <a:xfrm>
            <a:off x="223520" y="396271"/>
            <a:ext cx="5453380" cy="31388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b="1" dirty="0"/>
              <a:t>Questions au sein de notre équipe </a:t>
            </a:r>
          </a:p>
        </p:txBody>
      </p:sp>
      <p:cxnSp>
        <p:nvCxnSpPr>
          <p:cNvPr id="5" name="Connecteur droit 4">
            <a:extLst>
              <a:ext uri="{FF2B5EF4-FFF2-40B4-BE49-F238E27FC236}">
                <a16:creationId xmlns:a16="http://schemas.microsoft.com/office/drawing/2014/main" id="{555718AF-B7AD-AAD3-6D4E-C60371FD6A96}"/>
              </a:ext>
            </a:extLst>
          </p:cNvPr>
          <p:cNvCxnSpPr>
            <a:cxnSpLocks/>
          </p:cNvCxnSpPr>
          <p:nvPr/>
        </p:nvCxnSpPr>
        <p:spPr>
          <a:xfrm>
            <a:off x="0" y="86754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Sous-titre 2">
            <a:extLst>
              <a:ext uri="{FF2B5EF4-FFF2-40B4-BE49-F238E27FC236}">
                <a16:creationId xmlns:a16="http://schemas.microsoft.com/office/drawing/2014/main" id="{02826535-6718-FF2C-7532-A8BEE5D7C409}"/>
              </a:ext>
            </a:extLst>
          </p:cNvPr>
          <p:cNvSpPr txBox="1">
            <a:spLocks/>
          </p:cNvSpPr>
          <p:nvPr/>
        </p:nvSpPr>
        <p:spPr>
          <a:xfrm>
            <a:off x="4324350" y="6643878"/>
            <a:ext cx="2890647" cy="2141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100" b="1">
                <a:solidFill>
                  <a:schemeClr val="tx2"/>
                </a:solidFill>
              </a:rPr>
              <a:t>Préparé et Présenté par Daniel  Lawson</a:t>
            </a:r>
            <a:endParaRPr lang="fr-FR" sz="1100" b="1" dirty="0">
              <a:solidFill>
                <a:schemeClr val="tx2"/>
              </a:solidFill>
            </a:endParaRPr>
          </a:p>
        </p:txBody>
      </p:sp>
    </p:spTree>
    <p:extLst>
      <p:ext uri="{BB962C8B-B14F-4D97-AF65-F5344CB8AC3E}">
        <p14:creationId xmlns:p14="http://schemas.microsoft.com/office/powerpoint/2010/main" val="2510528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BCB7E-FB6A-A90C-C6D3-2B04812AEFBD}"/>
            </a:ext>
          </a:extLst>
        </p:cNvPr>
        <p:cNvGrpSpPr/>
        <p:nvPr/>
      </p:nvGrpSpPr>
      <p:grpSpPr>
        <a:xfrm>
          <a:off x="0" y="0"/>
          <a:ext cx="0" cy="0"/>
          <a:chOff x="0" y="0"/>
          <a:chExt cx="0" cy="0"/>
        </a:xfrm>
      </p:grpSpPr>
      <p:pic>
        <p:nvPicPr>
          <p:cNvPr id="1028" name="Picture 4" descr="Database Floating Squares">
            <a:extLst>
              <a:ext uri="{FF2B5EF4-FFF2-40B4-BE49-F238E27FC236}">
                <a16:creationId xmlns:a16="http://schemas.microsoft.com/office/drawing/2014/main" id="{D5AEDC23-783E-17F7-64A8-F4E06DE1EE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74561" y="1991361"/>
            <a:ext cx="4846320" cy="4846320"/>
          </a:xfrm>
          <a:prstGeom prst="rect">
            <a:avLst/>
          </a:prstGeom>
          <a:noFill/>
          <a:extLst>
            <a:ext uri="{909E8E84-426E-40DD-AFC4-6F175D3DCCD1}">
              <a14:hiddenFill xmlns:a14="http://schemas.microsoft.com/office/drawing/2010/main">
                <a:solidFill>
                  <a:srgbClr val="FFFFFF"/>
                </a:solidFill>
              </a14:hiddenFill>
            </a:ext>
          </a:extLst>
        </p:spPr>
      </p:pic>
      <p:sp>
        <p:nvSpPr>
          <p:cNvPr id="3" name="Espace réservé du contenu 2">
            <a:extLst>
              <a:ext uri="{FF2B5EF4-FFF2-40B4-BE49-F238E27FC236}">
                <a16:creationId xmlns:a16="http://schemas.microsoft.com/office/drawing/2014/main" id="{2FCF8989-86B6-A052-8ECE-106433ADBB23}"/>
              </a:ext>
            </a:extLst>
          </p:cNvPr>
          <p:cNvSpPr>
            <a:spLocks noGrp="1"/>
          </p:cNvSpPr>
          <p:nvPr>
            <p:ph idx="1"/>
          </p:nvPr>
        </p:nvSpPr>
        <p:spPr>
          <a:xfrm>
            <a:off x="182125" y="1056737"/>
            <a:ext cx="11827750" cy="5429746"/>
          </a:xfrm>
        </p:spPr>
        <p:txBody>
          <a:bodyPr>
            <a:noAutofit/>
          </a:bodyPr>
          <a:lstStyle/>
          <a:p>
            <a:pPr marL="0" indent="0">
              <a:lnSpc>
                <a:spcPct val="150000"/>
              </a:lnSpc>
              <a:buNone/>
            </a:pPr>
            <a:r>
              <a:rPr lang="fr-FR" sz="2200" dirty="0"/>
              <a:t>La gestion des données dans une architecture </a:t>
            </a:r>
            <a:r>
              <a:rPr lang="fr-FR" sz="2200" dirty="0" err="1"/>
              <a:t>microservices</a:t>
            </a:r>
            <a:r>
              <a:rPr lang="fr-FR" sz="2200" dirty="0"/>
              <a:t> concerne l'ensemble des pratiques permettant de </a:t>
            </a:r>
            <a:r>
              <a:rPr lang="fr-FR" sz="2200" b="1" dirty="0"/>
              <a:t>structurer</a:t>
            </a:r>
            <a:r>
              <a:rPr lang="fr-FR" sz="2200" dirty="0"/>
              <a:t>, </a:t>
            </a:r>
            <a:r>
              <a:rPr lang="fr-FR" sz="2200" b="1" dirty="0"/>
              <a:t>stocker</a:t>
            </a:r>
            <a:r>
              <a:rPr lang="fr-FR" sz="2200" dirty="0"/>
              <a:t>, et </a:t>
            </a:r>
            <a:r>
              <a:rPr lang="fr-FR" sz="2200" b="1" dirty="0"/>
              <a:t>accéder</a:t>
            </a:r>
            <a:r>
              <a:rPr lang="fr-FR" sz="2200" dirty="0"/>
              <a:t> aux informations utilisées par les différents services de l'application.</a:t>
            </a:r>
          </a:p>
          <a:p>
            <a:pPr marL="0" indent="0">
              <a:lnSpc>
                <a:spcPct val="150000"/>
              </a:lnSpc>
              <a:buNone/>
            </a:pPr>
            <a:r>
              <a:rPr lang="fr-FR" sz="2200" dirty="0"/>
              <a:t>Il s’agit d’un aspect crucial des </a:t>
            </a:r>
            <a:r>
              <a:rPr lang="fr-FR" sz="2200" dirty="0" err="1"/>
              <a:t>microservices</a:t>
            </a:r>
            <a:r>
              <a:rPr lang="fr-FR" sz="2200" dirty="0"/>
              <a:t> car elle doit garantir : </a:t>
            </a:r>
          </a:p>
          <a:p>
            <a:pPr>
              <a:lnSpc>
                <a:spcPct val="150000"/>
              </a:lnSpc>
            </a:pPr>
            <a:r>
              <a:rPr lang="fr-FR" sz="2200" dirty="0"/>
              <a:t>L’autonomie des services</a:t>
            </a:r>
          </a:p>
          <a:p>
            <a:pPr>
              <a:lnSpc>
                <a:spcPct val="150000"/>
              </a:lnSpc>
            </a:pPr>
            <a:r>
              <a:rPr lang="fr-FR" sz="2200" dirty="0"/>
              <a:t>La scalabilité </a:t>
            </a:r>
          </a:p>
          <a:p>
            <a:pPr>
              <a:lnSpc>
                <a:spcPct val="150000"/>
              </a:lnSpc>
            </a:pPr>
            <a:r>
              <a:rPr lang="fr-FR" sz="2200" dirty="0"/>
              <a:t>La résilience</a:t>
            </a:r>
          </a:p>
          <a:p>
            <a:pPr>
              <a:lnSpc>
                <a:spcPct val="150000"/>
              </a:lnSpc>
            </a:pPr>
            <a:r>
              <a:rPr lang="fr-FR" sz="2200" dirty="0"/>
              <a:t>La flexibilité des modèles de données</a:t>
            </a:r>
          </a:p>
          <a:p>
            <a:pPr>
              <a:lnSpc>
                <a:spcPct val="150000"/>
              </a:lnSpc>
            </a:pPr>
            <a:r>
              <a:rPr lang="fr-FR" sz="2200" dirty="0"/>
              <a:t>Alignement sur les domaines métier</a:t>
            </a:r>
          </a:p>
          <a:p>
            <a:pPr>
              <a:lnSpc>
                <a:spcPct val="150000"/>
              </a:lnSpc>
            </a:pPr>
            <a:endParaRPr lang="fr-FR" sz="2000" dirty="0"/>
          </a:p>
          <a:p>
            <a:pPr marL="0" indent="0">
              <a:lnSpc>
                <a:spcPct val="150000"/>
              </a:lnSpc>
              <a:buNone/>
            </a:pPr>
            <a:endParaRPr lang="fr-FR" sz="2000" b="1" dirty="0"/>
          </a:p>
        </p:txBody>
      </p:sp>
      <p:sp>
        <p:nvSpPr>
          <p:cNvPr id="4" name="Titre 1">
            <a:extLst>
              <a:ext uri="{FF2B5EF4-FFF2-40B4-BE49-F238E27FC236}">
                <a16:creationId xmlns:a16="http://schemas.microsoft.com/office/drawing/2014/main" id="{5101D379-73A8-5F4B-C817-2349B82CE921}"/>
              </a:ext>
            </a:extLst>
          </p:cNvPr>
          <p:cNvSpPr txBox="1">
            <a:spLocks/>
          </p:cNvSpPr>
          <p:nvPr/>
        </p:nvSpPr>
        <p:spPr>
          <a:xfrm>
            <a:off x="223520" y="284485"/>
            <a:ext cx="7762240" cy="42567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b="1" dirty="0"/>
              <a:t>Gestion des données : Définition et Importance</a:t>
            </a:r>
          </a:p>
        </p:txBody>
      </p:sp>
      <p:cxnSp>
        <p:nvCxnSpPr>
          <p:cNvPr id="5" name="Connecteur droit 4">
            <a:extLst>
              <a:ext uri="{FF2B5EF4-FFF2-40B4-BE49-F238E27FC236}">
                <a16:creationId xmlns:a16="http://schemas.microsoft.com/office/drawing/2014/main" id="{04EF8D46-9F48-9D29-89BD-EB767ADA492C}"/>
              </a:ext>
            </a:extLst>
          </p:cNvPr>
          <p:cNvCxnSpPr>
            <a:cxnSpLocks/>
          </p:cNvCxnSpPr>
          <p:nvPr/>
        </p:nvCxnSpPr>
        <p:spPr>
          <a:xfrm>
            <a:off x="0" y="86754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Sous-titre 2">
            <a:extLst>
              <a:ext uri="{FF2B5EF4-FFF2-40B4-BE49-F238E27FC236}">
                <a16:creationId xmlns:a16="http://schemas.microsoft.com/office/drawing/2014/main" id="{F1DD8424-DE4A-C9E3-A611-E9B1DEBF4E99}"/>
              </a:ext>
            </a:extLst>
          </p:cNvPr>
          <p:cNvSpPr txBox="1">
            <a:spLocks/>
          </p:cNvSpPr>
          <p:nvPr/>
        </p:nvSpPr>
        <p:spPr>
          <a:xfrm>
            <a:off x="4324350" y="6643878"/>
            <a:ext cx="2890647" cy="2141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100" b="1">
                <a:solidFill>
                  <a:schemeClr val="tx2"/>
                </a:solidFill>
              </a:rPr>
              <a:t>Préparé et Présenté par Daniel  Lawson</a:t>
            </a:r>
            <a:endParaRPr lang="fr-FR" sz="1100" b="1" dirty="0">
              <a:solidFill>
                <a:schemeClr val="tx2"/>
              </a:solidFill>
            </a:endParaRPr>
          </a:p>
        </p:txBody>
      </p:sp>
    </p:spTree>
    <p:extLst>
      <p:ext uri="{BB962C8B-B14F-4D97-AF65-F5344CB8AC3E}">
        <p14:creationId xmlns:p14="http://schemas.microsoft.com/office/powerpoint/2010/main" val="28198716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BF5C4-D0C4-04A4-C6D3-24E21A5E2FD1}"/>
            </a:ext>
          </a:extLst>
        </p:cNvPr>
        <p:cNvGrpSpPr/>
        <p:nvPr/>
      </p:nvGrpSpPr>
      <p:grpSpPr>
        <a:xfrm>
          <a:off x="0" y="0"/>
          <a:ext cx="0" cy="0"/>
          <a:chOff x="0" y="0"/>
          <a:chExt cx="0" cy="0"/>
        </a:xfrm>
      </p:grpSpPr>
      <p:pic>
        <p:nvPicPr>
          <p:cNvPr id="8" name="Image 7" descr="Une image contenant texte, conception, capture d’écran, croquis">
            <a:extLst>
              <a:ext uri="{FF2B5EF4-FFF2-40B4-BE49-F238E27FC236}">
                <a16:creationId xmlns:a16="http://schemas.microsoft.com/office/drawing/2014/main" id="{16B01A29-104D-423B-5E57-68B739A08239}"/>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rot="5400000">
            <a:off x="2596613" y="-2596610"/>
            <a:ext cx="6998776" cy="12192000"/>
          </a:xfrm>
          <a:prstGeom prst="rect">
            <a:avLst/>
          </a:prstGeom>
        </p:spPr>
      </p:pic>
      <p:sp>
        <p:nvSpPr>
          <p:cNvPr id="2" name="Titre 1">
            <a:extLst>
              <a:ext uri="{FF2B5EF4-FFF2-40B4-BE49-F238E27FC236}">
                <a16:creationId xmlns:a16="http://schemas.microsoft.com/office/drawing/2014/main" id="{4AE3B921-99DA-6A14-95C9-E9F5396AFF80}"/>
              </a:ext>
            </a:extLst>
          </p:cNvPr>
          <p:cNvSpPr>
            <a:spLocks noGrp="1"/>
          </p:cNvSpPr>
          <p:nvPr>
            <p:ph type="ctrTitle"/>
          </p:nvPr>
        </p:nvSpPr>
        <p:spPr>
          <a:xfrm>
            <a:off x="345186" y="2433638"/>
            <a:ext cx="5679694" cy="738187"/>
          </a:xfrm>
        </p:spPr>
        <p:txBody>
          <a:bodyPr>
            <a:normAutofit fontScale="90000"/>
          </a:bodyPr>
          <a:lstStyle/>
          <a:p>
            <a:pPr algn="l"/>
            <a:r>
              <a:rPr lang="fr-FR" sz="4500" b="1" dirty="0">
                <a:solidFill>
                  <a:schemeClr val="tx2"/>
                </a:solidFill>
                <a:latin typeface="Lora" pitchFamily="2" charset="0"/>
              </a:rPr>
              <a:t>Stratégies de stockage des données</a:t>
            </a:r>
          </a:p>
        </p:txBody>
      </p:sp>
      <p:sp>
        <p:nvSpPr>
          <p:cNvPr id="3" name="Sous-titre 2">
            <a:extLst>
              <a:ext uri="{FF2B5EF4-FFF2-40B4-BE49-F238E27FC236}">
                <a16:creationId xmlns:a16="http://schemas.microsoft.com/office/drawing/2014/main" id="{0910490F-830E-309F-525E-988BFE6584B4}"/>
              </a:ext>
            </a:extLst>
          </p:cNvPr>
          <p:cNvSpPr>
            <a:spLocks noGrp="1"/>
          </p:cNvSpPr>
          <p:nvPr>
            <p:ph type="subTitle" idx="1"/>
          </p:nvPr>
        </p:nvSpPr>
        <p:spPr>
          <a:xfrm>
            <a:off x="4324350" y="6643878"/>
            <a:ext cx="2890647" cy="214122"/>
          </a:xfrm>
        </p:spPr>
        <p:txBody>
          <a:bodyPr>
            <a:noAutofit/>
          </a:bodyPr>
          <a:lstStyle/>
          <a:p>
            <a:r>
              <a:rPr lang="fr-FR" sz="1100" b="1" dirty="0">
                <a:solidFill>
                  <a:schemeClr val="tx2"/>
                </a:solidFill>
              </a:rPr>
              <a:t>Préparé et Présenté par Daniel  Lawson</a:t>
            </a:r>
          </a:p>
        </p:txBody>
      </p:sp>
    </p:spTree>
    <p:extLst>
      <p:ext uri="{BB962C8B-B14F-4D97-AF65-F5344CB8AC3E}">
        <p14:creationId xmlns:p14="http://schemas.microsoft.com/office/powerpoint/2010/main" val="6559323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12C41-22B3-52A4-93C0-955907DC94F9}"/>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7CC775ED-F0BA-D1C4-F60F-DF796F101552}"/>
              </a:ext>
            </a:extLst>
          </p:cNvPr>
          <p:cNvSpPr>
            <a:spLocks noGrp="1"/>
          </p:cNvSpPr>
          <p:nvPr>
            <p:ph idx="1"/>
          </p:nvPr>
        </p:nvSpPr>
        <p:spPr>
          <a:xfrm>
            <a:off x="223520" y="937913"/>
            <a:ext cx="11744960" cy="2299333"/>
          </a:xfrm>
        </p:spPr>
        <p:txBody>
          <a:bodyPr>
            <a:noAutofit/>
          </a:bodyPr>
          <a:lstStyle/>
          <a:p>
            <a:pPr marL="0" indent="0">
              <a:lnSpc>
                <a:spcPct val="150000"/>
              </a:lnSpc>
              <a:buNone/>
            </a:pPr>
            <a:r>
              <a:rPr lang="fr-FR" sz="2200" dirty="0"/>
              <a:t>Il s’agit de la stratégie la plus couramment utilisée en termes de gestion des données  en architecture </a:t>
            </a:r>
            <a:r>
              <a:rPr lang="fr-FR" sz="2200" dirty="0" err="1"/>
              <a:t>microservices</a:t>
            </a:r>
            <a:r>
              <a:rPr lang="fr-FR" sz="2200" dirty="0"/>
              <a:t>. </a:t>
            </a:r>
            <a:r>
              <a:rPr lang="fr-FR" sz="2200" b="1" dirty="0"/>
              <a:t>Chaque service  est responsable </a:t>
            </a:r>
            <a:r>
              <a:rPr lang="fr-FR" sz="2200" dirty="0"/>
              <a:t>de sa propre base de données, </a:t>
            </a:r>
            <a:r>
              <a:rPr lang="fr-FR" sz="2200" b="1" dirty="0"/>
              <a:t>sans dépendre directement </a:t>
            </a:r>
            <a:r>
              <a:rPr lang="fr-FR" sz="2200" dirty="0"/>
              <a:t>des bases de données des autres services. Les données d’un service </a:t>
            </a:r>
            <a:r>
              <a:rPr lang="fr-FR" sz="2200" b="1" dirty="0"/>
              <a:t>ne sont disponibles que via son API</a:t>
            </a:r>
            <a:r>
              <a:rPr lang="fr-FR" sz="2200" dirty="0"/>
              <a:t>.</a:t>
            </a:r>
          </a:p>
          <a:p>
            <a:pPr>
              <a:lnSpc>
                <a:spcPct val="150000"/>
              </a:lnSpc>
            </a:pPr>
            <a:endParaRPr lang="fr-FR" sz="2200" dirty="0"/>
          </a:p>
          <a:p>
            <a:pPr marL="0" indent="0">
              <a:lnSpc>
                <a:spcPct val="150000"/>
              </a:lnSpc>
              <a:buNone/>
            </a:pPr>
            <a:endParaRPr lang="fr-FR" sz="2200" b="1" dirty="0"/>
          </a:p>
        </p:txBody>
      </p:sp>
      <p:sp>
        <p:nvSpPr>
          <p:cNvPr id="4" name="Titre 1">
            <a:extLst>
              <a:ext uri="{FF2B5EF4-FFF2-40B4-BE49-F238E27FC236}">
                <a16:creationId xmlns:a16="http://schemas.microsoft.com/office/drawing/2014/main" id="{FC3CB553-D2D5-E8CF-1D3E-61AD26143B77}"/>
              </a:ext>
            </a:extLst>
          </p:cNvPr>
          <p:cNvSpPr txBox="1">
            <a:spLocks/>
          </p:cNvSpPr>
          <p:nvPr/>
        </p:nvSpPr>
        <p:spPr>
          <a:xfrm>
            <a:off x="223520" y="284485"/>
            <a:ext cx="5567680" cy="42567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b="1" dirty="0"/>
              <a:t>Une base de données par service </a:t>
            </a:r>
          </a:p>
        </p:txBody>
      </p:sp>
      <p:cxnSp>
        <p:nvCxnSpPr>
          <p:cNvPr id="5" name="Connecteur droit 4">
            <a:extLst>
              <a:ext uri="{FF2B5EF4-FFF2-40B4-BE49-F238E27FC236}">
                <a16:creationId xmlns:a16="http://schemas.microsoft.com/office/drawing/2014/main" id="{9ACEE73A-295F-0992-25A4-6B2972FC183B}"/>
              </a:ext>
            </a:extLst>
          </p:cNvPr>
          <p:cNvCxnSpPr>
            <a:cxnSpLocks/>
          </p:cNvCxnSpPr>
          <p:nvPr/>
        </p:nvCxnSpPr>
        <p:spPr>
          <a:xfrm>
            <a:off x="0" y="86754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Sous-titre 2">
            <a:extLst>
              <a:ext uri="{FF2B5EF4-FFF2-40B4-BE49-F238E27FC236}">
                <a16:creationId xmlns:a16="http://schemas.microsoft.com/office/drawing/2014/main" id="{5EAC502D-D80E-0604-0127-36EA81B994C4}"/>
              </a:ext>
            </a:extLst>
          </p:cNvPr>
          <p:cNvSpPr txBox="1">
            <a:spLocks/>
          </p:cNvSpPr>
          <p:nvPr/>
        </p:nvSpPr>
        <p:spPr>
          <a:xfrm>
            <a:off x="4324350" y="6643878"/>
            <a:ext cx="2890647" cy="2141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100" b="1">
                <a:solidFill>
                  <a:schemeClr val="tx2"/>
                </a:solidFill>
              </a:rPr>
              <a:t>Préparé et Présenté par Daniel  Lawson</a:t>
            </a:r>
            <a:endParaRPr lang="fr-FR" sz="1100" b="1" dirty="0">
              <a:solidFill>
                <a:schemeClr val="tx2"/>
              </a:solidFill>
            </a:endParaRPr>
          </a:p>
        </p:txBody>
      </p:sp>
      <p:pic>
        <p:nvPicPr>
          <p:cNvPr id="9" name="Image 8" descr="Une image contenant texte, capture d’écran, clipart, internet">
            <a:extLst>
              <a:ext uri="{FF2B5EF4-FFF2-40B4-BE49-F238E27FC236}">
                <a16:creationId xmlns:a16="http://schemas.microsoft.com/office/drawing/2014/main" id="{40D171DE-2556-8131-B39D-105C3FC04B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49599" y="3100521"/>
            <a:ext cx="5770881" cy="3432354"/>
          </a:xfrm>
          <a:prstGeom prst="rect">
            <a:avLst/>
          </a:prstGeom>
        </p:spPr>
      </p:pic>
    </p:spTree>
    <p:extLst>
      <p:ext uri="{BB962C8B-B14F-4D97-AF65-F5344CB8AC3E}">
        <p14:creationId xmlns:p14="http://schemas.microsoft.com/office/powerpoint/2010/main" val="36758323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F9319-BD5F-702C-4E58-51B084C66FE3}"/>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A2C7BE0D-331E-73A4-8642-C52CFE872A39}"/>
              </a:ext>
            </a:extLst>
          </p:cNvPr>
          <p:cNvSpPr>
            <a:spLocks noGrp="1"/>
          </p:cNvSpPr>
          <p:nvPr>
            <p:ph idx="1"/>
          </p:nvPr>
        </p:nvSpPr>
        <p:spPr>
          <a:xfrm>
            <a:off x="223520" y="1287144"/>
            <a:ext cx="11744960" cy="5199343"/>
          </a:xfrm>
        </p:spPr>
        <p:txBody>
          <a:bodyPr>
            <a:noAutofit/>
          </a:bodyPr>
          <a:lstStyle/>
          <a:p>
            <a:pPr marL="0" indent="0">
              <a:lnSpc>
                <a:spcPct val="150000"/>
              </a:lnSpc>
              <a:buNone/>
            </a:pPr>
            <a:r>
              <a:rPr lang="fr-FR" sz="2200" b="1" dirty="0"/>
              <a:t>Avantages</a:t>
            </a:r>
          </a:p>
          <a:p>
            <a:pPr lvl="1">
              <a:lnSpc>
                <a:spcPct val="150000"/>
              </a:lnSpc>
            </a:pPr>
            <a:r>
              <a:rPr lang="fr-FR" sz="2000" dirty="0"/>
              <a:t>Assure le faible couplage entre les services. Un changement dans un service n’affecte pas un autre service</a:t>
            </a:r>
          </a:p>
          <a:p>
            <a:pPr lvl="1">
              <a:lnSpc>
                <a:spcPct val="150000"/>
              </a:lnSpc>
            </a:pPr>
            <a:r>
              <a:rPr lang="fr-FR" sz="2000" dirty="0"/>
              <a:t>Chaque service peut utiliser le type de base de données qui correspond le mieux à ses besoins</a:t>
            </a:r>
          </a:p>
          <a:p>
            <a:pPr marL="0" indent="0">
              <a:lnSpc>
                <a:spcPct val="150000"/>
              </a:lnSpc>
              <a:buNone/>
            </a:pPr>
            <a:r>
              <a:rPr lang="fr-FR" sz="2200" b="1" dirty="0"/>
              <a:t>Inconvénients</a:t>
            </a:r>
          </a:p>
          <a:p>
            <a:pPr lvl="1">
              <a:lnSpc>
                <a:spcPct val="150000"/>
              </a:lnSpc>
            </a:pPr>
            <a:r>
              <a:rPr lang="fr-FR" sz="2000" dirty="0"/>
              <a:t>Il n’est pas évident d’implémenter des transactions. De plus, certains types de bases de données ne supportent pas les transactions</a:t>
            </a:r>
          </a:p>
          <a:p>
            <a:pPr lvl="1">
              <a:lnSpc>
                <a:spcPct val="150000"/>
              </a:lnSpc>
            </a:pPr>
            <a:r>
              <a:rPr lang="fr-FR" sz="2000" dirty="0"/>
              <a:t>Implémenter des jointures de données dans différentes bases de données est un défi</a:t>
            </a:r>
          </a:p>
          <a:p>
            <a:pPr lvl="1">
              <a:lnSpc>
                <a:spcPct val="150000"/>
              </a:lnSpc>
            </a:pPr>
            <a:r>
              <a:rPr lang="fr-FR" sz="2000" dirty="0"/>
              <a:t>Il est complexe de gérer plusieurs types de bases de données </a:t>
            </a:r>
          </a:p>
          <a:p>
            <a:pPr>
              <a:lnSpc>
                <a:spcPct val="150000"/>
              </a:lnSpc>
            </a:pPr>
            <a:endParaRPr lang="fr-FR" sz="2000" b="1" dirty="0"/>
          </a:p>
          <a:p>
            <a:pPr marL="0" indent="0">
              <a:lnSpc>
                <a:spcPct val="150000"/>
              </a:lnSpc>
              <a:buNone/>
            </a:pPr>
            <a:endParaRPr lang="fr-FR" sz="2000" b="1" dirty="0"/>
          </a:p>
        </p:txBody>
      </p:sp>
      <p:sp>
        <p:nvSpPr>
          <p:cNvPr id="4" name="Titre 1">
            <a:extLst>
              <a:ext uri="{FF2B5EF4-FFF2-40B4-BE49-F238E27FC236}">
                <a16:creationId xmlns:a16="http://schemas.microsoft.com/office/drawing/2014/main" id="{57356CC1-37F0-B0C3-D3A9-95A255AE82E9}"/>
              </a:ext>
            </a:extLst>
          </p:cNvPr>
          <p:cNvSpPr txBox="1">
            <a:spLocks/>
          </p:cNvSpPr>
          <p:nvPr/>
        </p:nvSpPr>
        <p:spPr>
          <a:xfrm>
            <a:off x="223520" y="284485"/>
            <a:ext cx="9682480" cy="42567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b="1" dirty="0"/>
              <a:t>Une base de données par service  : Avantages et inconvénients</a:t>
            </a:r>
          </a:p>
        </p:txBody>
      </p:sp>
      <p:cxnSp>
        <p:nvCxnSpPr>
          <p:cNvPr id="5" name="Connecteur droit 4">
            <a:extLst>
              <a:ext uri="{FF2B5EF4-FFF2-40B4-BE49-F238E27FC236}">
                <a16:creationId xmlns:a16="http://schemas.microsoft.com/office/drawing/2014/main" id="{11F2110A-7AEB-9015-CFD8-0B09B49EB1F3}"/>
              </a:ext>
            </a:extLst>
          </p:cNvPr>
          <p:cNvCxnSpPr>
            <a:cxnSpLocks/>
          </p:cNvCxnSpPr>
          <p:nvPr/>
        </p:nvCxnSpPr>
        <p:spPr>
          <a:xfrm>
            <a:off x="0" y="86754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Sous-titre 2">
            <a:extLst>
              <a:ext uri="{FF2B5EF4-FFF2-40B4-BE49-F238E27FC236}">
                <a16:creationId xmlns:a16="http://schemas.microsoft.com/office/drawing/2014/main" id="{C539DA49-9B75-4018-280D-D6FE22444FC7}"/>
              </a:ext>
            </a:extLst>
          </p:cNvPr>
          <p:cNvSpPr txBox="1">
            <a:spLocks/>
          </p:cNvSpPr>
          <p:nvPr/>
        </p:nvSpPr>
        <p:spPr>
          <a:xfrm>
            <a:off x="4324350" y="6643878"/>
            <a:ext cx="2890647" cy="2141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100" b="1">
                <a:solidFill>
                  <a:schemeClr val="tx2"/>
                </a:solidFill>
              </a:rPr>
              <a:t>Préparé et Présenté par Daniel  Lawson</a:t>
            </a:r>
            <a:endParaRPr lang="fr-FR" sz="1100" b="1" dirty="0">
              <a:solidFill>
                <a:schemeClr val="tx2"/>
              </a:solidFill>
            </a:endParaRPr>
          </a:p>
        </p:txBody>
      </p:sp>
    </p:spTree>
    <p:extLst>
      <p:ext uri="{BB962C8B-B14F-4D97-AF65-F5344CB8AC3E}">
        <p14:creationId xmlns:p14="http://schemas.microsoft.com/office/powerpoint/2010/main" val="27556839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5CFD0-C010-4DFD-DE92-EA72B8002771}"/>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D0F23453-644C-B074-DF3E-F38169C298B5}"/>
              </a:ext>
            </a:extLst>
          </p:cNvPr>
          <p:cNvSpPr>
            <a:spLocks noGrp="1"/>
          </p:cNvSpPr>
          <p:nvPr>
            <p:ph idx="1"/>
          </p:nvPr>
        </p:nvSpPr>
        <p:spPr>
          <a:xfrm>
            <a:off x="223520" y="1287145"/>
            <a:ext cx="11744960" cy="4615816"/>
          </a:xfrm>
        </p:spPr>
        <p:txBody>
          <a:bodyPr>
            <a:noAutofit/>
          </a:bodyPr>
          <a:lstStyle/>
          <a:p>
            <a:pPr marL="0" indent="0">
              <a:lnSpc>
                <a:spcPct val="150000"/>
              </a:lnSpc>
              <a:buNone/>
            </a:pPr>
            <a:r>
              <a:rPr lang="fr-FR" sz="2200" dirty="0"/>
              <a:t>Dans une architecture </a:t>
            </a:r>
            <a:r>
              <a:rPr lang="fr-FR" sz="2200" dirty="0" err="1"/>
              <a:t>microservices</a:t>
            </a:r>
            <a:r>
              <a:rPr lang="fr-FR" sz="2200" dirty="0"/>
              <a:t>, </a:t>
            </a:r>
            <a:r>
              <a:rPr lang="fr-FR" sz="2200" b="1" dirty="0"/>
              <a:t>chaque service possède idéalement sa propre base de données</a:t>
            </a:r>
            <a:r>
              <a:rPr lang="fr-FR" sz="2200" dirty="0"/>
              <a:t>. Cependant, il existe certaines situations où le partage d'une base de données entre plusieurs services peut être nécessaire ou justifié. Il peut être envisagé dans les cas suivants :</a:t>
            </a:r>
          </a:p>
          <a:p>
            <a:pPr>
              <a:lnSpc>
                <a:spcPct val="150000"/>
              </a:lnSpc>
            </a:pPr>
            <a:r>
              <a:rPr lang="fr-FR" sz="2200" dirty="0"/>
              <a:t>Transition Monolithique – Microservices</a:t>
            </a:r>
          </a:p>
          <a:p>
            <a:pPr>
              <a:lnSpc>
                <a:spcPct val="150000"/>
              </a:lnSpc>
            </a:pPr>
            <a:r>
              <a:rPr lang="fr-FR" sz="2200" dirty="0"/>
              <a:t>Nécessité de cohérence forte des données</a:t>
            </a:r>
          </a:p>
          <a:p>
            <a:pPr>
              <a:lnSpc>
                <a:spcPct val="150000"/>
              </a:lnSpc>
            </a:pPr>
            <a:r>
              <a:rPr lang="fr-FR" sz="2200" dirty="0"/>
              <a:t>Limites pratiques ou techniques</a:t>
            </a:r>
          </a:p>
          <a:p>
            <a:pPr>
              <a:lnSpc>
                <a:spcPct val="150000"/>
              </a:lnSpc>
            </a:pPr>
            <a:r>
              <a:rPr lang="fr-FR" sz="2200" dirty="0"/>
              <a:t>Simplicité de développement pour des équipes de petite taille</a:t>
            </a:r>
          </a:p>
          <a:p>
            <a:pPr>
              <a:lnSpc>
                <a:spcPct val="150000"/>
              </a:lnSpc>
            </a:pPr>
            <a:r>
              <a:rPr lang="fr-FR" sz="2200" dirty="0"/>
              <a:t>Etc. …</a:t>
            </a:r>
          </a:p>
          <a:p>
            <a:pPr marL="0" indent="0">
              <a:lnSpc>
                <a:spcPct val="150000"/>
              </a:lnSpc>
              <a:buNone/>
            </a:pPr>
            <a:endParaRPr lang="fr-FR" sz="2000" dirty="0"/>
          </a:p>
          <a:p>
            <a:pPr marL="0" indent="0">
              <a:lnSpc>
                <a:spcPct val="150000"/>
              </a:lnSpc>
              <a:buNone/>
            </a:pPr>
            <a:endParaRPr lang="fr-FR" sz="2000" b="1" dirty="0"/>
          </a:p>
        </p:txBody>
      </p:sp>
      <p:sp>
        <p:nvSpPr>
          <p:cNvPr id="4" name="Titre 1">
            <a:extLst>
              <a:ext uri="{FF2B5EF4-FFF2-40B4-BE49-F238E27FC236}">
                <a16:creationId xmlns:a16="http://schemas.microsoft.com/office/drawing/2014/main" id="{C29CEEDD-2226-917B-32C1-DCFBD8D32B05}"/>
              </a:ext>
            </a:extLst>
          </p:cNvPr>
          <p:cNvSpPr txBox="1">
            <a:spLocks/>
          </p:cNvSpPr>
          <p:nvPr/>
        </p:nvSpPr>
        <p:spPr>
          <a:xfrm>
            <a:off x="223520" y="284485"/>
            <a:ext cx="5181600" cy="42567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b="1" dirty="0"/>
              <a:t>Les bases de données partagées</a:t>
            </a:r>
          </a:p>
        </p:txBody>
      </p:sp>
      <p:cxnSp>
        <p:nvCxnSpPr>
          <p:cNvPr id="5" name="Connecteur droit 4">
            <a:extLst>
              <a:ext uri="{FF2B5EF4-FFF2-40B4-BE49-F238E27FC236}">
                <a16:creationId xmlns:a16="http://schemas.microsoft.com/office/drawing/2014/main" id="{050FAAA3-64A2-B1CC-B142-AC7C0D5BCD22}"/>
              </a:ext>
            </a:extLst>
          </p:cNvPr>
          <p:cNvCxnSpPr>
            <a:cxnSpLocks/>
          </p:cNvCxnSpPr>
          <p:nvPr/>
        </p:nvCxnSpPr>
        <p:spPr>
          <a:xfrm>
            <a:off x="0" y="86754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Sous-titre 2">
            <a:extLst>
              <a:ext uri="{FF2B5EF4-FFF2-40B4-BE49-F238E27FC236}">
                <a16:creationId xmlns:a16="http://schemas.microsoft.com/office/drawing/2014/main" id="{5EE6F90A-F0A7-619E-4BBE-7D42336AFB06}"/>
              </a:ext>
            </a:extLst>
          </p:cNvPr>
          <p:cNvSpPr txBox="1">
            <a:spLocks/>
          </p:cNvSpPr>
          <p:nvPr/>
        </p:nvSpPr>
        <p:spPr>
          <a:xfrm>
            <a:off x="4324350" y="6643878"/>
            <a:ext cx="2890647" cy="2141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100" b="1">
                <a:solidFill>
                  <a:schemeClr val="tx2"/>
                </a:solidFill>
              </a:rPr>
              <a:t>Préparé et Présenté par Daniel  Lawson</a:t>
            </a:r>
            <a:endParaRPr lang="fr-FR" sz="1100" b="1" dirty="0">
              <a:solidFill>
                <a:schemeClr val="tx2"/>
              </a:solidFill>
            </a:endParaRPr>
          </a:p>
        </p:txBody>
      </p:sp>
    </p:spTree>
    <p:extLst>
      <p:ext uri="{BB962C8B-B14F-4D97-AF65-F5344CB8AC3E}">
        <p14:creationId xmlns:p14="http://schemas.microsoft.com/office/powerpoint/2010/main" val="24218466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A3E50-8677-4559-A2B7-46EF2EE10464}"/>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7C0993B6-7257-D8D6-32BC-17578EB061A0}"/>
              </a:ext>
            </a:extLst>
          </p:cNvPr>
          <p:cNvSpPr>
            <a:spLocks noGrp="1"/>
          </p:cNvSpPr>
          <p:nvPr>
            <p:ph idx="1"/>
          </p:nvPr>
        </p:nvSpPr>
        <p:spPr>
          <a:xfrm>
            <a:off x="223520" y="1287145"/>
            <a:ext cx="11744960" cy="4615816"/>
          </a:xfrm>
        </p:spPr>
        <p:txBody>
          <a:bodyPr>
            <a:noAutofit/>
          </a:bodyPr>
          <a:lstStyle/>
          <a:p>
            <a:pPr marL="0" indent="0">
              <a:lnSpc>
                <a:spcPct val="150000"/>
              </a:lnSpc>
              <a:buNone/>
            </a:pPr>
            <a:endParaRPr lang="fr-FR" sz="2000" dirty="0"/>
          </a:p>
          <a:p>
            <a:pPr marL="0" indent="0">
              <a:lnSpc>
                <a:spcPct val="150000"/>
              </a:lnSpc>
              <a:buNone/>
            </a:pPr>
            <a:endParaRPr lang="fr-FR" sz="2000" b="1" dirty="0"/>
          </a:p>
        </p:txBody>
      </p:sp>
      <p:sp>
        <p:nvSpPr>
          <p:cNvPr id="4" name="Titre 1">
            <a:extLst>
              <a:ext uri="{FF2B5EF4-FFF2-40B4-BE49-F238E27FC236}">
                <a16:creationId xmlns:a16="http://schemas.microsoft.com/office/drawing/2014/main" id="{970CC997-BAD2-E3BD-5DE7-446237244650}"/>
              </a:ext>
            </a:extLst>
          </p:cNvPr>
          <p:cNvSpPr txBox="1">
            <a:spLocks/>
          </p:cNvSpPr>
          <p:nvPr/>
        </p:nvSpPr>
        <p:spPr>
          <a:xfrm>
            <a:off x="223520" y="284485"/>
            <a:ext cx="8808720" cy="42567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b="1" dirty="0"/>
              <a:t>Les bases de données partagées : Implémentation</a:t>
            </a:r>
          </a:p>
        </p:txBody>
      </p:sp>
      <p:cxnSp>
        <p:nvCxnSpPr>
          <p:cNvPr id="5" name="Connecteur droit 4">
            <a:extLst>
              <a:ext uri="{FF2B5EF4-FFF2-40B4-BE49-F238E27FC236}">
                <a16:creationId xmlns:a16="http://schemas.microsoft.com/office/drawing/2014/main" id="{2C0363C1-7637-EFE4-DA0B-ED127D524070}"/>
              </a:ext>
            </a:extLst>
          </p:cNvPr>
          <p:cNvCxnSpPr>
            <a:cxnSpLocks/>
          </p:cNvCxnSpPr>
          <p:nvPr/>
        </p:nvCxnSpPr>
        <p:spPr>
          <a:xfrm>
            <a:off x="0" y="86754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Sous-titre 2">
            <a:extLst>
              <a:ext uri="{FF2B5EF4-FFF2-40B4-BE49-F238E27FC236}">
                <a16:creationId xmlns:a16="http://schemas.microsoft.com/office/drawing/2014/main" id="{3556299E-FEF0-DE84-4152-AE25943411AD}"/>
              </a:ext>
            </a:extLst>
          </p:cNvPr>
          <p:cNvSpPr txBox="1">
            <a:spLocks/>
          </p:cNvSpPr>
          <p:nvPr/>
        </p:nvSpPr>
        <p:spPr>
          <a:xfrm>
            <a:off x="4324350" y="6643878"/>
            <a:ext cx="2890647" cy="2141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100" b="1">
                <a:solidFill>
                  <a:schemeClr val="tx2"/>
                </a:solidFill>
              </a:rPr>
              <a:t>Préparé et Présenté par Daniel  Lawson</a:t>
            </a:r>
            <a:endParaRPr lang="fr-FR" sz="1100" b="1" dirty="0">
              <a:solidFill>
                <a:schemeClr val="tx2"/>
              </a:solidFill>
            </a:endParaRPr>
          </a:p>
        </p:txBody>
      </p:sp>
      <p:sp>
        <p:nvSpPr>
          <p:cNvPr id="8" name="ZoneTexte 7">
            <a:extLst>
              <a:ext uri="{FF2B5EF4-FFF2-40B4-BE49-F238E27FC236}">
                <a16:creationId xmlns:a16="http://schemas.microsoft.com/office/drawing/2014/main" id="{0B5BCD1C-F94C-8430-0B18-F19E35589FB5}"/>
              </a:ext>
            </a:extLst>
          </p:cNvPr>
          <p:cNvSpPr txBox="1"/>
          <p:nvPr/>
        </p:nvSpPr>
        <p:spPr>
          <a:xfrm>
            <a:off x="368218" y="1129754"/>
            <a:ext cx="11498662" cy="3598357"/>
          </a:xfrm>
          <a:prstGeom prst="rect">
            <a:avLst/>
          </a:prstGeom>
          <a:noFill/>
        </p:spPr>
        <p:txBody>
          <a:bodyPr wrap="square">
            <a:spAutoFit/>
          </a:bodyPr>
          <a:lstStyle/>
          <a:p>
            <a:pPr marL="0" indent="0">
              <a:lnSpc>
                <a:spcPct val="150000"/>
              </a:lnSpc>
              <a:buNone/>
            </a:pPr>
            <a:r>
              <a:rPr lang="fr-FR" sz="2200" dirty="0"/>
              <a:t>Il existe deux (2) principales manières d’implémenter les bases de données partagées dans une architecture </a:t>
            </a:r>
            <a:r>
              <a:rPr lang="fr-FR" sz="2200" dirty="0" err="1"/>
              <a:t>microservices</a:t>
            </a:r>
            <a:r>
              <a:rPr lang="fr-FR" sz="2200" dirty="0"/>
              <a:t>: </a:t>
            </a:r>
          </a:p>
          <a:p>
            <a:pPr marL="0" indent="0">
              <a:lnSpc>
                <a:spcPct val="150000"/>
              </a:lnSpc>
              <a:buNone/>
            </a:pPr>
            <a:endParaRPr lang="fr-FR" sz="2200" dirty="0"/>
          </a:p>
          <a:p>
            <a:pPr marL="342900" indent="-342900">
              <a:lnSpc>
                <a:spcPct val="150000"/>
              </a:lnSpc>
              <a:buFont typeface="Arial" panose="020B0604020202020204" pitchFamily="34" charset="0"/>
              <a:buChar char="•"/>
            </a:pPr>
            <a:r>
              <a:rPr lang="fr-FR" sz="2200" b="1" dirty="0"/>
              <a:t>Un schéma par service</a:t>
            </a:r>
          </a:p>
          <a:p>
            <a:pPr marL="342900" indent="-342900">
              <a:lnSpc>
                <a:spcPct val="150000"/>
              </a:lnSpc>
              <a:buFont typeface="Arial" panose="020B0604020202020204" pitchFamily="34" charset="0"/>
              <a:buChar char="•"/>
            </a:pPr>
            <a:r>
              <a:rPr lang="fr-FR" sz="2200" b="1" dirty="0"/>
              <a:t>Des tables privées par service</a:t>
            </a:r>
            <a:endParaRPr lang="fr-FR" sz="2200" dirty="0"/>
          </a:p>
          <a:p>
            <a:pPr marL="0" indent="0">
              <a:lnSpc>
                <a:spcPct val="150000"/>
              </a:lnSpc>
              <a:buNone/>
            </a:pPr>
            <a:r>
              <a:rPr lang="fr-FR" sz="2200" dirty="0"/>
              <a:t>Quel que soit la stratégie adoptée, il faut veiller à mettre en place des barrières  pour empêcher les modifications par un autre service (Utilisateurs spécifiques et droits d’accès)</a:t>
            </a:r>
          </a:p>
        </p:txBody>
      </p:sp>
    </p:spTree>
    <p:extLst>
      <p:ext uri="{BB962C8B-B14F-4D97-AF65-F5344CB8AC3E}">
        <p14:creationId xmlns:p14="http://schemas.microsoft.com/office/powerpoint/2010/main" val="36610813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81859-614C-F2B3-4943-2122F271A02F}"/>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7BE904A3-B438-FC21-61CF-7BD296337232}"/>
              </a:ext>
            </a:extLst>
          </p:cNvPr>
          <p:cNvSpPr>
            <a:spLocks noGrp="1"/>
          </p:cNvSpPr>
          <p:nvPr>
            <p:ph idx="1"/>
          </p:nvPr>
        </p:nvSpPr>
        <p:spPr>
          <a:xfrm>
            <a:off x="223520" y="1287145"/>
            <a:ext cx="11744960" cy="4615816"/>
          </a:xfrm>
        </p:spPr>
        <p:txBody>
          <a:bodyPr>
            <a:noAutofit/>
          </a:bodyPr>
          <a:lstStyle/>
          <a:p>
            <a:pPr marL="0" indent="0">
              <a:lnSpc>
                <a:spcPct val="150000"/>
              </a:lnSpc>
              <a:buNone/>
            </a:pPr>
            <a:endParaRPr lang="fr-FR" sz="2000" dirty="0"/>
          </a:p>
          <a:p>
            <a:pPr marL="0" indent="0">
              <a:lnSpc>
                <a:spcPct val="150000"/>
              </a:lnSpc>
              <a:buNone/>
            </a:pPr>
            <a:endParaRPr lang="fr-FR" sz="2000" b="1" dirty="0"/>
          </a:p>
        </p:txBody>
      </p:sp>
      <p:sp>
        <p:nvSpPr>
          <p:cNvPr id="4" name="Titre 1">
            <a:extLst>
              <a:ext uri="{FF2B5EF4-FFF2-40B4-BE49-F238E27FC236}">
                <a16:creationId xmlns:a16="http://schemas.microsoft.com/office/drawing/2014/main" id="{FFD75514-6B36-7BDB-1DD1-D4CE4059FFF3}"/>
              </a:ext>
            </a:extLst>
          </p:cNvPr>
          <p:cNvSpPr txBox="1">
            <a:spLocks/>
          </p:cNvSpPr>
          <p:nvPr/>
        </p:nvSpPr>
        <p:spPr>
          <a:xfrm>
            <a:off x="223520" y="284485"/>
            <a:ext cx="11643360" cy="42567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b="1" dirty="0"/>
              <a:t>Les bases de données partagées : Exemple de création de droits spécifiques</a:t>
            </a:r>
          </a:p>
        </p:txBody>
      </p:sp>
      <p:cxnSp>
        <p:nvCxnSpPr>
          <p:cNvPr id="5" name="Connecteur droit 4">
            <a:extLst>
              <a:ext uri="{FF2B5EF4-FFF2-40B4-BE49-F238E27FC236}">
                <a16:creationId xmlns:a16="http://schemas.microsoft.com/office/drawing/2014/main" id="{66726986-6836-87FE-800B-EA4EC785C552}"/>
              </a:ext>
            </a:extLst>
          </p:cNvPr>
          <p:cNvCxnSpPr>
            <a:cxnSpLocks/>
          </p:cNvCxnSpPr>
          <p:nvPr/>
        </p:nvCxnSpPr>
        <p:spPr>
          <a:xfrm>
            <a:off x="0" y="86754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Sous-titre 2">
            <a:extLst>
              <a:ext uri="{FF2B5EF4-FFF2-40B4-BE49-F238E27FC236}">
                <a16:creationId xmlns:a16="http://schemas.microsoft.com/office/drawing/2014/main" id="{468ABB22-6F5B-8DD9-6E9A-9028D9198342}"/>
              </a:ext>
            </a:extLst>
          </p:cNvPr>
          <p:cNvSpPr txBox="1">
            <a:spLocks/>
          </p:cNvSpPr>
          <p:nvPr/>
        </p:nvSpPr>
        <p:spPr>
          <a:xfrm>
            <a:off x="4324350" y="6643878"/>
            <a:ext cx="2890647" cy="2141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100" b="1">
                <a:solidFill>
                  <a:schemeClr val="tx2"/>
                </a:solidFill>
              </a:rPr>
              <a:t>Préparé et Présenté par Daniel  Lawson</a:t>
            </a:r>
            <a:endParaRPr lang="fr-FR" sz="1100" b="1" dirty="0">
              <a:solidFill>
                <a:schemeClr val="tx2"/>
              </a:solidFill>
            </a:endParaRPr>
          </a:p>
        </p:txBody>
      </p:sp>
      <p:pic>
        <p:nvPicPr>
          <p:cNvPr id="7" name="Image 6">
            <a:extLst>
              <a:ext uri="{FF2B5EF4-FFF2-40B4-BE49-F238E27FC236}">
                <a16:creationId xmlns:a16="http://schemas.microsoft.com/office/drawing/2014/main" id="{67AC2FEE-5090-A98D-F20E-2948F6B8FF13}"/>
              </a:ext>
            </a:extLst>
          </p:cNvPr>
          <p:cNvPicPr>
            <a:picLocks noChangeAspect="1"/>
          </p:cNvPicPr>
          <p:nvPr/>
        </p:nvPicPr>
        <p:blipFill>
          <a:blip r:embed="rId2"/>
          <a:stretch>
            <a:fillRect/>
          </a:stretch>
        </p:blipFill>
        <p:spPr>
          <a:xfrm>
            <a:off x="1737360" y="979220"/>
            <a:ext cx="7765119" cy="5642898"/>
          </a:xfrm>
          <a:prstGeom prst="rect">
            <a:avLst/>
          </a:prstGeom>
        </p:spPr>
      </p:pic>
    </p:spTree>
    <p:extLst>
      <p:ext uri="{BB962C8B-B14F-4D97-AF65-F5344CB8AC3E}">
        <p14:creationId xmlns:p14="http://schemas.microsoft.com/office/powerpoint/2010/main" val="10447041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7B895-7F0A-29EF-8334-982B8D785434}"/>
            </a:ext>
          </a:extLst>
        </p:cNvPr>
        <p:cNvGrpSpPr/>
        <p:nvPr/>
      </p:nvGrpSpPr>
      <p:grpSpPr>
        <a:xfrm>
          <a:off x="0" y="0"/>
          <a:ext cx="0" cy="0"/>
          <a:chOff x="0" y="0"/>
          <a:chExt cx="0" cy="0"/>
        </a:xfrm>
      </p:grpSpPr>
      <p:pic>
        <p:nvPicPr>
          <p:cNvPr id="8" name="Image 7" descr="Une image contenant texte, conception, capture d’écran, croquis">
            <a:extLst>
              <a:ext uri="{FF2B5EF4-FFF2-40B4-BE49-F238E27FC236}">
                <a16:creationId xmlns:a16="http://schemas.microsoft.com/office/drawing/2014/main" id="{C3B8F54A-64C6-E7CB-B9A6-9797099A01D6}"/>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rot="5400000">
            <a:off x="2596613" y="-2596610"/>
            <a:ext cx="6998776" cy="12192000"/>
          </a:xfrm>
          <a:prstGeom prst="rect">
            <a:avLst/>
          </a:prstGeom>
        </p:spPr>
      </p:pic>
      <p:sp>
        <p:nvSpPr>
          <p:cNvPr id="2" name="Titre 1">
            <a:extLst>
              <a:ext uri="{FF2B5EF4-FFF2-40B4-BE49-F238E27FC236}">
                <a16:creationId xmlns:a16="http://schemas.microsoft.com/office/drawing/2014/main" id="{81096A85-B7CC-A62C-BC28-4153006C5EE2}"/>
              </a:ext>
            </a:extLst>
          </p:cNvPr>
          <p:cNvSpPr>
            <a:spLocks noGrp="1"/>
          </p:cNvSpPr>
          <p:nvPr>
            <p:ph type="ctrTitle"/>
          </p:nvPr>
        </p:nvSpPr>
        <p:spPr>
          <a:xfrm>
            <a:off x="345186" y="2433638"/>
            <a:ext cx="5679694" cy="738187"/>
          </a:xfrm>
        </p:spPr>
        <p:txBody>
          <a:bodyPr>
            <a:normAutofit fontScale="90000"/>
          </a:bodyPr>
          <a:lstStyle/>
          <a:p>
            <a:pPr algn="l"/>
            <a:r>
              <a:rPr lang="fr-FR" sz="4500" b="1" dirty="0">
                <a:solidFill>
                  <a:schemeClr val="tx2"/>
                </a:solidFill>
                <a:latin typeface="Lora" pitchFamily="2" charset="0"/>
              </a:rPr>
              <a:t>Les défis liés à la gestion des données</a:t>
            </a:r>
          </a:p>
        </p:txBody>
      </p:sp>
      <p:sp>
        <p:nvSpPr>
          <p:cNvPr id="3" name="Sous-titre 2">
            <a:extLst>
              <a:ext uri="{FF2B5EF4-FFF2-40B4-BE49-F238E27FC236}">
                <a16:creationId xmlns:a16="http://schemas.microsoft.com/office/drawing/2014/main" id="{6008EBBC-CD9C-BEA6-A91B-4B4335A1E147}"/>
              </a:ext>
            </a:extLst>
          </p:cNvPr>
          <p:cNvSpPr>
            <a:spLocks noGrp="1"/>
          </p:cNvSpPr>
          <p:nvPr>
            <p:ph type="subTitle" idx="1"/>
          </p:nvPr>
        </p:nvSpPr>
        <p:spPr>
          <a:xfrm>
            <a:off x="4324350" y="6643878"/>
            <a:ext cx="2890647" cy="214122"/>
          </a:xfrm>
        </p:spPr>
        <p:txBody>
          <a:bodyPr>
            <a:noAutofit/>
          </a:bodyPr>
          <a:lstStyle/>
          <a:p>
            <a:r>
              <a:rPr lang="fr-FR" sz="1100" b="1" dirty="0">
                <a:solidFill>
                  <a:schemeClr val="tx2"/>
                </a:solidFill>
              </a:rPr>
              <a:t>Préparé et Présenté par Daniel  Lawson</a:t>
            </a:r>
          </a:p>
        </p:txBody>
      </p:sp>
    </p:spTree>
    <p:extLst>
      <p:ext uri="{BB962C8B-B14F-4D97-AF65-F5344CB8AC3E}">
        <p14:creationId xmlns:p14="http://schemas.microsoft.com/office/powerpoint/2010/main" val="29681163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1ED1A-03CB-8F44-EF63-34E831848CD5}"/>
            </a:ext>
          </a:extLst>
        </p:cNvPr>
        <p:cNvGrpSpPr/>
        <p:nvPr/>
      </p:nvGrpSpPr>
      <p:grpSpPr>
        <a:xfrm>
          <a:off x="0" y="0"/>
          <a:ext cx="0" cy="0"/>
          <a:chOff x="0" y="0"/>
          <a:chExt cx="0" cy="0"/>
        </a:xfrm>
      </p:grpSpPr>
      <p:pic>
        <p:nvPicPr>
          <p:cNvPr id="8" name="Image 7" descr="Une image contenant texte, conception, capture d’écran, croquis">
            <a:extLst>
              <a:ext uri="{FF2B5EF4-FFF2-40B4-BE49-F238E27FC236}">
                <a16:creationId xmlns:a16="http://schemas.microsoft.com/office/drawing/2014/main" id="{E66D2AC1-AC49-BD81-163E-26D5ECA2D8AD}"/>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rot="5400000">
            <a:off x="2596613" y="-2596610"/>
            <a:ext cx="6998776" cy="12192000"/>
          </a:xfrm>
          <a:prstGeom prst="rect">
            <a:avLst/>
          </a:prstGeom>
        </p:spPr>
      </p:pic>
      <p:sp>
        <p:nvSpPr>
          <p:cNvPr id="2" name="Titre 1">
            <a:extLst>
              <a:ext uri="{FF2B5EF4-FFF2-40B4-BE49-F238E27FC236}">
                <a16:creationId xmlns:a16="http://schemas.microsoft.com/office/drawing/2014/main" id="{CCA21C81-70B7-0713-F503-ACBD1DEBF319}"/>
              </a:ext>
            </a:extLst>
          </p:cNvPr>
          <p:cNvSpPr>
            <a:spLocks noGrp="1"/>
          </p:cNvSpPr>
          <p:nvPr>
            <p:ph type="ctrTitle"/>
          </p:nvPr>
        </p:nvSpPr>
        <p:spPr>
          <a:xfrm>
            <a:off x="242445" y="2433638"/>
            <a:ext cx="6220001" cy="738187"/>
          </a:xfrm>
        </p:spPr>
        <p:txBody>
          <a:bodyPr>
            <a:normAutofit fontScale="90000"/>
          </a:bodyPr>
          <a:lstStyle/>
          <a:p>
            <a:pPr algn="l"/>
            <a:r>
              <a:rPr lang="fr-FR" sz="4500" b="1" dirty="0">
                <a:solidFill>
                  <a:schemeClr val="tx2"/>
                </a:solidFill>
                <a:latin typeface="Lora" pitchFamily="2" charset="0"/>
              </a:rPr>
              <a:t>Défi 1 : </a:t>
            </a:r>
            <a:br>
              <a:rPr lang="fr-FR" sz="4500" b="1" dirty="0">
                <a:solidFill>
                  <a:schemeClr val="tx2"/>
                </a:solidFill>
                <a:latin typeface="Lora" pitchFamily="2" charset="0"/>
              </a:rPr>
            </a:br>
            <a:r>
              <a:rPr lang="fr-FR" sz="4500" b="1" dirty="0">
                <a:solidFill>
                  <a:schemeClr val="tx2"/>
                </a:solidFill>
                <a:latin typeface="Lora" pitchFamily="2" charset="0"/>
              </a:rPr>
              <a:t>Cohérence des données</a:t>
            </a:r>
          </a:p>
        </p:txBody>
      </p:sp>
      <p:sp>
        <p:nvSpPr>
          <p:cNvPr id="3" name="Sous-titre 2">
            <a:extLst>
              <a:ext uri="{FF2B5EF4-FFF2-40B4-BE49-F238E27FC236}">
                <a16:creationId xmlns:a16="http://schemas.microsoft.com/office/drawing/2014/main" id="{4F69109B-2FEA-6944-EDAB-08819CAA1415}"/>
              </a:ext>
            </a:extLst>
          </p:cNvPr>
          <p:cNvSpPr>
            <a:spLocks noGrp="1"/>
          </p:cNvSpPr>
          <p:nvPr>
            <p:ph type="subTitle" idx="1"/>
          </p:nvPr>
        </p:nvSpPr>
        <p:spPr>
          <a:xfrm>
            <a:off x="4324350" y="6643878"/>
            <a:ext cx="2890647" cy="214122"/>
          </a:xfrm>
        </p:spPr>
        <p:txBody>
          <a:bodyPr>
            <a:noAutofit/>
          </a:bodyPr>
          <a:lstStyle/>
          <a:p>
            <a:r>
              <a:rPr lang="fr-FR" sz="1100" b="1" dirty="0">
                <a:solidFill>
                  <a:schemeClr val="tx2"/>
                </a:solidFill>
              </a:rPr>
              <a:t>Préparé et Présenté par Daniel  Lawson</a:t>
            </a:r>
          </a:p>
        </p:txBody>
      </p:sp>
    </p:spTree>
    <p:extLst>
      <p:ext uri="{BB962C8B-B14F-4D97-AF65-F5344CB8AC3E}">
        <p14:creationId xmlns:p14="http://schemas.microsoft.com/office/powerpoint/2010/main" val="12270046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487E8-4F41-E90E-1148-9C48AED1C4A8}"/>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3F2F11FA-6D7B-C824-4B77-3D10DC89F42D}"/>
              </a:ext>
            </a:extLst>
          </p:cNvPr>
          <p:cNvSpPr>
            <a:spLocks noGrp="1"/>
          </p:cNvSpPr>
          <p:nvPr>
            <p:ph idx="1"/>
          </p:nvPr>
        </p:nvSpPr>
        <p:spPr>
          <a:xfrm>
            <a:off x="223520" y="1287145"/>
            <a:ext cx="11744960" cy="4615816"/>
          </a:xfrm>
        </p:spPr>
        <p:txBody>
          <a:bodyPr>
            <a:noAutofit/>
          </a:bodyPr>
          <a:lstStyle/>
          <a:p>
            <a:pPr marL="0" indent="0">
              <a:lnSpc>
                <a:spcPct val="150000"/>
              </a:lnSpc>
              <a:buNone/>
            </a:pPr>
            <a:endParaRPr lang="fr-FR" sz="2000" dirty="0"/>
          </a:p>
          <a:p>
            <a:pPr marL="0" indent="0">
              <a:lnSpc>
                <a:spcPct val="150000"/>
              </a:lnSpc>
              <a:buNone/>
            </a:pPr>
            <a:endParaRPr lang="fr-FR" sz="2000" b="1" dirty="0"/>
          </a:p>
        </p:txBody>
      </p:sp>
      <p:sp>
        <p:nvSpPr>
          <p:cNvPr id="4" name="Titre 1">
            <a:extLst>
              <a:ext uri="{FF2B5EF4-FFF2-40B4-BE49-F238E27FC236}">
                <a16:creationId xmlns:a16="http://schemas.microsoft.com/office/drawing/2014/main" id="{590B107B-1242-926D-0994-139542197E05}"/>
              </a:ext>
            </a:extLst>
          </p:cNvPr>
          <p:cNvSpPr txBox="1">
            <a:spLocks/>
          </p:cNvSpPr>
          <p:nvPr/>
        </p:nvSpPr>
        <p:spPr>
          <a:xfrm>
            <a:off x="223520" y="284485"/>
            <a:ext cx="8808720" cy="42567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b="1" dirty="0"/>
              <a:t>Cohérence des données : Définition</a:t>
            </a:r>
          </a:p>
        </p:txBody>
      </p:sp>
      <p:cxnSp>
        <p:nvCxnSpPr>
          <p:cNvPr id="5" name="Connecteur droit 4">
            <a:extLst>
              <a:ext uri="{FF2B5EF4-FFF2-40B4-BE49-F238E27FC236}">
                <a16:creationId xmlns:a16="http://schemas.microsoft.com/office/drawing/2014/main" id="{ABC5B61A-971F-566D-2D5F-E1BBC300E415}"/>
              </a:ext>
            </a:extLst>
          </p:cNvPr>
          <p:cNvCxnSpPr>
            <a:cxnSpLocks/>
          </p:cNvCxnSpPr>
          <p:nvPr/>
        </p:nvCxnSpPr>
        <p:spPr>
          <a:xfrm>
            <a:off x="0" y="86754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Sous-titre 2">
            <a:extLst>
              <a:ext uri="{FF2B5EF4-FFF2-40B4-BE49-F238E27FC236}">
                <a16:creationId xmlns:a16="http://schemas.microsoft.com/office/drawing/2014/main" id="{ED66369D-CFA3-DB4F-A2F4-332A915A0728}"/>
              </a:ext>
            </a:extLst>
          </p:cNvPr>
          <p:cNvSpPr txBox="1">
            <a:spLocks/>
          </p:cNvSpPr>
          <p:nvPr/>
        </p:nvSpPr>
        <p:spPr>
          <a:xfrm>
            <a:off x="4324350" y="6643878"/>
            <a:ext cx="2890647" cy="2141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100" b="1">
                <a:solidFill>
                  <a:schemeClr val="tx2"/>
                </a:solidFill>
              </a:rPr>
              <a:t>Préparé et Présenté par Daniel  Lawson</a:t>
            </a:r>
            <a:endParaRPr lang="fr-FR" sz="1100" b="1" dirty="0">
              <a:solidFill>
                <a:schemeClr val="tx2"/>
              </a:solidFill>
            </a:endParaRPr>
          </a:p>
        </p:txBody>
      </p:sp>
      <p:sp>
        <p:nvSpPr>
          <p:cNvPr id="8" name="ZoneTexte 7">
            <a:extLst>
              <a:ext uri="{FF2B5EF4-FFF2-40B4-BE49-F238E27FC236}">
                <a16:creationId xmlns:a16="http://schemas.microsoft.com/office/drawing/2014/main" id="{C19E6560-0543-8985-3BE6-6B61A85B16AD}"/>
              </a:ext>
            </a:extLst>
          </p:cNvPr>
          <p:cNvSpPr txBox="1"/>
          <p:nvPr/>
        </p:nvSpPr>
        <p:spPr>
          <a:xfrm>
            <a:off x="368218" y="1129754"/>
            <a:ext cx="11498662" cy="5121851"/>
          </a:xfrm>
          <a:prstGeom prst="rect">
            <a:avLst/>
          </a:prstGeom>
          <a:noFill/>
        </p:spPr>
        <p:txBody>
          <a:bodyPr wrap="square">
            <a:spAutoFit/>
          </a:bodyPr>
          <a:lstStyle/>
          <a:p>
            <a:pPr marL="0" indent="0">
              <a:lnSpc>
                <a:spcPct val="150000"/>
              </a:lnSpc>
              <a:buNone/>
            </a:pPr>
            <a:r>
              <a:rPr lang="fr-FR" sz="2200" dirty="0"/>
              <a:t>La cohérence des données désigne le fait que les données sont </a:t>
            </a:r>
            <a:r>
              <a:rPr lang="fr-FR" sz="2200" b="1" dirty="0"/>
              <a:t>uniformes</a:t>
            </a:r>
            <a:r>
              <a:rPr lang="fr-FR" sz="2200" dirty="0"/>
              <a:t> et </a:t>
            </a:r>
            <a:r>
              <a:rPr lang="fr-FR" sz="2200" b="1" dirty="0"/>
              <a:t>à jour </a:t>
            </a:r>
            <a:r>
              <a:rPr lang="fr-FR" sz="2200" dirty="0"/>
              <a:t>dans l’ensemble du système, </a:t>
            </a:r>
            <a:r>
              <a:rPr lang="fr-FR" sz="2200" b="1" dirty="0"/>
              <a:t>sans contradiction ou écarts</a:t>
            </a:r>
            <a:r>
              <a:rPr lang="fr-FR" sz="2200" dirty="0"/>
              <a:t>.</a:t>
            </a:r>
          </a:p>
          <a:p>
            <a:pPr marL="0" indent="0">
              <a:lnSpc>
                <a:spcPct val="150000"/>
              </a:lnSpc>
              <a:buNone/>
            </a:pPr>
            <a:endParaRPr lang="fr-FR" sz="2200" dirty="0"/>
          </a:p>
          <a:p>
            <a:pPr marL="0" indent="0">
              <a:lnSpc>
                <a:spcPct val="150000"/>
              </a:lnSpc>
              <a:buNone/>
            </a:pPr>
            <a:r>
              <a:rPr lang="fr-FR" sz="2200" dirty="0"/>
              <a:t>Il garantit que toutes les copies des données reflètent la même valeur après une mise à jour.</a:t>
            </a:r>
          </a:p>
          <a:p>
            <a:pPr marL="0" indent="0">
              <a:lnSpc>
                <a:spcPct val="150000"/>
              </a:lnSpc>
              <a:buNone/>
            </a:pPr>
            <a:endParaRPr lang="fr-FR" sz="2200" dirty="0"/>
          </a:p>
          <a:p>
            <a:pPr marL="0" indent="0">
              <a:lnSpc>
                <a:spcPct val="150000"/>
              </a:lnSpc>
              <a:buNone/>
            </a:pPr>
            <a:r>
              <a:rPr lang="fr-FR" sz="2200" dirty="0"/>
              <a:t>C'est un concept crucial en particulier dans les systèmes distribués, tels que les architectures </a:t>
            </a:r>
            <a:r>
              <a:rPr lang="fr-FR" sz="2200" dirty="0" err="1"/>
              <a:t>microservices</a:t>
            </a:r>
            <a:r>
              <a:rPr lang="fr-FR" sz="2200" dirty="0"/>
              <a:t>.</a:t>
            </a:r>
          </a:p>
          <a:p>
            <a:pPr marL="0" indent="0">
              <a:lnSpc>
                <a:spcPct val="150000"/>
              </a:lnSpc>
              <a:buNone/>
            </a:pPr>
            <a:endParaRPr lang="fr-FR" sz="2200" dirty="0"/>
          </a:p>
          <a:p>
            <a:pPr marL="0" indent="0">
              <a:lnSpc>
                <a:spcPct val="150000"/>
              </a:lnSpc>
              <a:buNone/>
            </a:pPr>
            <a:r>
              <a:rPr lang="fr-FR" sz="2200" dirty="0"/>
              <a:t>Il existe deux (2) types de cohérence des données : La </a:t>
            </a:r>
            <a:r>
              <a:rPr lang="fr-FR" sz="2200" b="1" dirty="0"/>
              <a:t>cohérence forte </a:t>
            </a:r>
            <a:r>
              <a:rPr lang="fr-FR" sz="2200" dirty="0"/>
              <a:t>et la </a:t>
            </a:r>
            <a:r>
              <a:rPr lang="fr-FR" sz="2200" b="1" dirty="0"/>
              <a:t>cohérence éventuelle</a:t>
            </a:r>
            <a:r>
              <a:rPr lang="fr-FR" sz="2200" dirty="0"/>
              <a:t>.</a:t>
            </a:r>
          </a:p>
        </p:txBody>
      </p:sp>
    </p:spTree>
    <p:extLst>
      <p:ext uri="{BB962C8B-B14F-4D97-AF65-F5344CB8AC3E}">
        <p14:creationId xmlns:p14="http://schemas.microsoft.com/office/powerpoint/2010/main" val="12154916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B0AB9-3EAB-F624-C30A-AA2D72F1A38F}"/>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76C629E8-B744-332C-D206-15A05E6D50DE}"/>
              </a:ext>
            </a:extLst>
          </p:cNvPr>
          <p:cNvSpPr>
            <a:spLocks noGrp="1"/>
          </p:cNvSpPr>
          <p:nvPr>
            <p:ph idx="1"/>
          </p:nvPr>
        </p:nvSpPr>
        <p:spPr>
          <a:xfrm>
            <a:off x="223520" y="1287145"/>
            <a:ext cx="11744960" cy="4615816"/>
          </a:xfrm>
        </p:spPr>
        <p:txBody>
          <a:bodyPr>
            <a:noAutofit/>
          </a:bodyPr>
          <a:lstStyle/>
          <a:p>
            <a:pPr marL="0" indent="0">
              <a:lnSpc>
                <a:spcPct val="150000"/>
              </a:lnSpc>
              <a:buNone/>
            </a:pPr>
            <a:endParaRPr lang="fr-FR" sz="2000" dirty="0"/>
          </a:p>
          <a:p>
            <a:pPr marL="0" indent="0">
              <a:lnSpc>
                <a:spcPct val="150000"/>
              </a:lnSpc>
              <a:buNone/>
            </a:pPr>
            <a:endParaRPr lang="fr-FR" sz="2000" b="1" dirty="0"/>
          </a:p>
        </p:txBody>
      </p:sp>
      <p:sp>
        <p:nvSpPr>
          <p:cNvPr id="4" name="Titre 1">
            <a:extLst>
              <a:ext uri="{FF2B5EF4-FFF2-40B4-BE49-F238E27FC236}">
                <a16:creationId xmlns:a16="http://schemas.microsoft.com/office/drawing/2014/main" id="{551689D7-CD63-122C-C6D3-0E4875E17734}"/>
              </a:ext>
            </a:extLst>
          </p:cNvPr>
          <p:cNvSpPr txBox="1">
            <a:spLocks/>
          </p:cNvSpPr>
          <p:nvPr/>
        </p:nvSpPr>
        <p:spPr>
          <a:xfrm>
            <a:off x="223520" y="284485"/>
            <a:ext cx="3215005" cy="42567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b="1" dirty="0"/>
              <a:t>La cohérence forte</a:t>
            </a:r>
          </a:p>
        </p:txBody>
      </p:sp>
      <p:cxnSp>
        <p:nvCxnSpPr>
          <p:cNvPr id="5" name="Connecteur droit 4">
            <a:extLst>
              <a:ext uri="{FF2B5EF4-FFF2-40B4-BE49-F238E27FC236}">
                <a16:creationId xmlns:a16="http://schemas.microsoft.com/office/drawing/2014/main" id="{86C0C1AD-40F8-81EB-F1A7-13A8530E8CD6}"/>
              </a:ext>
            </a:extLst>
          </p:cNvPr>
          <p:cNvCxnSpPr>
            <a:cxnSpLocks/>
          </p:cNvCxnSpPr>
          <p:nvPr/>
        </p:nvCxnSpPr>
        <p:spPr>
          <a:xfrm>
            <a:off x="0" y="86754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Sous-titre 2">
            <a:extLst>
              <a:ext uri="{FF2B5EF4-FFF2-40B4-BE49-F238E27FC236}">
                <a16:creationId xmlns:a16="http://schemas.microsoft.com/office/drawing/2014/main" id="{6B22DD1B-B566-747A-2ABB-3F7D7371E6F8}"/>
              </a:ext>
            </a:extLst>
          </p:cNvPr>
          <p:cNvSpPr txBox="1">
            <a:spLocks/>
          </p:cNvSpPr>
          <p:nvPr/>
        </p:nvSpPr>
        <p:spPr>
          <a:xfrm>
            <a:off x="4324350" y="6643878"/>
            <a:ext cx="2890647" cy="2141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100" b="1">
                <a:solidFill>
                  <a:schemeClr val="tx2"/>
                </a:solidFill>
              </a:rPr>
              <a:t>Préparé et Présenté par Daniel  Lawson</a:t>
            </a:r>
            <a:endParaRPr lang="fr-FR" sz="1100" b="1" dirty="0">
              <a:solidFill>
                <a:schemeClr val="tx2"/>
              </a:solidFill>
            </a:endParaRPr>
          </a:p>
        </p:txBody>
      </p:sp>
      <p:sp>
        <p:nvSpPr>
          <p:cNvPr id="8" name="ZoneTexte 7">
            <a:extLst>
              <a:ext uri="{FF2B5EF4-FFF2-40B4-BE49-F238E27FC236}">
                <a16:creationId xmlns:a16="http://schemas.microsoft.com/office/drawing/2014/main" id="{ED0CD41F-4882-257D-A4D9-3FFA2890B8D6}"/>
              </a:ext>
            </a:extLst>
          </p:cNvPr>
          <p:cNvSpPr txBox="1"/>
          <p:nvPr/>
        </p:nvSpPr>
        <p:spPr>
          <a:xfrm>
            <a:off x="368218" y="1129754"/>
            <a:ext cx="11498662" cy="5334474"/>
          </a:xfrm>
          <a:prstGeom prst="rect">
            <a:avLst/>
          </a:prstGeom>
          <a:noFill/>
        </p:spPr>
        <p:txBody>
          <a:bodyPr wrap="square">
            <a:spAutoFit/>
          </a:bodyPr>
          <a:lstStyle/>
          <a:p>
            <a:pPr marL="0" indent="0">
              <a:lnSpc>
                <a:spcPct val="150000"/>
              </a:lnSpc>
              <a:buNone/>
            </a:pPr>
            <a:r>
              <a:rPr lang="fr-FR" dirty="0"/>
              <a:t>La </a:t>
            </a:r>
            <a:r>
              <a:rPr lang="fr-FR" b="1" dirty="0"/>
              <a:t>cohérence forte </a:t>
            </a:r>
            <a:r>
              <a:rPr lang="fr-FR" dirty="0"/>
              <a:t>garantit que toutes les lectures d'une donnée</a:t>
            </a:r>
            <a:r>
              <a:rPr lang="fr-FR" b="1" dirty="0"/>
              <a:t> renvoient toujours la version la plus récente</a:t>
            </a:r>
            <a:r>
              <a:rPr lang="fr-FR" dirty="0"/>
              <a:t> de cette donnée, </a:t>
            </a:r>
            <a:r>
              <a:rPr lang="fr-FR" b="1" dirty="0"/>
              <a:t>immédiatement</a:t>
            </a:r>
            <a:r>
              <a:rPr lang="fr-FR" dirty="0"/>
              <a:t> après une écriture, indépendamment du nœud ou du microservice auquel l’utilisateur se connecte. </a:t>
            </a:r>
          </a:p>
          <a:p>
            <a:pPr marL="0" indent="0">
              <a:lnSpc>
                <a:spcPct val="150000"/>
              </a:lnSpc>
              <a:buNone/>
            </a:pPr>
            <a:endParaRPr lang="fr-FR" dirty="0"/>
          </a:p>
          <a:p>
            <a:pPr>
              <a:lnSpc>
                <a:spcPct val="115000"/>
              </a:lnSpc>
              <a:spcAft>
                <a:spcPts val="800"/>
              </a:spcAft>
            </a:pPr>
            <a:r>
              <a:rPr lang="fr-FR" sz="2000" b="1" kern="100" dirty="0">
                <a:effectLst/>
                <a:latin typeface="Aptos" panose="020B0004020202020204" pitchFamily="34" charset="0"/>
                <a:ea typeface="Aptos" panose="020B0004020202020204" pitchFamily="34" charset="0"/>
                <a:cs typeface="Times New Roman" panose="02020603050405020304" pitchFamily="18" charset="0"/>
              </a:rPr>
              <a:t>Caractéristiques</a:t>
            </a:r>
            <a:endParaRPr lang="fr-FR" sz="20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fr-FR" sz="1800" b="1" kern="100" dirty="0">
                <a:effectLst/>
                <a:latin typeface="Aptos" panose="020B0004020202020204" pitchFamily="34" charset="0"/>
                <a:ea typeface="Aptos" panose="020B0004020202020204" pitchFamily="34" charset="0"/>
                <a:cs typeface="Times New Roman" panose="02020603050405020304" pitchFamily="18" charset="0"/>
              </a:rPr>
              <a:t>Accès immédiat aux données à jour</a:t>
            </a:r>
            <a:r>
              <a:rPr lang="fr-FR" sz="1800" kern="100" dirty="0">
                <a:effectLst/>
                <a:latin typeface="Aptos" panose="020B0004020202020204" pitchFamily="34" charset="0"/>
                <a:ea typeface="Aptos" panose="020B0004020202020204" pitchFamily="34" charset="0"/>
                <a:cs typeface="Times New Roman" panose="02020603050405020304" pitchFamily="18" charset="0"/>
              </a:rPr>
              <a:t> : Après une mise à jour, toute lecture ultérieure renvoie la version modifiée, même si la donnée est répliquée sur plusieurs nœuds.</a:t>
            </a:r>
          </a:p>
          <a:p>
            <a:pPr marL="342900" lvl="0" indent="-342900">
              <a:lnSpc>
                <a:spcPct val="115000"/>
              </a:lnSpc>
              <a:spcAft>
                <a:spcPts val="800"/>
              </a:spcAft>
              <a:buSzPts val="1000"/>
              <a:buFont typeface="Symbol" panose="05050102010706020507" pitchFamily="18" charset="2"/>
              <a:buChar char=""/>
              <a:tabLst>
                <a:tab pos="457200" algn="l"/>
              </a:tabLst>
            </a:pPr>
            <a:r>
              <a:rPr lang="fr-FR" sz="1800" b="1" kern="100" dirty="0">
                <a:effectLst/>
                <a:latin typeface="Aptos" panose="020B0004020202020204" pitchFamily="34" charset="0"/>
                <a:ea typeface="Aptos" panose="020B0004020202020204" pitchFamily="34" charset="0"/>
                <a:cs typeface="Times New Roman" panose="02020603050405020304" pitchFamily="18" charset="0"/>
              </a:rPr>
              <a:t>Transactions atomiques et globales</a:t>
            </a:r>
            <a:r>
              <a:rPr lang="fr-FR" sz="1800" kern="100" dirty="0">
                <a:effectLst/>
                <a:latin typeface="Aptos" panose="020B0004020202020204" pitchFamily="34" charset="0"/>
                <a:ea typeface="Aptos" panose="020B0004020202020204" pitchFamily="34" charset="0"/>
                <a:cs typeface="Times New Roman" panose="02020603050405020304" pitchFamily="18" charset="0"/>
              </a:rPr>
              <a:t> : Les systèmes offrant une consistance forte suivent souvent des propriétés </a:t>
            </a:r>
            <a:r>
              <a:rPr lang="fr-FR" sz="1800" b="1" kern="100" dirty="0">
                <a:effectLst/>
                <a:latin typeface="Aptos" panose="020B0004020202020204" pitchFamily="34" charset="0"/>
                <a:ea typeface="Aptos" panose="020B0004020202020204" pitchFamily="34" charset="0"/>
                <a:cs typeface="Times New Roman" panose="02020603050405020304" pitchFamily="18" charset="0"/>
              </a:rPr>
              <a:t>ACID</a:t>
            </a:r>
            <a:r>
              <a:rPr lang="fr-FR" sz="1800" kern="100" dirty="0">
                <a:effectLst/>
                <a:latin typeface="Aptos" panose="020B0004020202020204" pitchFamily="34" charset="0"/>
                <a:ea typeface="Aptos" panose="020B0004020202020204" pitchFamily="34" charset="0"/>
                <a:cs typeface="Times New Roman" panose="02020603050405020304" pitchFamily="18" charset="0"/>
              </a:rPr>
              <a:t> (Atomicité, Cohérence, Isolation, Durabilité), ce qui garantit qu’une mise à jour est instantanément visible sur tous les nœuds du système une fois confirmée.</a:t>
            </a:r>
          </a:p>
          <a:p>
            <a:pPr marL="342900" lvl="0" indent="-342900">
              <a:lnSpc>
                <a:spcPct val="115000"/>
              </a:lnSpc>
              <a:spcAft>
                <a:spcPts val="800"/>
              </a:spcAft>
              <a:buSzPts val="1000"/>
              <a:buFont typeface="Symbol" panose="05050102010706020507" pitchFamily="18" charset="2"/>
              <a:buChar char=""/>
              <a:tabLst>
                <a:tab pos="457200" algn="l"/>
              </a:tabLst>
            </a:pPr>
            <a:r>
              <a:rPr lang="fr-FR" sz="1800" b="1" kern="100" dirty="0">
                <a:effectLst/>
                <a:latin typeface="Aptos" panose="020B0004020202020204" pitchFamily="34" charset="0"/>
                <a:ea typeface="Aptos" panose="020B0004020202020204" pitchFamily="34" charset="0"/>
                <a:cs typeface="Times New Roman" panose="02020603050405020304" pitchFamily="18" charset="0"/>
              </a:rPr>
              <a:t>Synchronisation immédiate</a:t>
            </a:r>
            <a:r>
              <a:rPr lang="fr-FR" sz="1800" kern="100" dirty="0">
                <a:effectLst/>
                <a:latin typeface="Aptos" panose="020B0004020202020204" pitchFamily="34" charset="0"/>
                <a:ea typeface="Aptos" panose="020B0004020202020204" pitchFamily="34" charset="0"/>
                <a:cs typeface="Times New Roman" panose="02020603050405020304" pitchFamily="18" charset="0"/>
              </a:rPr>
              <a:t> : Les modifications de données doivent être répliquées et confirmées sur tous les nœuds avant que la transaction ne soit considérée comme terminée.</a:t>
            </a:r>
          </a:p>
          <a:p>
            <a:pPr marL="342900" lvl="0" indent="-342900">
              <a:lnSpc>
                <a:spcPct val="115000"/>
              </a:lnSpc>
              <a:spcAft>
                <a:spcPts val="800"/>
              </a:spcAft>
              <a:buSzPts val="1000"/>
              <a:buFont typeface="Symbol" panose="05050102010706020507" pitchFamily="18" charset="2"/>
              <a:buChar char=""/>
              <a:tabLst>
                <a:tab pos="457200" algn="l"/>
              </a:tabLst>
            </a:pPr>
            <a:r>
              <a:rPr lang="fr-FR" sz="1800" b="1" kern="100" dirty="0">
                <a:effectLst/>
                <a:latin typeface="Aptos" panose="020B0004020202020204" pitchFamily="34" charset="0"/>
                <a:ea typeface="Aptos" panose="020B0004020202020204" pitchFamily="34" charset="0"/>
                <a:cs typeface="Times New Roman" panose="02020603050405020304" pitchFamily="18" charset="0"/>
              </a:rPr>
              <a:t>Verrous distribués</a:t>
            </a:r>
            <a:r>
              <a:rPr lang="fr-FR" sz="1800" kern="100" dirty="0">
                <a:effectLst/>
                <a:latin typeface="Aptos" panose="020B0004020202020204" pitchFamily="34" charset="0"/>
                <a:ea typeface="Aptos" panose="020B0004020202020204" pitchFamily="34" charset="0"/>
                <a:cs typeface="Times New Roman" panose="02020603050405020304" pitchFamily="18" charset="0"/>
              </a:rPr>
              <a:t> : Il peut y avoir utilisation de </a:t>
            </a:r>
            <a:r>
              <a:rPr lang="fr-FR" sz="1800" b="1" kern="100" dirty="0">
                <a:effectLst/>
                <a:latin typeface="Aptos" panose="020B0004020202020204" pitchFamily="34" charset="0"/>
                <a:ea typeface="Aptos" panose="020B0004020202020204" pitchFamily="34" charset="0"/>
                <a:cs typeface="Times New Roman" panose="02020603050405020304" pitchFamily="18" charset="0"/>
              </a:rPr>
              <a:t>verrous distribués</a:t>
            </a:r>
            <a:r>
              <a:rPr lang="fr-FR" sz="1800" kern="100" dirty="0">
                <a:effectLst/>
                <a:latin typeface="Aptos" panose="020B0004020202020204" pitchFamily="34" charset="0"/>
                <a:ea typeface="Aptos" panose="020B0004020202020204" pitchFamily="34" charset="0"/>
                <a:cs typeface="Times New Roman" panose="02020603050405020304" pitchFamily="18" charset="0"/>
              </a:rPr>
              <a:t> pour éviter que deux transactions simultanées n’entraînent des incohérences.</a:t>
            </a:r>
          </a:p>
        </p:txBody>
      </p:sp>
    </p:spTree>
    <p:extLst>
      <p:ext uri="{BB962C8B-B14F-4D97-AF65-F5344CB8AC3E}">
        <p14:creationId xmlns:p14="http://schemas.microsoft.com/office/powerpoint/2010/main" val="37904836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8EDDE-F9AD-EFA7-8B8C-E2BD0E8B6273}"/>
            </a:ext>
          </a:extLst>
        </p:cNvPr>
        <p:cNvGrpSpPr/>
        <p:nvPr/>
      </p:nvGrpSpPr>
      <p:grpSpPr>
        <a:xfrm>
          <a:off x="0" y="0"/>
          <a:ext cx="0" cy="0"/>
          <a:chOff x="0" y="0"/>
          <a:chExt cx="0" cy="0"/>
        </a:xfrm>
      </p:grpSpPr>
      <p:pic>
        <p:nvPicPr>
          <p:cNvPr id="1028" name="Picture 4" descr="Pros and cons concept illustration">
            <a:extLst>
              <a:ext uri="{FF2B5EF4-FFF2-40B4-BE49-F238E27FC236}">
                <a16:creationId xmlns:a16="http://schemas.microsoft.com/office/drawing/2014/main" id="{E636CD48-CAAE-F99D-1A46-EB06C30B1E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16922" y="1272398"/>
            <a:ext cx="4477587" cy="4477587"/>
          </a:xfrm>
          <a:prstGeom prst="rect">
            <a:avLst/>
          </a:prstGeom>
          <a:noFill/>
          <a:extLst>
            <a:ext uri="{909E8E84-426E-40DD-AFC4-6F175D3DCCD1}">
              <a14:hiddenFill xmlns:a14="http://schemas.microsoft.com/office/drawing/2010/main">
                <a:solidFill>
                  <a:srgbClr val="FFFFFF"/>
                </a:solidFill>
              </a14:hiddenFill>
            </a:ext>
          </a:extLst>
        </p:spPr>
      </p:pic>
      <p:sp>
        <p:nvSpPr>
          <p:cNvPr id="4" name="Titre 1">
            <a:extLst>
              <a:ext uri="{FF2B5EF4-FFF2-40B4-BE49-F238E27FC236}">
                <a16:creationId xmlns:a16="http://schemas.microsoft.com/office/drawing/2014/main" id="{343F2240-8325-65D3-E066-EA93503F852E}"/>
              </a:ext>
            </a:extLst>
          </p:cNvPr>
          <p:cNvSpPr txBox="1">
            <a:spLocks/>
          </p:cNvSpPr>
          <p:nvPr/>
        </p:nvSpPr>
        <p:spPr>
          <a:xfrm>
            <a:off x="223520" y="284485"/>
            <a:ext cx="7471824" cy="42567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b="1" dirty="0"/>
              <a:t>La cohérence forte : Avantages et inconvénients</a:t>
            </a:r>
          </a:p>
        </p:txBody>
      </p:sp>
      <p:cxnSp>
        <p:nvCxnSpPr>
          <p:cNvPr id="5" name="Connecteur droit 4">
            <a:extLst>
              <a:ext uri="{FF2B5EF4-FFF2-40B4-BE49-F238E27FC236}">
                <a16:creationId xmlns:a16="http://schemas.microsoft.com/office/drawing/2014/main" id="{D9BA0003-0708-3CEB-314E-BA0B15975019}"/>
              </a:ext>
            </a:extLst>
          </p:cNvPr>
          <p:cNvCxnSpPr>
            <a:cxnSpLocks/>
          </p:cNvCxnSpPr>
          <p:nvPr/>
        </p:nvCxnSpPr>
        <p:spPr>
          <a:xfrm>
            <a:off x="0" y="86754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Sous-titre 2">
            <a:extLst>
              <a:ext uri="{FF2B5EF4-FFF2-40B4-BE49-F238E27FC236}">
                <a16:creationId xmlns:a16="http://schemas.microsoft.com/office/drawing/2014/main" id="{28F84671-4384-A748-D3B8-7DD081B72929}"/>
              </a:ext>
            </a:extLst>
          </p:cNvPr>
          <p:cNvSpPr txBox="1">
            <a:spLocks/>
          </p:cNvSpPr>
          <p:nvPr/>
        </p:nvSpPr>
        <p:spPr>
          <a:xfrm>
            <a:off x="4324350" y="6643878"/>
            <a:ext cx="2890647" cy="2141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100" b="1">
                <a:solidFill>
                  <a:schemeClr val="tx2"/>
                </a:solidFill>
              </a:rPr>
              <a:t>Préparé et Présenté par Daniel  Lawson</a:t>
            </a:r>
            <a:endParaRPr lang="fr-FR" sz="1100" b="1" dirty="0">
              <a:solidFill>
                <a:schemeClr val="tx2"/>
              </a:solidFill>
            </a:endParaRPr>
          </a:p>
        </p:txBody>
      </p:sp>
      <p:sp>
        <p:nvSpPr>
          <p:cNvPr id="8" name="ZoneTexte 7">
            <a:extLst>
              <a:ext uri="{FF2B5EF4-FFF2-40B4-BE49-F238E27FC236}">
                <a16:creationId xmlns:a16="http://schemas.microsoft.com/office/drawing/2014/main" id="{30432583-5DBF-96A7-2822-8FBE07787374}"/>
              </a:ext>
            </a:extLst>
          </p:cNvPr>
          <p:cNvSpPr txBox="1"/>
          <p:nvPr/>
        </p:nvSpPr>
        <p:spPr>
          <a:xfrm>
            <a:off x="223519" y="993116"/>
            <a:ext cx="7554017" cy="4939494"/>
          </a:xfrm>
          <a:prstGeom prst="rect">
            <a:avLst/>
          </a:prstGeom>
          <a:noFill/>
        </p:spPr>
        <p:txBody>
          <a:bodyPr wrap="square">
            <a:spAutoFit/>
          </a:bodyPr>
          <a:lstStyle/>
          <a:p>
            <a:pPr>
              <a:lnSpc>
                <a:spcPct val="115000"/>
              </a:lnSpc>
              <a:spcAft>
                <a:spcPts val="800"/>
              </a:spcAft>
            </a:pPr>
            <a:r>
              <a:rPr lang="fr-FR" sz="2200" b="1" kern="100" dirty="0">
                <a:effectLst/>
                <a:latin typeface="Aptos" panose="020B0004020202020204" pitchFamily="34" charset="0"/>
                <a:ea typeface="Aptos" panose="020B0004020202020204" pitchFamily="34" charset="0"/>
                <a:cs typeface="Times New Roman" panose="02020603050405020304" pitchFamily="18" charset="0"/>
              </a:rPr>
              <a:t>Avantages</a:t>
            </a:r>
            <a:endParaRPr lang="fr-FR" sz="2200" kern="100" dirty="0">
              <a:effectLst/>
              <a:latin typeface="Aptos" panose="020B0004020202020204" pitchFamily="34" charset="0"/>
              <a:ea typeface="Aptos" panose="020B0004020202020204" pitchFamily="34" charset="0"/>
              <a:cs typeface="Times New Roman" panose="02020603050405020304" pitchFamily="18" charset="0"/>
            </a:endParaRPr>
          </a:p>
          <a:p>
            <a:pPr marL="285750" lvl="0" indent="-285750">
              <a:lnSpc>
                <a:spcPct val="115000"/>
              </a:lnSpc>
              <a:spcAft>
                <a:spcPts val="800"/>
              </a:spcAft>
              <a:buFont typeface="Arial" panose="020B0604020202020204" pitchFamily="34" charset="0"/>
              <a:buChar char="•"/>
              <a:tabLst>
                <a:tab pos="457200" algn="l"/>
              </a:tabLst>
            </a:pPr>
            <a:r>
              <a:rPr lang="fr-FR" sz="2000" b="1" kern="100" dirty="0">
                <a:effectLst/>
                <a:latin typeface="Aptos" panose="020B0004020202020204" pitchFamily="34" charset="0"/>
                <a:ea typeface="Aptos" panose="020B0004020202020204" pitchFamily="34" charset="0"/>
                <a:cs typeface="Times New Roman" panose="02020603050405020304" pitchFamily="18" charset="0"/>
              </a:rPr>
              <a:t>Prédictibilité et cohérence absolue</a:t>
            </a:r>
            <a:endParaRPr lang="fr-FR" sz="2000" kern="100" dirty="0">
              <a:effectLst/>
              <a:latin typeface="Aptos" panose="020B0004020202020204" pitchFamily="34" charset="0"/>
              <a:ea typeface="Aptos" panose="020B0004020202020204" pitchFamily="34" charset="0"/>
              <a:cs typeface="Times New Roman" panose="02020603050405020304" pitchFamily="18" charset="0"/>
            </a:endParaRPr>
          </a:p>
          <a:p>
            <a:pPr lvl="0">
              <a:lnSpc>
                <a:spcPct val="115000"/>
              </a:lnSpc>
              <a:spcAft>
                <a:spcPts val="800"/>
              </a:spcAft>
              <a:tabLst>
                <a:tab pos="457200" algn="l"/>
              </a:tabLst>
            </a:pPr>
            <a:r>
              <a:rPr lang="fr-FR" sz="2000" kern="100" dirty="0">
                <a:effectLst/>
                <a:latin typeface="Aptos" panose="020B0004020202020204" pitchFamily="34" charset="0"/>
                <a:ea typeface="Aptos" panose="020B0004020202020204" pitchFamily="34" charset="0"/>
                <a:cs typeface="Times New Roman" panose="02020603050405020304" pitchFamily="18" charset="0"/>
              </a:rPr>
              <a:t>Il n'y a pas de situation où des utilisateurs obtiennent des versions différentes des données. C’est essentiel dans des systèmes critiques où les incohérences sont inacceptables (par exemple, les systèmes financiers).</a:t>
            </a:r>
          </a:p>
          <a:p>
            <a:pPr lvl="0">
              <a:lnSpc>
                <a:spcPct val="115000"/>
              </a:lnSpc>
              <a:spcAft>
                <a:spcPts val="800"/>
              </a:spcAft>
              <a:tabLst>
                <a:tab pos="457200" algn="l"/>
              </a:tabLst>
            </a:pPr>
            <a:endParaRPr lang="fr-FR" sz="2000" kern="100" dirty="0">
              <a:effectLst/>
              <a:latin typeface="Aptos" panose="020B0004020202020204" pitchFamily="34" charset="0"/>
              <a:ea typeface="Aptos" panose="020B0004020202020204" pitchFamily="34" charset="0"/>
              <a:cs typeface="Times New Roman" panose="02020603050405020304" pitchFamily="18" charset="0"/>
            </a:endParaRPr>
          </a:p>
          <a:p>
            <a:pPr marL="285750" lvl="0" indent="-285750">
              <a:lnSpc>
                <a:spcPct val="115000"/>
              </a:lnSpc>
              <a:spcAft>
                <a:spcPts val="800"/>
              </a:spcAft>
              <a:buFont typeface="Arial" panose="020B0604020202020204" pitchFamily="34" charset="0"/>
              <a:buChar char="•"/>
              <a:tabLst>
                <a:tab pos="457200" algn="l"/>
              </a:tabLst>
            </a:pPr>
            <a:r>
              <a:rPr lang="fr-FR" sz="2000" b="1" kern="100" dirty="0">
                <a:effectLst/>
                <a:latin typeface="Aptos" panose="020B0004020202020204" pitchFamily="34" charset="0"/>
                <a:ea typeface="Aptos" panose="020B0004020202020204" pitchFamily="34" charset="0"/>
                <a:cs typeface="Times New Roman" panose="02020603050405020304" pitchFamily="18" charset="0"/>
              </a:rPr>
              <a:t>Simplicité pour les développeurs</a:t>
            </a:r>
            <a:r>
              <a:rPr lang="fr-FR" sz="2000" kern="100" dirty="0">
                <a:effectLst/>
                <a:latin typeface="Aptos" panose="020B0004020202020204" pitchFamily="34" charset="0"/>
                <a:ea typeface="Aptos" panose="020B0004020202020204" pitchFamily="34" charset="0"/>
                <a:cs typeface="Times New Roman" panose="02020603050405020304" pitchFamily="18" charset="0"/>
              </a:rPr>
              <a:t> </a:t>
            </a:r>
          </a:p>
          <a:p>
            <a:pPr lvl="0">
              <a:lnSpc>
                <a:spcPct val="115000"/>
              </a:lnSpc>
              <a:spcAft>
                <a:spcPts val="800"/>
              </a:spcAft>
              <a:tabLst>
                <a:tab pos="457200" algn="l"/>
              </a:tabLst>
            </a:pPr>
            <a:r>
              <a:rPr lang="fr-FR" sz="2000" kern="100" dirty="0">
                <a:effectLst/>
                <a:latin typeface="Aptos" panose="020B0004020202020204" pitchFamily="34" charset="0"/>
                <a:ea typeface="Aptos" panose="020B0004020202020204" pitchFamily="34" charset="0"/>
                <a:cs typeface="Times New Roman" panose="02020603050405020304" pitchFamily="18" charset="0"/>
              </a:rPr>
              <a:t> Les développeurs peuvent concevoir des applications sans se soucier de la gestion de la cohérence des données au niveau applicatif.</a:t>
            </a:r>
          </a:p>
          <a:p>
            <a:pPr lvl="0">
              <a:lnSpc>
                <a:spcPct val="115000"/>
              </a:lnSpc>
              <a:spcAft>
                <a:spcPts val="800"/>
              </a:spcAft>
              <a:tabLst>
                <a:tab pos="457200" algn="l"/>
              </a:tabLst>
            </a:pPr>
            <a:endParaRPr lang="fr-FR" kern="100" dirty="0">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3961743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A84A8-C4E8-D3F7-D9B4-57B2267390B7}"/>
            </a:ext>
          </a:extLst>
        </p:cNvPr>
        <p:cNvGrpSpPr/>
        <p:nvPr/>
      </p:nvGrpSpPr>
      <p:grpSpPr>
        <a:xfrm>
          <a:off x="0" y="0"/>
          <a:ext cx="0" cy="0"/>
          <a:chOff x="0" y="0"/>
          <a:chExt cx="0" cy="0"/>
        </a:xfrm>
      </p:grpSpPr>
      <p:pic>
        <p:nvPicPr>
          <p:cNvPr id="1028" name="Picture 4" descr="Pros and cons concept illustration">
            <a:extLst>
              <a:ext uri="{FF2B5EF4-FFF2-40B4-BE49-F238E27FC236}">
                <a16:creationId xmlns:a16="http://schemas.microsoft.com/office/drawing/2014/main" id="{9813280F-EC6C-C3D9-4364-CCC8467006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16922" y="1272398"/>
            <a:ext cx="4477587" cy="4477587"/>
          </a:xfrm>
          <a:prstGeom prst="rect">
            <a:avLst/>
          </a:prstGeom>
          <a:noFill/>
          <a:extLst>
            <a:ext uri="{909E8E84-426E-40DD-AFC4-6F175D3DCCD1}">
              <a14:hiddenFill xmlns:a14="http://schemas.microsoft.com/office/drawing/2010/main">
                <a:solidFill>
                  <a:srgbClr val="FFFFFF"/>
                </a:solidFill>
              </a14:hiddenFill>
            </a:ext>
          </a:extLst>
        </p:spPr>
      </p:pic>
      <p:sp>
        <p:nvSpPr>
          <p:cNvPr id="4" name="Titre 1">
            <a:extLst>
              <a:ext uri="{FF2B5EF4-FFF2-40B4-BE49-F238E27FC236}">
                <a16:creationId xmlns:a16="http://schemas.microsoft.com/office/drawing/2014/main" id="{D9E47D47-3CB6-A5E2-3FE1-1FA606AB226A}"/>
              </a:ext>
            </a:extLst>
          </p:cNvPr>
          <p:cNvSpPr txBox="1">
            <a:spLocks/>
          </p:cNvSpPr>
          <p:nvPr/>
        </p:nvSpPr>
        <p:spPr>
          <a:xfrm>
            <a:off x="223520" y="284485"/>
            <a:ext cx="7471824" cy="42567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b="1" dirty="0"/>
              <a:t>La cohérence forte : Avantages et inconvénients</a:t>
            </a:r>
          </a:p>
        </p:txBody>
      </p:sp>
      <p:cxnSp>
        <p:nvCxnSpPr>
          <p:cNvPr id="5" name="Connecteur droit 4">
            <a:extLst>
              <a:ext uri="{FF2B5EF4-FFF2-40B4-BE49-F238E27FC236}">
                <a16:creationId xmlns:a16="http://schemas.microsoft.com/office/drawing/2014/main" id="{6551BF88-1C13-D9A8-3C61-A5A1BEF33F74}"/>
              </a:ext>
            </a:extLst>
          </p:cNvPr>
          <p:cNvCxnSpPr>
            <a:cxnSpLocks/>
          </p:cNvCxnSpPr>
          <p:nvPr/>
        </p:nvCxnSpPr>
        <p:spPr>
          <a:xfrm>
            <a:off x="0" y="86754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Sous-titre 2">
            <a:extLst>
              <a:ext uri="{FF2B5EF4-FFF2-40B4-BE49-F238E27FC236}">
                <a16:creationId xmlns:a16="http://schemas.microsoft.com/office/drawing/2014/main" id="{F8479E7F-D3C7-D969-19DD-4527A08884B3}"/>
              </a:ext>
            </a:extLst>
          </p:cNvPr>
          <p:cNvSpPr txBox="1">
            <a:spLocks/>
          </p:cNvSpPr>
          <p:nvPr/>
        </p:nvSpPr>
        <p:spPr>
          <a:xfrm>
            <a:off x="4324350" y="6643878"/>
            <a:ext cx="2890647" cy="2141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100" b="1">
                <a:solidFill>
                  <a:schemeClr val="tx2"/>
                </a:solidFill>
              </a:rPr>
              <a:t>Préparé et Présenté par Daniel  Lawson</a:t>
            </a:r>
            <a:endParaRPr lang="fr-FR" sz="1100" b="1" dirty="0">
              <a:solidFill>
                <a:schemeClr val="tx2"/>
              </a:solidFill>
            </a:endParaRPr>
          </a:p>
        </p:txBody>
      </p:sp>
      <p:sp>
        <p:nvSpPr>
          <p:cNvPr id="8" name="ZoneTexte 7">
            <a:extLst>
              <a:ext uri="{FF2B5EF4-FFF2-40B4-BE49-F238E27FC236}">
                <a16:creationId xmlns:a16="http://schemas.microsoft.com/office/drawing/2014/main" id="{1DC4E469-6ED7-76BD-A516-C0998B243690}"/>
              </a:ext>
            </a:extLst>
          </p:cNvPr>
          <p:cNvSpPr txBox="1"/>
          <p:nvPr/>
        </p:nvSpPr>
        <p:spPr>
          <a:xfrm>
            <a:off x="223519" y="993116"/>
            <a:ext cx="7934162" cy="4973156"/>
          </a:xfrm>
          <a:prstGeom prst="rect">
            <a:avLst/>
          </a:prstGeom>
          <a:noFill/>
        </p:spPr>
        <p:txBody>
          <a:bodyPr wrap="square">
            <a:spAutoFit/>
          </a:bodyPr>
          <a:lstStyle/>
          <a:p>
            <a:pPr>
              <a:lnSpc>
                <a:spcPct val="115000"/>
              </a:lnSpc>
              <a:spcAft>
                <a:spcPts val="800"/>
              </a:spcAft>
            </a:pPr>
            <a:r>
              <a:rPr lang="fr-FR" sz="2200" b="1" kern="100" dirty="0">
                <a:effectLst/>
                <a:latin typeface="Aptos" panose="020B0004020202020204" pitchFamily="34" charset="0"/>
                <a:ea typeface="Aptos" panose="020B0004020202020204" pitchFamily="34" charset="0"/>
                <a:cs typeface="Times New Roman" panose="02020603050405020304" pitchFamily="18" charset="0"/>
              </a:rPr>
              <a:t>Inconvénients</a:t>
            </a:r>
            <a:endParaRPr lang="fr-FR" sz="2200" kern="100" dirty="0">
              <a:effectLst/>
              <a:latin typeface="Aptos" panose="020B0004020202020204" pitchFamily="34" charset="0"/>
              <a:ea typeface="Aptos" panose="020B0004020202020204" pitchFamily="34" charset="0"/>
              <a:cs typeface="Times New Roman" panose="02020603050405020304" pitchFamily="18" charset="0"/>
            </a:endParaRPr>
          </a:p>
          <a:p>
            <a:pPr marL="285750" lvl="0" indent="-285750">
              <a:lnSpc>
                <a:spcPct val="115000"/>
              </a:lnSpc>
              <a:spcAft>
                <a:spcPts val="800"/>
              </a:spcAft>
              <a:buFont typeface="Arial" panose="020B0604020202020204" pitchFamily="34" charset="0"/>
              <a:buChar char="•"/>
              <a:tabLst>
                <a:tab pos="457200" algn="l"/>
              </a:tabLst>
            </a:pPr>
            <a:r>
              <a:rPr lang="fr-FR" sz="2000" b="1" kern="100" dirty="0">
                <a:effectLst/>
                <a:latin typeface="Aptos" panose="020B0004020202020204" pitchFamily="34" charset="0"/>
                <a:ea typeface="Aptos" panose="020B0004020202020204" pitchFamily="34" charset="0"/>
                <a:cs typeface="Times New Roman" panose="02020603050405020304" pitchFamily="18" charset="0"/>
              </a:rPr>
              <a:t>Latence élevée</a:t>
            </a:r>
            <a:endParaRPr lang="fr-FR" sz="2000" b="1" kern="100" dirty="0">
              <a:latin typeface="Aptos" panose="020B0004020202020204" pitchFamily="34" charset="0"/>
              <a:ea typeface="Aptos" panose="020B0004020202020204" pitchFamily="34" charset="0"/>
              <a:cs typeface="Times New Roman" panose="02020603050405020304" pitchFamily="18" charset="0"/>
            </a:endParaRPr>
          </a:p>
          <a:p>
            <a:pPr lvl="0">
              <a:lnSpc>
                <a:spcPct val="115000"/>
              </a:lnSpc>
              <a:spcAft>
                <a:spcPts val="800"/>
              </a:spcAft>
              <a:tabLst>
                <a:tab pos="457200" algn="l"/>
              </a:tabLst>
            </a:pPr>
            <a:r>
              <a:rPr lang="fr-FR" sz="2000" kern="100" dirty="0">
                <a:effectLst/>
                <a:latin typeface="Aptos" panose="020B0004020202020204" pitchFamily="34" charset="0"/>
                <a:ea typeface="Aptos" panose="020B0004020202020204" pitchFamily="34" charset="0"/>
                <a:cs typeface="Times New Roman" panose="02020603050405020304" pitchFamily="18" charset="0"/>
              </a:rPr>
              <a:t>La propagation immédiate des mises à jour à travers plusieurs nœuds impose des temps de synchronisation, ce qui ralentit les réponses du système, en particulier dans les systèmes distribués à grande échelle.</a:t>
            </a:r>
          </a:p>
          <a:p>
            <a:pPr marL="285750" lvl="0" indent="-285750">
              <a:lnSpc>
                <a:spcPct val="115000"/>
              </a:lnSpc>
              <a:spcAft>
                <a:spcPts val="800"/>
              </a:spcAft>
              <a:buFont typeface="Arial" panose="020B0604020202020204" pitchFamily="34" charset="0"/>
              <a:buChar char="•"/>
              <a:tabLst>
                <a:tab pos="457200" algn="l"/>
              </a:tabLst>
            </a:pPr>
            <a:r>
              <a:rPr lang="fr-FR" sz="2000" b="1" kern="100" dirty="0">
                <a:effectLst/>
                <a:latin typeface="Aptos" panose="020B0004020202020204" pitchFamily="34" charset="0"/>
                <a:ea typeface="Aptos" panose="020B0004020202020204" pitchFamily="34" charset="0"/>
                <a:cs typeface="Times New Roman" panose="02020603050405020304" pitchFamily="18" charset="0"/>
              </a:rPr>
              <a:t>Scalabilité réduite</a:t>
            </a:r>
            <a:endParaRPr lang="fr-FR" sz="2000" b="1" kern="100" dirty="0">
              <a:latin typeface="Aptos" panose="020B0004020202020204" pitchFamily="34" charset="0"/>
              <a:ea typeface="Aptos" panose="020B0004020202020204" pitchFamily="34" charset="0"/>
              <a:cs typeface="Times New Roman" panose="02020603050405020304" pitchFamily="18" charset="0"/>
            </a:endParaRPr>
          </a:p>
          <a:p>
            <a:pPr lvl="0">
              <a:lnSpc>
                <a:spcPct val="115000"/>
              </a:lnSpc>
              <a:spcAft>
                <a:spcPts val="800"/>
              </a:spcAft>
              <a:tabLst>
                <a:tab pos="457200" algn="l"/>
              </a:tabLst>
            </a:pPr>
            <a:r>
              <a:rPr lang="fr-FR" sz="2000" kern="100" dirty="0">
                <a:effectLst/>
                <a:latin typeface="Aptos" panose="020B0004020202020204" pitchFamily="34" charset="0"/>
                <a:ea typeface="Aptos" panose="020B0004020202020204" pitchFamily="34" charset="0"/>
                <a:cs typeface="Times New Roman" panose="02020603050405020304" pitchFamily="18" charset="0"/>
              </a:rPr>
              <a:t>Garantir la consistance forte devient de plus en plus difficile à mesure que le nombre de nœuds dans le système augmente, car chaque transaction nécessite une coordination globale.</a:t>
            </a:r>
          </a:p>
          <a:p>
            <a:pPr marL="285750" lvl="0" indent="-285750">
              <a:lnSpc>
                <a:spcPct val="115000"/>
              </a:lnSpc>
              <a:spcAft>
                <a:spcPts val="800"/>
              </a:spcAft>
              <a:buFont typeface="Arial" panose="020B0604020202020204" pitchFamily="34" charset="0"/>
              <a:buChar char="•"/>
              <a:tabLst>
                <a:tab pos="457200" algn="l"/>
              </a:tabLst>
            </a:pPr>
            <a:r>
              <a:rPr lang="fr-FR" sz="2000" b="1" kern="100" dirty="0">
                <a:effectLst/>
                <a:latin typeface="Aptos" panose="020B0004020202020204" pitchFamily="34" charset="0"/>
                <a:ea typeface="Aptos" panose="020B0004020202020204" pitchFamily="34" charset="0"/>
                <a:cs typeface="Times New Roman" panose="02020603050405020304" pitchFamily="18" charset="0"/>
              </a:rPr>
              <a:t>Pannes plus fréquentes</a:t>
            </a:r>
            <a:endParaRPr lang="fr-FR" sz="2000" b="1" kern="100" dirty="0">
              <a:latin typeface="Aptos" panose="020B0004020202020204" pitchFamily="34" charset="0"/>
              <a:ea typeface="Aptos" panose="020B0004020202020204" pitchFamily="34" charset="0"/>
              <a:cs typeface="Times New Roman" panose="02020603050405020304" pitchFamily="18" charset="0"/>
            </a:endParaRPr>
          </a:p>
          <a:p>
            <a:pPr lvl="0">
              <a:lnSpc>
                <a:spcPct val="115000"/>
              </a:lnSpc>
              <a:spcAft>
                <a:spcPts val="800"/>
              </a:spcAft>
              <a:tabLst>
                <a:tab pos="457200" algn="l"/>
              </a:tabLst>
            </a:pPr>
            <a:r>
              <a:rPr lang="fr-FR" sz="2000" kern="100" dirty="0">
                <a:effectLst/>
                <a:latin typeface="Aptos" panose="020B0004020202020204" pitchFamily="34" charset="0"/>
                <a:ea typeface="Aptos" panose="020B0004020202020204" pitchFamily="34" charset="0"/>
                <a:cs typeface="Times New Roman" panose="02020603050405020304" pitchFamily="18" charset="0"/>
              </a:rPr>
              <a:t>En cas de panne réseau ou de nœud, la consistance forte peut devenir difficile à maintenir, rendant le système moins tolérant aux pannes.</a:t>
            </a:r>
          </a:p>
        </p:txBody>
      </p:sp>
    </p:spTree>
    <p:extLst>
      <p:ext uri="{BB962C8B-B14F-4D97-AF65-F5344CB8AC3E}">
        <p14:creationId xmlns:p14="http://schemas.microsoft.com/office/powerpoint/2010/main" val="1022882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DB0BC-6E28-9872-B275-11EC6A20934A}"/>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ED2BD574-5F90-01FC-258C-8C1B823EFCC6}"/>
              </a:ext>
            </a:extLst>
          </p:cNvPr>
          <p:cNvSpPr>
            <a:spLocks noGrp="1"/>
          </p:cNvSpPr>
          <p:nvPr>
            <p:ph idx="1"/>
          </p:nvPr>
        </p:nvSpPr>
        <p:spPr>
          <a:xfrm>
            <a:off x="223520" y="1287145"/>
            <a:ext cx="11744960" cy="4615816"/>
          </a:xfrm>
        </p:spPr>
        <p:txBody>
          <a:bodyPr>
            <a:noAutofit/>
          </a:bodyPr>
          <a:lstStyle/>
          <a:p>
            <a:pPr marL="0" indent="0">
              <a:lnSpc>
                <a:spcPct val="150000"/>
              </a:lnSpc>
              <a:buNone/>
            </a:pPr>
            <a:endParaRPr lang="fr-FR" sz="2000" dirty="0"/>
          </a:p>
          <a:p>
            <a:pPr marL="0" indent="0">
              <a:lnSpc>
                <a:spcPct val="150000"/>
              </a:lnSpc>
              <a:buNone/>
            </a:pPr>
            <a:endParaRPr lang="fr-FR" sz="2000" b="1" dirty="0"/>
          </a:p>
        </p:txBody>
      </p:sp>
      <p:sp>
        <p:nvSpPr>
          <p:cNvPr id="4" name="Titre 1">
            <a:extLst>
              <a:ext uri="{FF2B5EF4-FFF2-40B4-BE49-F238E27FC236}">
                <a16:creationId xmlns:a16="http://schemas.microsoft.com/office/drawing/2014/main" id="{81410C58-D5E5-D784-221F-52EF9E29E278}"/>
              </a:ext>
            </a:extLst>
          </p:cNvPr>
          <p:cNvSpPr txBox="1">
            <a:spLocks/>
          </p:cNvSpPr>
          <p:nvPr/>
        </p:nvSpPr>
        <p:spPr>
          <a:xfrm>
            <a:off x="223520" y="284485"/>
            <a:ext cx="4100830" cy="42567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b="1" dirty="0"/>
              <a:t>La cohérence éventuelle</a:t>
            </a:r>
          </a:p>
        </p:txBody>
      </p:sp>
      <p:cxnSp>
        <p:nvCxnSpPr>
          <p:cNvPr id="5" name="Connecteur droit 4">
            <a:extLst>
              <a:ext uri="{FF2B5EF4-FFF2-40B4-BE49-F238E27FC236}">
                <a16:creationId xmlns:a16="http://schemas.microsoft.com/office/drawing/2014/main" id="{16D6B185-C20C-4131-95A8-D9ACE1EC5181}"/>
              </a:ext>
            </a:extLst>
          </p:cNvPr>
          <p:cNvCxnSpPr>
            <a:cxnSpLocks/>
          </p:cNvCxnSpPr>
          <p:nvPr/>
        </p:nvCxnSpPr>
        <p:spPr>
          <a:xfrm>
            <a:off x="0" y="86754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Sous-titre 2">
            <a:extLst>
              <a:ext uri="{FF2B5EF4-FFF2-40B4-BE49-F238E27FC236}">
                <a16:creationId xmlns:a16="http://schemas.microsoft.com/office/drawing/2014/main" id="{A1B70D41-D03B-F73C-10E4-025123C40ACD}"/>
              </a:ext>
            </a:extLst>
          </p:cNvPr>
          <p:cNvSpPr txBox="1">
            <a:spLocks/>
          </p:cNvSpPr>
          <p:nvPr/>
        </p:nvSpPr>
        <p:spPr>
          <a:xfrm>
            <a:off x="4324350" y="6643878"/>
            <a:ext cx="2890647" cy="2141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100" b="1">
                <a:solidFill>
                  <a:schemeClr val="tx2"/>
                </a:solidFill>
              </a:rPr>
              <a:t>Préparé et Présenté par Daniel  Lawson</a:t>
            </a:r>
            <a:endParaRPr lang="fr-FR" sz="1100" b="1" dirty="0">
              <a:solidFill>
                <a:schemeClr val="tx2"/>
              </a:solidFill>
            </a:endParaRPr>
          </a:p>
        </p:txBody>
      </p:sp>
      <p:sp>
        <p:nvSpPr>
          <p:cNvPr id="8" name="ZoneTexte 7">
            <a:extLst>
              <a:ext uri="{FF2B5EF4-FFF2-40B4-BE49-F238E27FC236}">
                <a16:creationId xmlns:a16="http://schemas.microsoft.com/office/drawing/2014/main" id="{D67B4C24-88DD-79FB-8825-A23DE9F6B94A}"/>
              </a:ext>
            </a:extLst>
          </p:cNvPr>
          <p:cNvSpPr txBox="1"/>
          <p:nvPr/>
        </p:nvSpPr>
        <p:spPr>
          <a:xfrm>
            <a:off x="368218" y="1129754"/>
            <a:ext cx="11498662" cy="4441922"/>
          </a:xfrm>
          <a:prstGeom prst="rect">
            <a:avLst/>
          </a:prstGeom>
          <a:noFill/>
        </p:spPr>
        <p:txBody>
          <a:bodyPr wrap="square">
            <a:spAutoFit/>
          </a:bodyPr>
          <a:lstStyle/>
          <a:p>
            <a:pPr>
              <a:lnSpc>
                <a:spcPct val="115000"/>
              </a:lnSpc>
              <a:spcAft>
                <a:spcPts val="800"/>
              </a:spcAft>
            </a:pPr>
            <a:r>
              <a:rPr lang="fr-FR" sz="1800" kern="100" dirty="0">
                <a:effectLst/>
                <a:latin typeface="Aptos" panose="020B0004020202020204" pitchFamily="34" charset="0"/>
                <a:ea typeface="Aptos" panose="020B0004020202020204" pitchFamily="34" charset="0"/>
                <a:cs typeface="Times New Roman" panose="02020603050405020304" pitchFamily="18" charset="0"/>
              </a:rPr>
              <a:t>La </a:t>
            </a:r>
            <a:r>
              <a:rPr lang="fr-FR" sz="1800" b="1" kern="100" dirty="0">
                <a:effectLst/>
                <a:latin typeface="Aptos" panose="020B0004020202020204" pitchFamily="34" charset="0"/>
                <a:ea typeface="Aptos" panose="020B0004020202020204" pitchFamily="34" charset="0"/>
                <a:cs typeface="Times New Roman" panose="02020603050405020304" pitchFamily="18" charset="0"/>
              </a:rPr>
              <a:t>cohérence éventuelle</a:t>
            </a:r>
            <a:r>
              <a:rPr lang="fr-FR" sz="1800" kern="100" dirty="0">
                <a:effectLst/>
                <a:latin typeface="Aptos" panose="020B0004020202020204" pitchFamily="34" charset="0"/>
                <a:ea typeface="Aptos" panose="020B0004020202020204" pitchFamily="34" charset="0"/>
                <a:cs typeface="Times New Roman" panose="02020603050405020304" pitchFamily="18" charset="0"/>
              </a:rPr>
              <a:t> (ou </a:t>
            </a:r>
            <a:r>
              <a:rPr lang="fr-FR" sz="1800" b="1" kern="100" dirty="0">
                <a:effectLst/>
                <a:latin typeface="Aptos" panose="020B0004020202020204" pitchFamily="34" charset="0"/>
                <a:ea typeface="Aptos" panose="020B0004020202020204" pitchFamily="34" charset="0"/>
                <a:cs typeface="Times New Roman" panose="02020603050405020304" pitchFamily="18" charset="0"/>
              </a:rPr>
              <a:t>cohérence finale</a:t>
            </a:r>
            <a:r>
              <a:rPr lang="fr-FR" sz="1800" kern="100" dirty="0">
                <a:effectLst/>
                <a:latin typeface="Aptos" panose="020B0004020202020204" pitchFamily="34" charset="0"/>
                <a:ea typeface="Aptos" panose="020B0004020202020204" pitchFamily="34" charset="0"/>
                <a:cs typeface="Times New Roman" panose="02020603050405020304" pitchFamily="18" charset="0"/>
              </a:rPr>
              <a:t>) garantit </a:t>
            </a:r>
            <a:r>
              <a:rPr lang="fr-FR" sz="1800" b="1" kern="100" dirty="0">
                <a:effectLst/>
                <a:latin typeface="Aptos" panose="020B0004020202020204" pitchFamily="34" charset="0"/>
                <a:ea typeface="Aptos" panose="020B0004020202020204" pitchFamily="34" charset="0"/>
                <a:cs typeface="Times New Roman" panose="02020603050405020304" pitchFamily="18" charset="0"/>
              </a:rPr>
              <a:t>qu’après un certain délai</a:t>
            </a:r>
            <a:r>
              <a:rPr lang="fr-FR" sz="1800" kern="100" dirty="0">
                <a:effectLst/>
                <a:latin typeface="Aptos" panose="020B0004020202020204" pitchFamily="34" charset="0"/>
                <a:ea typeface="Aptos" panose="020B0004020202020204" pitchFamily="34" charset="0"/>
                <a:cs typeface="Times New Roman" panose="02020603050405020304" pitchFamily="18" charset="0"/>
              </a:rPr>
              <a:t>, toutes les répliques d’une donnée finiront par converger vers le même état. En d’autres termes, les mises à jour ne sont pas immédiatement propagées à tous les nœuds, mais </a:t>
            </a:r>
            <a:r>
              <a:rPr lang="fr-FR" sz="1800" b="1" kern="100" dirty="0">
                <a:effectLst/>
                <a:latin typeface="Aptos" panose="020B0004020202020204" pitchFamily="34" charset="0"/>
                <a:ea typeface="Aptos" panose="020B0004020202020204" pitchFamily="34" charset="0"/>
                <a:cs typeface="Times New Roman" panose="02020603050405020304" pitchFamily="18" charset="0"/>
              </a:rPr>
              <a:t>éventuellement</a:t>
            </a:r>
            <a:r>
              <a:rPr lang="fr-FR" sz="1800" kern="100" dirty="0">
                <a:effectLst/>
                <a:latin typeface="Aptos" panose="020B0004020202020204" pitchFamily="34" charset="0"/>
                <a:ea typeface="Aptos" panose="020B0004020202020204" pitchFamily="34" charset="0"/>
                <a:cs typeface="Times New Roman" panose="02020603050405020304" pitchFamily="18" charset="0"/>
              </a:rPr>
              <a:t> toutes les copies des données deviendront cohérentes.</a:t>
            </a:r>
          </a:p>
          <a:p>
            <a:pPr marL="0" indent="0">
              <a:lnSpc>
                <a:spcPct val="150000"/>
              </a:lnSpc>
              <a:buNone/>
            </a:pPr>
            <a:endParaRPr lang="fr-FR" dirty="0"/>
          </a:p>
          <a:p>
            <a:pPr>
              <a:lnSpc>
                <a:spcPct val="115000"/>
              </a:lnSpc>
              <a:spcAft>
                <a:spcPts val="800"/>
              </a:spcAft>
            </a:pPr>
            <a:r>
              <a:rPr lang="fr-FR" sz="2000" b="1" kern="100" dirty="0">
                <a:effectLst/>
                <a:latin typeface="Aptos" panose="020B0004020202020204" pitchFamily="34" charset="0"/>
                <a:ea typeface="Aptos" panose="020B0004020202020204" pitchFamily="34" charset="0"/>
                <a:cs typeface="Times New Roman" panose="02020603050405020304" pitchFamily="18" charset="0"/>
              </a:rPr>
              <a:t>Caractéristiques</a:t>
            </a:r>
            <a:endParaRPr lang="fr-FR" sz="20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fr-FR" sz="1800" b="1" kern="100" dirty="0">
                <a:effectLst/>
                <a:latin typeface="Aptos" panose="020B0004020202020204" pitchFamily="34" charset="0"/>
                <a:ea typeface="Aptos" panose="020B0004020202020204" pitchFamily="34" charset="0"/>
                <a:cs typeface="Times New Roman" panose="02020603050405020304" pitchFamily="18" charset="0"/>
              </a:rPr>
              <a:t>Propagation asynchrone</a:t>
            </a:r>
            <a:r>
              <a:rPr lang="fr-FR" sz="1800" kern="100" dirty="0">
                <a:effectLst/>
                <a:latin typeface="Aptos" panose="020B0004020202020204" pitchFamily="34" charset="0"/>
                <a:ea typeface="Aptos" panose="020B0004020202020204" pitchFamily="34" charset="0"/>
                <a:cs typeface="Times New Roman" panose="02020603050405020304" pitchFamily="18" charset="0"/>
              </a:rPr>
              <a:t> : Les mises à jour de données sont envoyées aux nœuds de manière asynchrone. Immédiatement après une mise à jour, différents nœuds peuvent avoir des versions différentes des données, mais après un certain temps (non déterminé), tous les nœuds seront synchronisés.</a:t>
            </a:r>
          </a:p>
          <a:p>
            <a:pPr marL="342900" lvl="0" indent="-342900">
              <a:lnSpc>
                <a:spcPct val="115000"/>
              </a:lnSpc>
              <a:spcAft>
                <a:spcPts val="800"/>
              </a:spcAft>
              <a:buSzPts val="1000"/>
              <a:buFont typeface="Symbol" panose="05050102010706020507" pitchFamily="18" charset="2"/>
              <a:buChar char=""/>
              <a:tabLst>
                <a:tab pos="457200" algn="l"/>
              </a:tabLst>
            </a:pPr>
            <a:r>
              <a:rPr lang="fr-FR" sz="1800" b="1" kern="100" dirty="0">
                <a:effectLst/>
                <a:latin typeface="Aptos" panose="020B0004020202020204" pitchFamily="34" charset="0"/>
                <a:ea typeface="Aptos" panose="020B0004020202020204" pitchFamily="34" charset="0"/>
                <a:cs typeface="Times New Roman" panose="02020603050405020304" pitchFamily="18" charset="0"/>
              </a:rPr>
              <a:t>Tolérance aux pannes</a:t>
            </a:r>
            <a:r>
              <a:rPr lang="fr-FR" sz="1800" kern="100" dirty="0">
                <a:effectLst/>
                <a:latin typeface="Aptos" panose="020B0004020202020204" pitchFamily="34" charset="0"/>
                <a:ea typeface="Aptos" panose="020B0004020202020204" pitchFamily="34" charset="0"/>
                <a:cs typeface="Times New Roman" panose="02020603050405020304" pitchFamily="18" charset="0"/>
              </a:rPr>
              <a:t> : Ce modèle est plus résilient aux pannes réseau ou de nœud, car il n’exige pas une synchronisation immédiate.</a:t>
            </a:r>
          </a:p>
          <a:p>
            <a:pPr marL="342900" lvl="0" indent="-342900">
              <a:lnSpc>
                <a:spcPct val="115000"/>
              </a:lnSpc>
              <a:spcAft>
                <a:spcPts val="800"/>
              </a:spcAft>
              <a:buSzPts val="1000"/>
              <a:buFont typeface="Symbol" panose="05050102010706020507" pitchFamily="18" charset="2"/>
              <a:buChar char=""/>
              <a:tabLst>
                <a:tab pos="457200" algn="l"/>
              </a:tabLst>
            </a:pPr>
            <a:r>
              <a:rPr lang="fr-FR" sz="1800" b="1" kern="100" dirty="0">
                <a:effectLst/>
                <a:latin typeface="Aptos" panose="020B0004020202020204" pitchFamily="34" charset="0"/>
                <a:ea typeface="Aptos" panose="020B0004020202020204" pitchFamily="34" charset="0"/>
                <a:cs typeface="Times New Roman" panose="02020603050405020304" pitchFamily="18" charset="0"/>
              </a:rPr>
              <a:t>Latence faible</a:t>
            </a:r>
            <a:r>
              <a:rPr lang="fr-FR" sz="1800" kern="100" dirty="0">
                <a:effectLst/>
                <a:latin typeface="Aptos" panose="020B0004020202020204" pitchFamily="34" charset="0"/>
                <a:ea typeface="Aptos" panose="020B0004020202020204" pitchFamily="34" charset="0"/>
                <a:cs typeface="Times New Roman" panose="02020603050405020304" pitchFamily="18" charset="0"/>
              </a:rPr>
              <a:t> : Puisqu'il n'y a pas de synchronisation immédiate nécessaire, la réponse des requêtes est beaucoup plus rapide.</a:t>
            </a:r>
          </a:p>
        </p:txBody>
      </p:sp>
    </p:spTree>
    <p:extLst>
      <p:ext uri="{BB962C8B-B14F-4D97-AF65-F5344CB8AC3E}">
        <p14:creationId xmlns:p14="http://schemas.microsoft.com/office/powerpoint/2010/main" val="35960093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2755E-47F4-CD9B-BFC8-A5DF769FE6BB}"/>
            </a:ext>
          </a:extLst>
        </p:cNvPr>
        <p:cNvGrpSpPr/>
        <p:nvPr/>
      </p:nvGrpSpPr>
      <p:grpSpPr>
        <a:xfrm>
          <a:off x="0" y="0"/>
          <a:ext cx="0" cy="0"/>
          <a:chOff x="0" y="0"/>
          <a:chExt cx="0" cy="0"/>
        </a:xfrm>
      </p:grpSpPr>
      <p:pic>
        <p:nvPicPr>
          <p:cNvPr id="2050" name="Picture 2" descr="Pros and cons concept illustration">
            <a:extLst>
              <a:ext uri="{FF2B5EF4-FFF2-40B4-BE49-F238E27FC236}">
                <a16:creationId xmlns:a16="http://schemas.microsoft.com/office/drawing/2014/main" id="{97E207A5-B865-44EC-63B0-8BEDF79643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88188" y="1274003"/>
            <a:ext cx="4607235" cy="4607235"/>
          </a:xfrm>
          <a:prstGeom prst="rect">
            <a:avLst/>
          </a:prstGeom>
          <a:noFill/>
          <a:extLst>
            <a:ext uri="{909E8E84-426E-40DD-AFC4-6F175D3DCCD1}">
              <a14:hiddenFill xmlns:a14="http://schemas.microsoft.com/office/drawing/2010/main">
                <a:solidFill>
                  <a:srgbClr val="FFFFFF"/>
                </a:solidFill>
              </a14:hiddenFill>
            </a:ext>
          </a:extLst>
        </p:spPr>
      </p:pic>
      <p:sp>
        <p:nvSpPr>
          <p:cNvPr id="4" name="Titre 1">
            <a:extLst>
              <a:ext uri="{FF2B5EF4-FFF2-40B4-BE49-F238E27FC236}">
                <a16:creationId xmlns:a16="http://schemas.microsoft.com/office/drawing/2014/main" id="{B73D9DD0-D23A-BC99-DC8B-99B13EA29DCD}"/>
              </a:ext>
            </a:extLst>
          </p:cNvPr>
          <p:cNvSpPr txBox="1">
            <a:spLocks/>
          </p:cNvSpPr>
          <p:nvPr/>
        </p:nvSpPr>
        <p:spPr>
          <a:xfrm>
            <a:off x="223520" y="284485"/>
            <a:ext cx="8530062" cy="42567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b="1" dirty="0"/>
              <a:t>La cohérence éventuelle : Avantages et inconvénients</a:t>
            </a:r>
          </a:p>
        </p:txBody>
      </p:sp>
      <p:cxnSp>
        <p:nvCxnSpPr>
          <p:cNvPr id="5" name="Connecteur droit 4">
            <a:extLst>
              <a:ext uri="{FF2B5EF4-FFF2-40B4-BE49-F238E27FC236}">
                <a16:creationId xmlns:a16="http://schemas.microsoft.com/office/drawing/2014/main" id="{6BEE5573-4E03-EA31-D8B6-0BAA75E4E1EF}"/>
              </a:ext>
            </a:extLst>
          </p:cNvPr>
          <p:cNvCxnSpPr>
            <a:cxnSpLocks/>
          </p:cNvCxnSpPr>
          <p:nvPr/>
        </p:nvCxnSpPr>
        <p:spPr>
          <a:xfrm>
            <a:off x="0" y="86754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Sous-titre 2">
            <a:extLst>
              <a:ext uri="{FF2B5EF4-FFF2-40B4-BE49-F238E27FC236}">
                <a16:creationId xmlns:a16="http://schemas.microsoft.com/office/drawing/2014/main" id="{3C07E602-42B4-F711-69D5-70052EC7FCB3}"/>
              </a:ext>
            </a:extLst>
          </p:cNvPr>
          <p:cNvSpPr txBox="1">
            <a:spLocks/>
          </p:cNvSpPr>
          <p:nvPr/>
        </p:nvSpPr>
        <p:spPr>
          <a:xfrm>
            <a:off x="4324350" y="6643878"/>
            <a:ext cx="2890647" cy="2141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100" b="1">
                <a:solidFill>
                  <a:schemeClr val="tx2"/>
                </a:solidFill>
              </a:rPr>
              <a:t>Préparé et Présenté par Daniel  Lawson</a:t>
            </a:r>
            <a:endParaRPr lang="fr-FR" sz="1100" b="1" dirty="0">
              <a:solidFill>
                <a:schemeClr val="tx2"/>
              </a:solidFill>
            </a:endParaRPr>
          </a:p>
        </p:txBody>
      </p:sp>
      <p:sp>
        <p:nvSpPr>
          <p:cNvPr id="8" name="ZoneTexte 7">
            <a:extLst>
              <a:ext uri="{FF2B5EF4-FFF2-40B4-BE49-F238E27FC236}">
                <a16:creationId xmlns:a16="http://schemas.microsoft.com/office/drawing/2014/main" id="{F05854BA-BC44-01A9-02A3-36B57D690CAB}"/>
              </a:ext>
            </a:extLst>
          </p:cNvPr>
          <p:cNvSpPr txBox="1"/>
          <p:nvPr/>
        </p:nvSpPr>
        <p:spPr>
          <a:xfrm>
            <a:off x="223519" y="993116"/>
            <a:ext cx="7554017" cy="5396029"/>
          </a:xfrm>
          <a:prstGeom prst="rect">
            <a:avLst/>
          </a:prstGeom>
          <a:noFill/>
        </p:spPr>
        <p:txBody>
          <a:bodyPr wrap="square">
            <a:spAutoFit/>
          </a:bodyPr>
          <a:lstStyle/>
          <a:p>
            <a:pPr>
              <a:lnSpc>
                <a:spcPct val="115000"/>
              </a:lnSpc>
              <a:spcAft>
                <a:spcPts val="800"/>
              </a:spcAft>
            </a:pPr>
            <a:r>
              <a:rPr lang="fr-FR" sz="2200" b="1" kern="100" dirty="0">
                <a:effectLst/>
                <a:latin typeface="Aptos" panose="020B0004020202020204" pitchFamily="34" charset="0"/>
                <a:ea typeface="Aptos" panose="020B0004020202020204" pitchFamily="34" charset="0"/>
                <a:cs typeface="Times New Roman" panose="02020603050405020304" pitchFamily="18" charset="0"/>
              </a:rPr>
              <a:t>Avantages</a:t>
            </a:r>
            <a:endParaRPr lang="fr-FR" sz="2200" kern="100" dirty="0">
              <a:effectLst/>
              <a:latin typeface="Aptos" panose="020B0004020202020204" pitchFamily="34" charset="0"/>
              <a:ea typeface="Aptos" panose="020B0004020202020204" pitchFamily="34" charset="0"/>
              <a:cs typeface="Times New Roman" panose="02020603050405020304" pitchFamily="18" charset="0"/>
            </a:endParaRPr>
          </a:p>
          <a:p>
            <a:pPr marL="285750" lvl="0" indent="-285750">
              <a:lnSpc>
                <a:spcPct val="115000"/>
              </a:lnSpc>
              <a:spcAft>
                <a:spcPts val="800"/>
              </a:spcAft>
              <a:buFont typeface="Arial" panose="020B0604020202020204" pitchFamily="34" charset="0"/>
              <a:buChar char="•"/>
              <a:tabLst>
                <a:tab pos="457200" algn="l"/>
              </a:tabLst>
            </a:pPr>
            <a:r>
              <a:rPr lang="fr-FR" sz="2000" b="1" kern="100" dirty="0">
                <a:effectLst/>
                <a:latin typeface="Aptos" panose="020B0004020202020204" pitchFamily="34" charset="0"/>
                <a:ea typeface="Aptos" panose="020B0004020202020204" pitchFamily="34" charset="0"/>
                <a:cs typeface="Times New Roman" panose="02020603050405020304" pitchFamily="18" charset="0"/>
              </a:rPr>
              <a:t>Haute disponibilité et tolérance aux pannes</a:t>
            </a:r>
            <a:r>
              <a:rPr lang="fr-FR" sz="2000" kern="100" dirty="0">
                <a:effectLst/>
                <a:latin typeface="Aptos" panose="020B0004020202020204" pitchFamily="34" charset="0"/>
                <a:ea typeface="Aptos" panose="020B0004020202020204" pitchFamily="34" charset="0"/>
                <a:cs typeface="Times New Roman" panose="02020603050405020304" pitchFamily="18" charset="0"/>
              </a:rPr>
              <a:t> </a:t>
            </a:r>
          </a:p>
          <a:p>
            <a:pPr lvl="0">
              <a:lnSpc>
                <a:spcPct val="115000"/>
              </a:lnSpc>
              <a:spcAft>
                <a:spcPts val="800"/>
              </a:spcAft>
              <a:tabLst>
                <a:tab pos="457200" algn="l"/>
              </a:tabLst>
            </a:pPr>
            <a:r>
              <a:rPr lang="fr-FR" sz="2000" kern="100" dirty="0">
                <a:effectLst/>
                <a:latin typeface="Aptos" panose="020B0004020202020204" pitchFamily="34" charset="0"/>
                <a:ea typeface="Aptos" panose="020B0004020202020204" pitchFamily="34" charset="0"/>
                <a:cs typeface="Times New Roman" panose="02020603050405020304" pitchFamily="18" charset="0"/>
              </a:rPr>
              <a:t>La consistance éventuelle favorise la disponibilité, même en cas de panne de nœud ou de réseau, car les lectures peuvent se produire même si certaines répliques ne sont pas à jour.</a:t>
            </a:r>
          </a:p>
          <a:p>
            <a:pPr marL="285750" lvl="0" indent="-285750">
              <a:lnSpc>
                <a:spcPct val="115000"/>
              </a:lnSpc>
              <a:spcAft>
                <a:spcPts val="800"/>
              </a:spcAft>
              <a:buFont typeface="Arial" panose="020B0604020202020204" pitchFamily="34" charset="0"/>
              <a:buChar char="•"/>
              <a:tabLst>
                <a:tab pos="457200" algn="l"/>
              </a:tabLst>
            </a:pPr>
            <a:r>
              <a:rPr lang="fr-FR" sz="2000" b="1" kern="100" dirty="0">
                <a:effectLst/>
                <a:latin typeface="Aptos" panose="020B0004020202020204" pitchFamily="34" charset="0"/>
                <a:ea typeface="Aptos" panose="020B0004020202020204" pitchFamily="34" charset="0"/>
                <a:cs typeface="Times New Roman" panose="02020603050405020304" pitchFamily="18" charset="0"/>
              </a:rPr>
              <a:t>Scalabilité</a:t>
            </a:r>
            <a:r>
              <a:rPr lang="fr-FR" sz="2000" kern="100" dirty="0">
                <a:effectLst/>
                <a:latin typeface="Aptos" panose="020B0004020202020204" pitchFamily="34" charset="0"/>
                <a:ea typeface="Aptos" panose="020B0004020202020204" pitchFamily="34" charset="0"/>
                <a:cs typeface="Times New Roman" panose="02020603050405020304" pitchFamily="18" charset="0"/>
              </a:rPr>
              <a:t> :</a:t>
            </a:r>
          </a:p>
          <a:p>
            <a:pPr lvl="0">
              <a:lnSpc>
                <a:spcPct val="115000"/>
              </a:lnSpc>
              <a:spcAft>
                <a:spcPts val="800"/>
              </a:spcAft>
              <a:tabLst>
                <a:tab pos="457200" algn="l"/>
              </a:tabLst>
            </a:pPr>
            <a:r>
              <a:rPr lang="fr-FR" sz="2000" kern="100" dirty="0">
                <a:effectLst/>
                <a:latin typeface="Aptos" panose="020B0004020202020204" pitchFamily="34" charset="0"/>
                <a:ea typeface="Aptos" panose="020B0004020202020204" pitchFamily="34" charset="0"/>
                <a:cs typeface="Times New Roman" panose="02020603050405020304" pitchFamily="18" charset="0"/>
              </a:rPr>
              <a:t>Ce modèle est bien adapté aux systèmes distribués de grande taille (par exemple, les systèmes basés sur le </a:t>
            </a:r>
            <a:r>
              <a:rPr lang="fr-FR" sz="2000" b="1" kern="100" dirty="0">
                <a:effectLst/>
                <a:latin typeface="Aptos" panose="020B0004020202020204" pitchFamily="34" charset="0"/>
                <a:ea typeface="Aptos" panose="020B0004020202020204" pitchFamily="34" charset="0"/>
                <a:cs typeface="Times New Roman" panose="02020603050405020304" pitchFamily="18" charset="0"/>
              </a:rPr>
              <a:t>cloud</a:t>
            </a:r>
            <a:r>
              <a:rPr lang="fr-FR" sz="2000" kern="100" dirty="0">
                <a:effectLst/>
                <a:latin typeface="Aptos" panose="020B0004020202020204" pitchFamily="34" charset="0"/>
                <a:ea typeface="Aptos" panose="020B0004020202020204" pitchFamily="34" charset="0"/>
                <a:cs typeface="Times New Roman" panose="02020603050405020304" pitchFamily="18" charset="0"/>
              </a:rPr>
              <a:t>), car il réduit la nécessité de coordination immédiate entre les nœuds.</a:t>
            </a:r>
            <a:endParaRPr lang="fr-FR" sz="2000" kern="100" dirty="0">
              <a:latin typeface="Aptos" panose="020B0004020202020204" pitchFamily="34" charset="0"/>
              <a:ea typeface="Aptos" panose="020B0004020202020204" pitchFamily="34" charset="0"/>
              <a:cs typeface="Times New Roman" panose="02020603050405020304" pitchFamily="18" charset="0"/>
            </a:endParaRPr>
          </a:p>
          <a:p>
            <a:pPr marL="285750" lvl="0" indent="-285750">
              <a:lnSpc>
                <a:spcPct val="115000"/>
              </a:lnSpc>
              <a:spcAft>
                <a:spcPts val="800"/>
              </a:spcAft>
              <a:buFont typeface="Arial" panose="020B0604020202020204" pitchFamily="34" charset="0"/>
              <a:buChar char="•"/>
              <a:tabLst>
                <a:tab pos="457200" algn="l"/>
              </a:tabLst>
            </a:pPr>
            <a:r>
              <a:rPr lang="fr-FR" sz="2000" b="1" kern="100" dirty="0">
                <a:effectLst/>
                <a:latin typeface="Aptos" panose="020B0004020202020204" pitchFamily="34" charset="0"/>
                <a:ea typeface="Aptos" panose="020B0004020202020204" pitchFamily="34" charset="0"/>
                <a:cs typeface="Times New Roman" panose="02020603050405020304" pitchFamily="18" charset="0"/>
              </a:rPr>
              <a:t>Faible latence</a:t>
            </a:r>
            <a:endParaRPr lang="fr-FR" sz="2000" b="1" kern="100" dirty="0">
              <a:latin typeface="Aptos" panose="020B0004020202020204" pitchFamily="34" charset="0"/>
              <a:ea typeface="Aptos" panose="020B0004020202020204" pitchFamily="34" charset="0"/>
              <a:cs typeface="Times New Roman" panose="02020603050405020304" pitchFamily="18" charset="0"/>
            </a:endParaRPr>
          </a:p>
          <a:p>
            <a:pPr lvl="0">
              <a:lnSpc>
                <a:spcPct val="115000"/>
              </a:lnSpc>
              <a:spcAft>
                <a:spcPts val="800"/>
              </a:spcAft>
              <a:tabLst>
                <a:tab pos="457200" algn="l"/>
              </a:tabLst>
            </a:pPr>
            <a:r>
              <a:rPr lang="fr-FR" sz="2000" kern="100" dirty="0">
                <a:effectLst/>
                <a:latin typeface="Aptos" panose="020B0004020202020204" pitchFamily="34" charset="0"/>
                <a:ea typeface="Aptos" panose="020B0004020202020204" pitchFamily="34" charset="0"/>
                <a:cs typeface="Times New Roman" panose="02020603050405020304" pitchFamily="18" charset="0"/>
              </a:rPr>
              <a:t>Les systèmes peuvent répondre rapidement aux requêtes de lecture, sans attendre que toutes les répliques soient mises à jour.</a:t>
            </a:r>
          </a:p>
          <a:p>
            <a:pPr lvl="0">
              <a:lnSpc>
                <a:spcPct val="115000"/>
              </a:lnSpc>
              <a:spcAft>
                <a:spcPts val="800"/>
              </a:spcAft>
              <a:tabLst>
                <a:tab pos="457200" algn="l"/>
              </a:tabLst>
            </a:pPr>
            <a:endParaRPr lang="fr-FR" kern="100" dirty="0">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7209229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713E7-FD81-3D0B-D6EF-0BCCA9009574}"/>
            </a:ext>
          </a:extLst>
        </p:cNvPr>
        <p:cNvGrpSpPr/>
        <p:nvPr/>
      </p:nvGrpSpPr>
      <p:grpSpPr>
        <a:xfrm>
          <a:off x="0" y="0"/>
          <a:ext cx="0" cy="0"/>
          <a:chOff x="0" y="0"/>
          <a:chExt cx="0" cy="0"/>
        </a:xfrm>
      </p:grpSpPr>
      <p:pic>
        <p:nvPicPr>
          <p:cNvPr id="2050" name="Picture 2" descr="Pros and cons concept illustration">
            <a:extLst>
              <a:ext uri="{FF2B5EF4-FFF2-40B4-BE49-F238E27FC236}">
                <a16:creationId xmlns:a16="http://schemas.microsoft.com/office/drawing/2014/main" id="{919C7BC4-21C3-CCE5-9853-93C6248EB8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88188" y="1274003"/>
            <a:ext cx="4607235" cy="4607235"/>
          </a:xfrm>
          <a:prstGeom prst="rect">
            <a:avLst/>
          </a:prstGeom>
          <a:noFill/>
          <a:extLst>
            <a:ext uri="{909E8E84-426E-40DD-AFC4-6F175D3DCCD1}">
              <a14:hiddenFill xmlns:a14="http://schemas.microsoft.com/office/drawing/2010/main">
                <a:solidFill>
                  <a:srgbClr val="FFFFFF"/>
                </a:solidFill>
              </a14:hiddenFill>
            </a:ext>
          </a:extLst>
        </p:spPr>
      </p:pic>
      <p:sp>
        <p:nvSpPr>
          <p:cNvPr id="4" name="Titre 1">
            <a:extLst>
              <a:ext uri="{FF2B5EF4-FFF2-40B4-BE49-F238E27FC236}">
                <a16:creationId xmlns:a16="http://schemas.microsoft.com/office/drawing/2014/main" id="{B9E1EA6F-A6B0-15A8-6E10-44A944858892}"/>
              </a:ext>
            </a:extLst>
          </p:cNvPr>
          <p:cNvSpPr txBox="1">
            <a:spLocks/>
          </p:cNvSpPr>
          <p:nvPr/>
        </p:nvSpPr>
        <p:spPr>
          <a:xfrm>
            <a:off x="223520" y="284485"/>
            <a:ext cx="8530062" cy="42567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b="1" dirty="0"/>
              <a:t>La cohérence éventuelle : Avantages et inconvénients</a:t>
            </a:r>
          </a:p>
        </p:txBody>
      </p:sp>
      <p:cxnSp>
        <p:nvCxnSpPr>
          <p:cNvPr id="5" name="Connecteur droit 4">
            <a:extLst>
              <a:ext uri="{FF2B5EF4-FFF2-40B4-BE49-F238E27FC236}">
                <a16:creationId xmlns:a16="http://schemas.microsoft.com/office/drawing/2014/main" id="{666C7B39-4684-B716-267E-0F824FB71D30}"/>
              </a:ext>
            </a:extLst>
          </p:cNvPr>
          <p:cNvCxnSpPr>
            <a:cxnSpLocks/>
          </p:cNvCxnSpPr>
          <p:nvPr/>
        </p:nvCxnSpPr>
        <p:spPr>
          <a:xfrm>
            <a:off x="0" y="86754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Sous-titre 2">
            <a:extLst>
              <a:ext uri="{FF2B5EF4-FFF2-40B4-BE49-F238E27FC236}">
                <a16:creationId xmlns:a16="http://schemas.microsoft.com/office/drawing/2014/main" id="{445FEB1D-453B-3FF6-F43B-ADC4BB2A2B81}"/>
              </a:ext>
            </a:extLst>
          </p:cNvPr>
          <p:cNvSpPr txBox="1">
            <a:spLocks/>
          </p:cNvSpPr>
          <p:nvPr/>
        </p:nvSpPr>
        <p:spPr>
          <a:xfrm>
            <a:off x="4324350" y="6643878"/>
            <a:ext cx="2890647" cy="2141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100" b="1">
                <a:solidFill>
                  <a:schemeClr val="tx2"/>
                </a:solidFill>
              </a:rPr>
              <a:t>Préparé et Présenté par Daniel  Lawson</a:t>
            </a:r>
            <a:endParaRPr lang="fr-FR" sz="1100" b="1" dirty="0">
              <a:solidFill>
                <a:schemeClr val="tx2"/>
              </a:solidFill>
            </a:endParaRPr>
          </a:p>
        </p:txBody>
      </p:sp>
      <p:sp>
        <p:nvSpPr>
          <p:cNvPr id="8" name="ZoneTexte 7">
            <a:extLst>
              <a:ext uri="{FF2B5EF4-FFF2-40B4-BE49-F238E27FC236}">
                <a16:creationId xmlns:a16="http://schemas.microsoft.com/office/drawing/2014/main" id="{5AD07DD8-DC90-AD5A-05E5-8EC320A572DB}"/>
              </a:ext>
            </a:extLst>
          </p:cNvPr>
          <p:cNvSpPr txBox="1"/>
          <p:nvPr/>
        </p:nvSpPr>
        <p:spPr>
          <a:xfrm>
            <a:off x="223519" y="993116"/>
            <a:ext cx="7554017" cy="6103915"/>
          </a:xfrm>
          <a:prstGeom prst="rect">
            <a:avLst/>
          </a:prstGeom>
          <a:noFill/>
        </p:spPr>
        <p:txBody>
          <a:bodyPr wrap="square">
            <a:spAutoFit/>
          </a:bodyPr>
          <a:lstStyle/>
          <a:p>
            <a:pPr>
              <a:lnSpc>
                <a:spcPct val="115000"/>
              </a:lnSpc>
              <a:spcAft>
                <a:spcPts val="800"/>
              </a:spcAft>
            </a:pPr>
            <a:r>
              <a:rPr lang="fr-FR" sz="2200" b="1" kern="100" dirty="0">
                <a:effectLst/>
                <a:latin typeface="Aptos" panose="020B0004020202020204" pitchFamily="34" charset="0"/>
                <a:ea typeface="Aptos" panose="020B0004020202020204" pitchFamily="34" charset="0"/>
                <a:cs typeface="Times New Roman" panose="02020603050405020304" pitchFamily="18" charset="0"/>
              </a:rPr>
              <a:t>Inconvénients</a:t>
            </a:r>
            <a:endParaRPr lang="fr-FR" sz="22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Arial" panose="020B0604020202020204" pitchFamily="34" charset="0"/>
              <a:buChar char="•"/>
              <a:tabLst>
                <a:tab pos="457200" algn="l"/>
              </a:tabLst>
            </a:pPr>
            <a:r>
              <a:rPr lang="fr-FR" sz="2000" b="1" kern="100" dirty="0">
                <a:effectLst/>
                <a:latin typeface="Aptos" panose="020B0004020202020204" pitchFamily="34" charset="0"/>
                <a:ea typeface="Aptos" panose="020B0004020202020204" pitchFamily="34" charset="0"/>
                <a:cs typeface="Times New Roman" panose="02020603050405020304" pitchFamily="18" charset="0"/>
              </a:rPr>
              <a:t>Incohérence temporaire</a:t>
            </a:r>
            <a:endParaRPr lang="fr-FR" sz="2000" b="1" kern="100" dirty="0">
              <a:latin typeface="Aptos" panose="020B0004020202020204" pitchFamily="34" charset="0"/>
              <a:ea typeface="Aptos" panose="020B0004020202020204" pitchFamily="34" charset="0"/>
              <a:cs typeface="Times New Roman" panose="02020603050405020304" pitchFamily="18" charset="0"/>
            </a:endParaRPr>
          </a:p>
          <a:p>
            <a:pPr lvl="0">
              <a:lnSpc>
                <a:spcPct val="115000"/>
              </a:lnSpc>
              <a:spcAft>
                <a:spcPts val="800"/>
              </a:spcAft>
              <a:tabLst>
                <a:tab pos="457200" algn="l"/>
              </a:tabLst>
            </a:pPr>
            <a:r>
              <a:rPr lang="fr-FR" sz="2000" kern="100" dirty="0">
                <a:effectLst/>
                <a:latin typeface="Aptos" panose="020B0004020202020204" pitchFamily="34" charset="0"/>
                <a:ea typeface="Aptos" panose="020B0004020202020204" pitchFamily="34" charset="0"/>
                <a:cs typeface="Times New Roman" panose="02020603050405020304" pitchFamily="18" charset="0"/>
              </a:rPr>
              <a:t>Les utilisateurs peuvent voir des versions différentes des données selon le nœud auquel ils se connectent. Cela peut créer des situations où les données semblent incorrectes ou périmées pendant un certain temps.</a:t>
            </a:r>
          </a:p>
          <a:p>
            <a:pPr marL="342900" lvl="0" indent="-342900">
              <a:lnSpc>
                <a:spcPct val="115000"/>
              </a:lnSpc>
              <a:spcAft>
                <a:spcPts val="800"/>
              </a:spcAft>
              <a:buFont typeface="Arial" panose="020B0604020202020204" pitchFamily="34" charset="0"/>
              <a:buChar char="•"/>
              <a:tabLst>
                <a:tab pos="457200" algn="l"/>
              </a:tabLst>
            </a:pPr>
            <a:r>
              <a:rPr lang="fr-FR" sz="2000" b="1" kern="100" dirty="0">
                <a:effectLst/>
                <a:latin typeface="Aptos" panose="020B0004020202020204" pitchFamily="34" charset="0"/>
                <a:ea typeface="Aptos" panose="020B0004020202020204" pitchFamily="34" charset="0"/>
                <a:cs typeface="Times New Roman" panose="02020603050405020304" pitchFamily="18" charset="0"/>
              </a:rPr>
              <a:t>Gestion de la cohérence par l’application</a:t>
            </a:r>
            <a:endParaRPr lang="fr-FR" sz="2000" b="1" kern="100" dirty="0">
              <a:latin typeface="Aptos" panose="020B0004020202020204" pitchFamily="34" charset="0"/>
              <a:ea typeface="Aptos" panose="020B0004020202020204" pitchFamily="34" charset="0"/>
              <a:cs typeface="Times New Roman" panose="02020603050405020304" pitchFamily="18" charset="0"/>
            </a:endParaRPr>
          </a:p>
          <a:p>
            <a:pPr lvl="0">
              <a:lnSpc>
                <a:spcPct val="115000"/>
              </a:lnSpc>
              <a:spcAft>
                <a:spcPts val="800"/>
              </a:spcAft>
              <a:tabLst>
                <a:tab pos="457200" algn="l"/>
              </a:tabLst>
            </a:pPr>
            <a:r>
              <a:rPr lang="fr-FR" sz="2000" kern="100" dirty="0">
                <a:effectLst/>
                <a:latin typeface="Aptos" panose="020B0004020202020204" pitchFamily="34" charset="0"/>
                <a:ea typeface="Aptos" panose="020B0004020202020204" pitchFamily="34" charset="0"/>
                <a:cs typeface="Times New Roman" panose="02020603050405020304" pitchFamily="18" charset="0"/>
              </a:rPr>
              <a:t>Dans les scénarios critiques (comme les transactions financières), il peut être nécessaire de gérer explicitement la cohérence des données au niveau de l’application pour éviter des erreurs.</a:t>
            </a:r>
          </a:p>
          <a:p>
            <a:pPr marL="342900" lvl="0" indent="-342900">
              <a:lnSpc>
                <a:spcPct val="115000"/>
              </a:lnSpc>
              <a:spcAft>
                <a:spcPts val="800"/>
              </a:spcAft>
              <a:buFont typeface="Arial" panose="020B0604020202020204" pitchFamily="34" charset="0"/>
              <a:buChar char="•"/>
              <a:tabLst>
                <a:tab pos="457200" algn="l"/>
              </a:tabLst>
            </a:pPr>
            <a:r>
              <a:rPr lang="fr-FR" sz="2000" b="1" kern="100" dirty="0">
                <a:effectLst/>
                <a:latin typeface="Aptos" panose="020B0004020202020204" pitchFamily="34" charset="0"/>
                <a:ea typeface="Aptos" panose="020B0004020202020204" pitchFamily="34" charset="0"/>
                <a:cs typeface="Times New Roman" panose="02020603050405020304" pitchFamily="18" charset="0"/>
              </a:rPr>
              <a:t>Délai indéterminé pour la convergence</a:t>
            </a:r>
            <a:endParaRPr lang="fr-FR" sz="2000" b="1" kern="100" dirty="0">
              <a:latin typeface="Aptos" panose="020B0004020202020204" pitchFamily="34" charset="0"/>
              <a:ea typeface="Aptos" panose="020B0004020202020204" pitchFamily="34" charset="0"/>
              <a:cs typeface="Times New Roman" panose="02020603050405020304" pitchFamily="18" charset="0"/>
            </a:endParaRPr>
          </a:p>
          <a:p>
            <a:pPr lvl="0">
              <a:lnSpc>
                <a:spcPct val="115000"/>
              </a:lnSpc>
              <a:spcAft>
                <a:spcPts val="800"/>
              </a:spcAft>
              <a:tabLst>
                <a:tab pos="457200" algn="l"/>
              </a:tabLst>
            </a:pPr>
            <a:r>
              <a:rPr lang="fr-FR" sz="2000" kern="100" dirty="0">
                <a:effectLst/>
                <a:latin typeface="Aptos" panose="020B0004020202020204" pitchFamily="34" charset="0"/>
                <a:ea typeface="Aptos" panose="020B0004020202020204" pitchFamily="34" charset="0"/>
                <a:cs typeface="Times New Roman" panose="02020603050405020304" pitchFamily="18" charset="0"/>
              </a:rPr>
              <a:t>Il n’y a aucune garantie sur le délai de convergence des données, ce qui peut être problématique dans des cas où une cohérence immédiate est cruciale.</a:t>
            </a:r>
          </a:p>
          <a:p>
            <a:pPr lvl="0">
              <a:lnSpc>
                <a:spcPct val="115000"/>
              </a:lnSpc>
              <a:spcAft>
                <a:spcPts val="800"/>
              </a:spcAft>
              <a:tabLst>
                <a:tab pos="457200" algn="l"/>
              </a:tabLst>
            </a:pPr>
            <a:endParaRPr lang="fr-FR" kern="100" dirty="0">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9621107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D6F6A-E48E-3D06-92C5-1770B3350E47}"/>
            </a:ext>
          </a:extLst>
        </p:cNvPr>
        <p:cNvGrpSpPr/>
        <p:nvPr/>
      </p:nvGrpSpPr>
      <p:grpSpPr>
        <a:xfrm>
          <a:off x="0" y="0"/>
          <a:ext cx="0" cy="0"/>
          <a:chOff x="0" y="0"/>
          <a:chExt cx="0" cy="0"/>
        </a:xfrm>
      </p:grpSpPr>
      <p:pic>
        <p:nvPicPr>
          <p:cNvPr id="8" name="Image 7" descr="Une image contenant texte, conception, capture d’écran, croquis">
            <a:extLst>
              <a:ext uri="{FF2B5EF4-FFF2-40B4-BE49-F238E27FC236}">
                <a16:creationId xmlns:a16="http://schemas.microsoft.com/office/drawing/2014/main" id="{3115C419-A035-87EC-66AD-83F564B04CC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rot="5400000">
            <a:off x="2596613" y="-2596610"/>
            <a:ext cx="6998776" cy="12192000"/>
          </a:xfrm>
          <a:prstGeom prst="rect">
            <a:avLst/>
          </a:prstGeom>
        </p:spPr>
      </p:pic>
      <p:sp>
        <p:nvSpPr>
          <p:cNvPr id="2" name="Titre 1">
            <a:extLst>
              <a:ext uri="{FF2B5EF4-FFF2-40B4-BE49-F238E27FC236}">
                <a16:creationId xmlns:a16="http://schemas.microsoft.com/office/drawing/2014/main" id="{C3523F2B-77AF-971A-86A7-7F0F665FE6D1}"/>
              </a:ext>
            </a:extLst>
          </p:cNvPr>
          <p:cNvSpPr>
            <a:spLocks noGrp="1"/>
          </p:cNvSpPr>
          <p:nvPr>
            <p:ph type="ctrTitle"/>
          </p:nvPr>
        </p:nvSpPr>
        <p:spPr>
          <a:xfrm>
            <a:off x="242446" y="2433638"/>
            <a:ext cx="6158356" cy="738187"/>
          </a:xfrm>
        </p:spPr>
        <p:txBody>
          <a:bodyPr>
            <a:normAutofit fontScale="90000"/>
          </a:bodyPr>
          <a:lstStyle/>
          <a:p>
            <a:pPr algn="l"/>
            <a:r>
              <a:rPr lang="fr-FR" sz="4500" b="1" dirty="0">
                <a:solidFill>
                  <a:schemeClr val="tx2"/>
                </a:solidFill>
                <a:latin typeface="Lora" pitchFamily="2" charset="0"/>
              </a:rPr>
              <a:t>Défi 2 : </a:t>
            </a:r>
            <a:br>
              <a:rPr lang="fr-FR" sz="4500" b="1" dirty="0">
                <a:solidFill>
                  <a:schemeClr val="tx2"/>
                </a:solidFill>
                <a:latin typeface="Lora" pitchFamily="2" charset="0"/>
              </a:rPr>
            </a:br>
            <a:r>
              <a:rPr lang="fr-FR" sz="4500" b="1" dirty="0">
                <a:solidFill>
                  <a:schemeClr val="tx2"/>
                </a:solidFill>
                <a:latin typeface="Lora" pitchFamily="2" charset="0"/>
              </a:rPr>
              <a:t>Les transactions</a:t>
            </a:r>
          </a:p>
        </p:txBody>
      </p:sp>
      <p:sp>
        <p:nvSpPr>
          <p:cNvPr id="3" name="Sous-titre 2">
            <a:extLst>
              <a:ext uri="{FF2B5EF4-FFF2-40B4-BE49-F238E27FC236}">
                <a16:creationId xmlns:a16="http://schemas.microsoft.com/office/drawing/2014/main" id="{F4BBE0B6-4AC8-D41B-0264-30874135C46B}"/>
              </a:ext>
            </a:extLst>
          </p:cNvPr>
          <p:cNvSpPr>
            <a:spLocks noGrp="1"/>
          </p:cNvSpPr>
          <p:nvPr>
            <p:ph type="subTitle" idx="1"/>
          </p:nvPr>
        </p:nvSpPr>
        <p:spPr>
          <a:xfrm>
            <a:off x="4324350" y="6643878"/>
            <a:ext cx="2890647" cy="214122"/>
          </a:xfrm>
        </p:spPr>
        <p:txBody>
          <a:bodyPr>
            <a:noAutofit/>
          </a:bodyPr>
          <a:lstStyle/>
          <a:p>
            <a:r>
              <a:rPr lang="fr-FR" sz="1100" b="1" dirty="0">
                <a:solidFill>
                  <a:schemeClr val="tx2"/>
                </a:solidFill>
              </a:rPr>
              <a:t>Préparé et Présenté par Daniel  Lawson</a:t>
            </a:r>
          </a:p>
        </p:txBody>
      </p:sp>
    </p:spTree>
    <p:extLst>
      <p:ext uri="{BB962C8B-B14F-4D97-AF65-F5344CB8AC3E}">
        <p14:creationId xmlns:p14="http://schemas.microsoft.com/office/powerpoint/2010/main" val="31246825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94194-F8BE-82C0-6299-6FB8498D90C9}"/>
            </a:ext>
          </a:extLst>
        </p:cNvPr>
        <p:cNvGrpSpPr/>
        <p:nvPr/>
      </p:nvGrpSpPr>
      <p:grpSpPr>
        <a:xfrm>
          <a:off x="0" y="0"/>
          <a:ext cx="0" cy="0"/>
          <a:chOff x="0" y="0"/>
          <a:chExt cx="0" cy="0"/>
        </a:xfrm>
      </p:grpSpPr>
      <p:sp>
        <p:nvSpPr>
          <p:cNvPr id="4" name="Titre 1">
            <a:extLst>
              <a:ext uri="{FF2B5EF4-FFF2-40B4-BE49-F238E27FC236}">
                <a16:creationId xmlns:a16="http://schemas.microsoft.com/office/drawing/2014/main" id="{FAB9CB15-2BD6-AE69-AB98-1F6D0E6BDC34}"/>
              </a:ext>
            </a:extLst>
          </p:cNvPr>
          <p:cNvSpPr txBox="1">
            <a:spLocks/>
          </p:cNvSpPr>
          <p:nvPr/>
        </p:nvSpPr>
        <p:spPr>
          <a:xfrm>
            <a:off x="223520" y="284485"/>
            <a:ext cx="8808720" cy="42567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b="1" dirty="0"/>
              <a:t>Les transactions: Définition</a:t>
            </a:r>
          </a:p>
        </p:txBody>
      </p:sp>
      <p:cxnSp>
        <p:nvCxnSpPr>
          <p:cNvPr id="5" name="Connecteur droit 4">
            <a:extLst>
              <a:ext uri="{FF2B5EF4-FFF2-40B4-BE49-F238E27FC236}">
                <a16:creationId xmlns:a16="http://schemas.microsoft.com/office/drawing/2014/main" id="{F3FCC76A-E096-8BB2-FA5E-2FFFB48DE2F3}"/>
              </a:ext>
            </a:extLst>
          </p:cNvPr>
          <p:cNvCxnSpPr>
            <a:cxnSpLocks/>
          </p:cNvCxnSpPr>
          <p:nvPr/>
        </p:nvCxnSpPr>
        <p:spPr>
          <a:xfrm>
            <a:off x="0" y="86754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Sous-titre 2">
            <a:extLst>
              <a:ext uri="{FF2B5EF4-FFF2-40B4-BE49-F238E27FC236}">
                <a16:creationId xmlns:a16="http://schemas.microsoft.com/office/drawing/2014/main" id="{1530D7BF-DEAE-E6E4-1147-AA3A12E3367E}"/>
              </a:ext>
            </a:extLst>
          </p:cNvPr>
          <p:cNvSpPr txBox="1">
            <a:spLocks/>
          </p:cNvSpPr>
          <p:nvPr/>
        </p:nvSpPr>
        <p:spPr>
          <a:xfrm>
            <a:off x="4324350" y="6643878"/>
            <a:ext cx="2890647" cy="2141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100" b="1">
                <a:solidFill>
                  <a:schemeClr val="tx2"/>
                </a:solidFill>
              </a:rPr>
              <a:t>Préparé et Présenté par Daniel  Lawson</a:t>
            </a:r>
            <a:endParaRPr lang="fr-FR" sz="1100" b="1" dirty="0">
              <a:solidFill>
                <a:schemeClr val="tx2"/>
              </a:solidFill>
            </a:endParaRPr>
          </a:p>
        </p:txBody>
      </p:sp>
      <p:sp>
        <p:nvSpPr>
          <p:cNvPr id="8" name="ZoneTexte 7">
            <a:extLst>
              <a:ext uri="{FF2B5EF4-FFF2-40B4-BE49-F238E27FC236}">
                <a16:creationId xmlns:a16="http://schemas.microsoft.com/office/drawing/2014/main" id="{DF37336D-C88B-27A0-AA9F-98C30B1E624A}"/>
              </a:ext>
            </a:extLst>
          </p:cNvPr>
          <p:cNvSpPr txBox="1"/>
          <p:nvPr/>
        </p:nvSpPr>
        <p:spPr>
          <a:xfrm>
            <a:off x="346669" y="1129755"/>
            <a:ext cx="11498662" cy="4664610"/>
          </a:xfrm>
          <a:prstGeom prst="rect">
            <a:avLst/>
          </a:prstGeom>
          <a:noFill/>
        </p:spPr>
        <p:txBody>
          <a:bodyPr wrap="square">
            <a:spAutoFit/>
          </a:bodyPr>
          <a:lstStyle/>
          <a:p>
            <a:pPr marL="0" indent="0">
              <a:lnSpc>
                <a:spcPct val="150000"/>
              </a:lnSpc>
              <a:buNone/>
            </a:pPr>
            <a:r>
              <a:rPr lang="fr-FR" sz="2000" dirty="0"/>
              <a:t>Une </a:t>
            </a:r>
            <a:r>
              <a:rPr lang="fr-FR" sz="2000" b="1" dirty="0"/>
              <a:t>transaction</a:t>
            </a:r>
            <a:r>
              <a:rPr lang="fr-FR" sz="2000" dirty="0"/>
              <a:t> est un ensemble d'opérations </a:t>
            </a:r>
            <a:r>
              <a:rPr lang="fr-FR" sz="2000" b="1" dirty="0"/>
              <a:t>groupées</a:t>
            </a:r>
            <a:r>
              <a:rPr lang="fr-FR" sz="2000" dirty="0"/>
              <a:t> qui sont exécutées ensemble sur une base de données pour garantir l'intégrité des données. Le principe est que toutes les opérations d'une transaction doivent être exécutées avec succès pour que la transaction soit validée, sinon, aucune des opérations ne doit être appliquée.</a:t>
            </a:r>
          </a:p>
          <a:p>
            <a:pPr marL="0" indent="0">
              <a:lnSpc>
                <a:spcPct val="150000"/>
              </a:lnSpc>
              <a:buNone/>
            </a:pPr>
            <a:r>
              <a:rPr lang="fr-FR" sz="2000" dirty="0"/>
              <a:t>Elles garantissent les propriétés </a:t>
            </a:r>
            <a:r>
              <a:rPr lang="fr-FR" sz="2000" b="1" dirty="0"/>
              <a:t>ACID (Atomicité, Cohérence, Isolation, Durabilité)</a:t>
            </a:r>
          </a:p>
          <a:p>
            <a:pPr marL="0" indent="0">
              <a:lnSpc>
                <a:spcPct val="150000"/>
              </a:lnSpc>
              <a:buNone/>
            </a:pPr>
            <a:endParaRPr lang="fr-FR" sz="2000" b="1" dirty="0"/>
          </a:p>
          <a:p>
            <a:pPr marL="0" indent="0">
              <a:lnSpc>
                <a:spcPct val="150000"/>
              </a:lnSpc>
              <a:buNone/>
            </a:pPr>
            <a:r>
              <a:rPr lang="fr-FR" sz="2000" dirty="0"/>
              <a:t>Les moteurs de bases de données relationnelles comme SQL Server, PostgreSQL, ou Oracle , gèrent les transactions de manière native.</a:t>
            </a:r>
          </a:p>
          <a:p>
            <a:pPr marL="0" indent="0">
              <a:lnSpc>
                <a:spcPct val="150000"/>
              </a:lnSpc>
              <a:buNone/>
            </a:pPr>
            <a:endParaRPr lang="fr-FR" sz="2000" dirty="0"/>
          </a:p>
          <a:p>
            <a:pPr marL="0" indent="0">
              <a:lnSpc>
                <a:spcPct val="150000"/>
              </a:lnSpc>
              <a:buNone/>
            </a:pPr>
            <a:r>
              <a:rPr lang="fr-FR" sz="2000" dirty="0"/>
              <a:t>Les transactions peuvent être également implémentées au niveau applicatif.</a:t>
            </a:r>
          </a:p>
        </p:txBody>
      </p:sp>
    </p:spTree>
    <p:extLst>
      <p:ext uri="{BB962C8B-B14F-4D97-AF65-F5344CB8AC3E}">
        <p14:creationId xmlns:p14="http://schemas.microsoft.com/office/powerpoint/2010/main" val="35402769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5BE80-6004-C184-A84A-40F99B3808D0}"/>
            </a:ext>
          </a:extLst>
        </p:cNvPr>
        <p:cNvGrpSpPr/>
        <p:nvPr/>
      </p:nvGrpSpPr>
      <p:grpSpPr>
        <a:xfrm>
          <a:off x="0" y="0"/>
          <a:ext cx="0" cy="0"/>
          <a:chOff x="0" y="0"/>
          <a:chExt cx="0" cy="0"/>
        </a:xfrm>
      </p:grpSpPr>
      <p:sp>
        <p:nvSpPr>
          <p:cNvPr id="4" name="Titre 1">
            <a:extLst>
              <a:ext uri="{FF2B5EF4-FFF2-40B4-BE49-F238E27FC236}">
                <a16:creationId xmlns:a16="http://schemas.microsoft.com/office/drawing/2014/main" id="{D40D5EF8-B31F-CD19-3027-93A27E71B56F}"/>
              </a:ext>
            </a:extLst>
          </p:cNvPr>
          <p:cNvSpPr txBox="1">
            <a:spLocks/>
          </p:cNvSpPr>
          <p:nvPr/>
        </p:nvSpPr>
        <p:spPr>
          <a:xfrm>
            <a:off x="223520" y="284485"/>
            <a:ext cx="8808720" cy="42567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b="1" dirty="0"/>
              <a:t>Les transactions: Exemples</a:t>
            </a:r>
          </a:p>
        </p:txBody>
      </p:sp>
      <p:cxnSp>
        <p:nvCxnSpPr>
          <p:cNvPr id="5" name="Connecteur droit 4">
            <a:extLst>
              <a:ext uri="{FF2B5EF4-FFF2-40B4-BE49-F238E27FC236}">
                <a16:creationId xmlns:a16="http://schemas.microsoft.com/office/drawing/2014/main" id="{0C2D97F7-838F-6FB5-CA24-FDC34D8D321E}"/>
              </a:ext>
            </a:extLst>
          </p:cNvPr>
          <p:cNvCxnSpPr>
            <a:cxnSpLocks/>
          </p:cNvCxnSpPr>
          <p:nvPr/>
        </p:nvCxnSpPr>
        <p:spPr>
          <a:xfrm>
            <a:off x="0" y="86754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Sous-titre 2">
            <a:extLst>
              <a:ext uri="{FF2B5EF4-FFF2-40B4-BE49-F238E27FC236}">
                <a16:creationId xmlns:a16="http://schemas.microsoft.com/office/drawing/2014/main" id="{1D503842-68B1-640B-004B-627B233FFD53}"/>
              </a:ext>
            </a:extLst>
          </p:cNvPr>
          <p:cNvSpPr txBox="1">
            <a:spLocks/>
          </p:cNvSpPr>
          <p:nvPr/>
        </p:nvSpPr>
        <p:spPr>
          <a:xfrm>
            <a:off x="4324350" y="6643878"/>
            <a:ext cx="2890647" cy="2141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100" b="1">
                <a:solidFill>
                  <a:schemeClr val="tx2"/>
                </a:solidFill>
              </a:rPr>
              <a:t>Préparé et Présenté par Daniel  Lawson</a:t>
            </a:r>
            <a:endParaRPr lang="fr-FR" sz="1100" b="1" dirty="0">
              <a:solidFill>
                <a:schemeClr val="tx2"/>
              </a:solidFill>
            </a:endParaRPr>
          </a:p>
        </p:txBody>
      </p:sp>
      <p:sp>
        <p:nvSpPr>
          <p:cNvPr id="8" name="ZoneTexte 7">
            <a:extLst>
              <a:ext uri="{FF2B5EF4-FFF2-40B4-BE49-F238E27FC236}">
                <a16:creationId xmlns:a16="http://schemas.microsoft.com/office/drawing/2014/main" id="{7F8A7AD5-E796-9CAD-24DC-DC2FD2E0BF34}"/>
              </a:ext>
            </a:extLst>
          </p:cNvPr>
          <p:cNvSpPr txBox="1"/>
          <p:nvPr/>
        </p:nvSpPr>
        <p:spPr>
          <a:xfrm>
            <a:off x="346669" y="1129755"/>
            <a:ext cx="7215111" cy="509627"/>
          </a:xfrm>
          <a:prstGeom prst="rect">
            <a:avLst/>
          </a:prstGeom>
          <a:noFill/>
        </p:spPr>
        <p:txBody>
          <a:bodyPr wrap="square">
            <a:spAutoFit/>
          </a:bodyPr>
          <a:lstStyle/>
          <a:p>
            <a:pPr marL="0" indent="0">
              <a:lnSpc>
                <a:spcPct val="150000"/>
              </a:lnSpc>
              <a:buNone/>
            </a:pPr>
            <a:r>
              <a:rPr lang="fr-FR" sz="2000" b="1" dirty="0"/>
              <a:t>Exemple de mise en place de transaction en </a:t>
            </a:r>
            <a:r>
              <a:rPr lang="fr-FR" sz="2000" b="1" dirty="0" err="1"/>
              <a:t>Transact</a:t>
            </a:r>
            <a:r>
              <a:rPr lang="fr-FR" sz="2000" b="1" dirty="0"/>
              <a:t>-SQL</a:t>
            </a:r>
          </a:p>
        </p:txBody>
      </p:sp>
      <p:pic>
        <p:nvPicPr>
          <p:cNvPr id="9" name="Image 8">
            <a:extLst>
              <a:ext uri="{FF2B5EF4-FFF2-40B4-BE49-F238E27FC236}">
                <a16:creationId xmlns:a16="http://schemas.microsoft.com/office/drawing/2014/main" id="{F5BA6CA2-12ED-0CBE-CF79-3A4BEEA5A31D}"/>
              </a:ext>
            </a:extLst>
          </p:cNvPr>
          <p:cNvPicPr>
            <a:picLocks noChangeAspect="1"/>
          </p:cNvPicPr>
          <p:nvPr/>
        </p:nvPicPr>
        <p:blipFill>
          <a:blip r:embed="rId2"/>
          <a:stretch>
            <a:fillRect/>
          </a:stretch>
        </p:blipFill>
        <p:spPr>
          <a:xfrm>
            <a:off x="503434" y="2112196"/>
            <a:ext cx="11498662" cy="3524199"/>
          </a:xfrm>
          <a:prstGeom prst="rect">
            <a:avLst/>
          </a:prstGeom>
        </p:spPr>
      </p:pic>
    </p:spTree>
    <p:extLst>
      <p:ext uri="{BB962C8B-B14F-4D97-AF65-F5344CB8AC3E}">
        <p14:creationId xmlns:p14="http://schemas.microsoft.com/office/powerpoint/2010/main" val="31611459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CFB72-E1C5-4225-CD05-FEFEA8EC8B74}"/>
            </a:ext>
          </a:extLst>
        </p:cNvPr>
        <p:cNvGrpSpPr/>
        <p:nvPr/>
      </p:nvGrpSpPr>
      <p:grpSpPr>
        <a:xfrm>
          <a:off x="0" y="0"/>
          <a:ext cx="0" cy="0"/>
          <a:chOff x="0" y="0"/>
          <a:chExt cx="0" cy="0"/>
        </a:xfrm>
      </p:grpSpPr>
      <p:sp>
        <p:nvSpPr>
          <p:cNvPr id="4" name="Titre 1">
            <a:extLst>
              <a:ext uri="{FF2B5EF4-FFF2-40B4-BE49-F238E27FC236}">
                <a16:creationId xmlns:a16="http://schemas.microsoft.com/office/drawing/2014/main" id="{B61F8B62-C18B-EB93-6D57-5FE25BD3E922}"/>
              </a:ext>
            </a:extLst>
          </p:cNvPr>
          <p:cNvSpPr txBox="1">
            <a:spLocks/>
          </p:cNvSpPr>
          <p:nvPr/>
        </p:nvSpPr>
        <p:spPr>
          <a:xfrm>
            <a:off x="223520" y="284485"/>
            <a:ext cx="8808720" cy="42567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b="1" dirty="0"/>
              <a:t>Les transactions: Exemples</a:t>
            </a:r>
          </a:p>
        </p:txBody>
      </p:sp>
      <p:cxnSp>
        <p:nvCxnSpPr>
          <p:cNvPr id="5" name="Connecteur droit 4">
            <a:extLst>
              <a:ext uri="{FF2B5EF4-FFF2-40B4-BE49-F238E27FC236}">
                <a16:creationId xmlns:a16="http://schemas.microsoft.com/office/drawing/2014/main" id="{8768182C-396C-EA45-1FC3-074178288E6A}"/>
              </a:ext>
            </a:extLst>
          </p:cNvPr>
          <p:cNvCxnSpPr>
            <a:cxnSpLocks/>
          </p:cNvCxnSpPr>
          <p:nvPr/>
        </p:nvCxnSpPr>
        <p:spPr>
          <a:xfrm>
            <a:off x="0" y="86754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Sous-titre 2">
            <a:extLst>
              <a:ext uri="{FF2B5EF4-FFF2-40B4-BE49-F238E27FC236}">
                <a16:creationId xmlns:a16="http://schemas.microsoft.com/office/drawing/2014/main" id="{B3513FD4-2E7C-DBF1-52A4-976CF4705DF6}"/>
              </a:ext>
            </a:extLst>
          </p:cNvPr>
          <p:cNvSpPr txBox="1">
            <a:spLocks/>
          </p:cNvSpPr>
          <p:nvPr/>
        </p:nvSpPr>
        <p:spPr>
          <a:xfrm>
            <a:off x="4324350" y="6643878"/>
            <a:ext cx="2890647" cy="2141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100" b="1">
                <a:solidFill>
                  <a:schemeClr val="tx2"/>
                </a:solidFill>
              </a:rPr>
              <a:t>Préparé et Présenté par Daniel  Lawson</a:t>
            </a:r>
            <a:endParaRPr lang="fr-FR" sz="1100" b="1" dirty="0">
              <a:solidFill>
                <a:schemeClr val="tx2"/>
              </a:solidFill>
            </a:endParaRPr>
          </a:p>
        </p:txBody>
      </p:sp>
      <p:sp>
        <p:nvSpPr>
          <p:cNvPr id="8" name="ZoneTexte 7">
            <a:extLst>
              <a:ext uri="{FF2B5EF4-FFF2-40B4-BE49-F238E27FC236}">
                <a16:creationId xmlns:a16="http://schemas.microsoft.com/office/drawing/2014/main" id="{5296EE14-3FC6-A9BC-CC8F-FE11D9243468}"/>
              </a:ext>
            </a:extLst>
          </p:cNvPr>
          <p:cNvSpPr txBox="1"/>
          <p:nvPr/>
        </p:nvSpPr>
        <p:spPr>
          <a:xfrm>
            <a:off x="346669" y="936353"/>
            <a:ext cx="11498662" cy="1432956"/>
          </a:xfrm>
          <a:prstGeom prst="rect">
            <a:avLst/>
          </a:prstGeom>
          <a:noFill/>
        </p:spPr>
        <p:txBody>
          <a:bodyPr wrap="square">
            <a:spAutoFit/>
          </a:bodyPr>
          <a:lstStyle/>
          <a:p>
            <a:pPr marL="0" indent="0">
              <a:lnSpc>
                <a:spcPct val="150000"/>
              </a:lnSpc>
              <a:buNone/>
            </a:pPr>
            <a:r>
              <a:rPr lang="fr-FR" sz="2000" b="1" dirty="0"/>
              <a:t>Exemple de mise en place de transaction en C#</a:t>
            </a:r>
          </a:p>
          <a:p>
            <a:pPr marL="0" indent="0">
              <a:lnSpc>
                <a:spcPct val="150000"/>
              </a:lnSpc>
              <a:buNone/>
            </a:pPr>
            <a:endParaRPr lang="fr-FR" sz="2000" b="1" dirty="0"/>
          </a:p>
          <a:p>
            <a:pPr marL="0" indent="0">
              <a:lnSpc>
                <a:spcPct val="150000"/>
              </a:lnSpc>
              <a:buNone/>
            </a:pPr>
            <a:endParaRPr lang="fr-FR" sz="2000" b="1" dirty="0"/>
          </a:p>
        </p:txBody>
      </p:sp>
      <p:pic>
        <p:nvPicPr>
          <p:cNvPr id="12" name="Image 11">
            <a:extLst>
              <a:ext uri="{FF2B5EF4-FFF2-40B4-BE49-F238E27FC236}">
                <a16:creationId xmlns:a16="http://schemas.microsoft.com/office/drawing/2014/main" id="{FD405540-9481-BD55-5F28-8545E3574E2C}"/>
              </a:ext>
            </a:extLst>
          </p:cNvPr>
          <p:cNvPicPr>
            <a:picLocks noChangeAspect="1"/>
          </p:cNvPicPr>
          <p:nvPr/>
        </p:nvPicPr>
        <p:blipFill>
          <a:blip r:embed="rId2"/>
          <a:stretch>
            <a:fillRect/>
          </a:stretch>
        </p:blipFill>
        <p:spPr>
          <a:xfrm>
            <a:off x="223520" y="1846233"/>
            <a:ext cx="5632249" cy="3429000"/>
          </a:xfrm>
          <a:prstGeom prst="rect">
            <a:avLst/>
          </a:prstGeom>
        </p:spPr>
      </p:pic>
      <p:pic>
        <p:nvPicPr>
          <p:cNvPr id="14" name="Image 13">
            <a:extLst>
              <a:ext uri="{FF2B5EF4-FFF2-40B4-BE49-F238E27FC236}">
                <a16:creationId xmlns:a16="http://schemas.microsoft.com/office/drawing/2014/main" id="{CA9E589F-8037-4EC0-C356-7197FE1FD012}"/>
              </a:ext>
            </a:extLst>
          </p:cNvPr>
          <p:cNvPicPr>
            <a:picLocks noChangeAspect="1"/>
          </p:cNvPicPr>
          <p:nvPr/>
        </p:nvPicPr>
        <p:blipFill>
          <a:blip r:embed="rId3"/>
          <a:stretch>
            <a:fillRect/>
          </a:stretch>
        </p:blipFill>
        <p:spPr>
          <a:xfrm>
            <a:off x="6359705" y="1181533"/>
            <a:ext cx="5592058" cy="5462345"/>
          </a:xfrm>
          <a:prstGeom prst="rect">
            <a:avLst/>
          </a:prstGeom>
        </p:spPr>
      </p:pic>
    </p:spTree>
    <p:extLst>
      <p:ext uri="{BB962C8B-B14F-4D97-AF65-F5344CB8AC3E}">
        <p14:creationId xmlns:p14="http://schemas.microsoft.com/office/powerpoint/2010/main" val="18513271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F366B-11E8-CC3E-EEBF-5CB63590C813}"/>
            </a:ext>
          </a:extLst>
        </p:cNvPr>
        <p:cNvGrpSpPr/>
        <p:nvPr/>
      </p:nvGrpSpPr>
      <p:grpSpPr>
        <a:xfrm>
          <a:off x="0" y="0"/>
          <a:ext cx="0" cy="0"/>
          <a:chOff x="0" y="0"/>
          <a:chExt cx="0" cy="0"/>
        </a:xfrm>
      </p:grpSpPr>
      <p:sp>
        <p:nvSpPr>
          <p:cNvPr id="4" name="Titre 1">
            <a:extLst>
              <a:ext uri="{FF2B5EF4-FFF2-40B4-BE49-F238E27FC236}">
                <a16:creationId xmlns:a16="http://schemas.microsoft.com/office/drawing/2014/main" id="{E7A517CD-EE70-6AC8-1D06-1F9ECFA99AF0}"/>
              </a:ext>
            </a:extLst>
          </p:cNvPr>
          <p:cNvSpPr txBox="1">
            <a:spLocks/>
          </p:cNvSpPr>
          <p:nvPr/>
        </p:nvSpPr>
        <p:spPr>
          <a:xfrm>
            <a:off x="223520" y="284485"/>
            <a:ext cx="7369082" cy="42567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b="1" dirty="0"/>
              <a:t>Les transactions en architecture </a:t>
            </a:r>
            <a:r>
              <a:rPr lang="fr-FR" sz="2800" b="1" dirty="0" err="1"/>
              <a:t>microservices</a:t>
            </a:r>
            <a:endParaRPr lang="fr-FR" sz="2800" b="1" dirty="0"/>
          </a:p>
        </p:txBody>
      </p:sp>
      <p:cxnSp>
        <p:nvCxnSpPr>
          <p:cNvPr id="5" name="Connecteur droit 4">
            <a:extLst>
              <a:ext uri="{FF2B5EF4-FFF2-40B4-BE49-F238E27FC236}">
                <a16:creationId xmlns:a16="http://schemas.microsoft.com/office/drawing/2014/main" id="{A8637B50-A966-F10A-6CC5-DE581B2C367C}"/>
              </a:ext>
            </a:extLst>
          </p:cNvPr>
          <p:cNvCxnSpPr>
            <a:cxnSpLocks/>
          </p:cNvCxnSpPr>
          <p:nvPr/>
        </p:nvCxnSpPr>
        <p:spPr>
          <a:xfrm>
            <a:off x="0" y="86754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Sous-titre 2">
            <a:extLst>
              <a:ext uri="{FF2B5EF4-FFF2-40B4-BE49-F238E27FC236}">
                <a16:creationId xmlns:a16="http://schemas.microsoft.com/office/drawing/2014/main" id="{B25769CC-BA3C-AF9D-1B64-A749FB325F63}"/>
              </a:ext>
            </a:extLst>
          </p:cNvPr>
          <p:cNvSpPr txBox="1">
            <a:spLocks/>
          </p:cNvSpPr>
          <p:nvPr/>
        </p:nvSpPr>
        <p:spPr>
          <a:xfrm>
            <a:off x="4324350" y="6643878"/>
            <a:ext cx="2890647" cy="2141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100" b="1">
                <a:solidFill>
                  <a:schemeClr val="tx2"/>
                </a:solidFill>
              </a:rPr>
              <a:t>Préparé et Présenté par Daniel  Lawson</a:t>
            </a:r>
            <a:endParaRPr lang="fr-FR" sz="1100" b="1" dirty="0">
              <a:solidFill>
                <a:schemeClr val="tx2"/>
              </a:solidFill>
            </a:endParaRPr>
          </a:p>
        </p:txBody>
      </p:sp>
      <p:sp>
        <p:nvSpPr>
          <p:cNvPr id="8" name="ZoneTexte 7">
            <a:extLst>
              <a:ext uri="{FF2B5EF4-FFF2-40B4-BE49-F238E27FC236}">
                <a16:creationId xmlns:a16="http://schemas.microsoft.com/office/drawing/2014/main" id="{59C9E1F5-9E8E-6C9B-0CE1-2E76AEE7894A}"/>
              </a:ext>
            </a:extLst>
          </p:cNvPr>
          <p:cNvSpPr txBox="1"/>
          <p:nvPr/>
        </p:nvSpPr>
        <p:spPr>
          <a:xfrm>
            <a:off x="346669" y="1129755"/>
            <a:ext cx="6868328" cy="5587940"/>
          </a:xfrm>
          <a:prstGeom prst="rect">
            <a:avLst/>
          </a:prstGeom>
          <a:noFill/>
        </p:spPr>
        <p:txBody>
          <a:bodyPr wrap="square">
            <a:spAutoFit/>
          </a:bodyPr>
          <a:lstStyle/>
          <a:p>
            <a:pPr marL="0" indent="0">
              <a:lnSpc>
                <a:spcPct val="150000"/>
              </a:lnSpc>
              <a:buNone/>
            </a:pPr>
            <a:r>
              <a:rPr lang="fr-FR" sz="2000" b="1" dirty="0"/>
              <a:t>Complexité des transactions dans les systèmes distribués</a:t>
            </a:r>
          </a:p>
          <a:p>
            <a:pPr marL="0" indent="0">
              <a:lnSpc>
                <a:spcPct val="150000"/>
              </a:lnSpc>
              <a:buNone/>
            </a:pPr>
            <a:r>
              <a:rPr lang="fr-FR" sz="2000" dirty="0"/>
              <a:t>Dans une architecture </a:t>
            </a:r>
            <a:r>
              <a:rPr lang="fr-FR" sz="2000" dirty="0" err="1"/>
              <a:t>microservices</a:t>
            </a:r>
            <a:r>
              <a:rPr lang="fr-FR" sz="2000" dirty="0"/>
              <a:t>, les opérations dans un service unique peuvent implémenter des transactions ACID. </a:t>
            </a:r>
          </a:p>
          <a:p>
            <a:pPr marL="0" indent="0">
              <a:lnSpc>
                <a:spcPct val="150000"/>
              </a:lnSpc>
              <a:buNone/>
            </a:pPr>
            <a:endParaRPr lang="fr-FR" sz="2000" dirty="0"/>
          </a:p>
          <a:p>
            <a:pPr marL="0" indent="0">
              <a:lnSpc>
                <a:spcPct val="150000"/>
              </a:lnSpc>
              <a:buNone/>
            </a:pPr>
            <a:r>
              <a:rPr lang="fr-FR" sz="2000" dirty="0"/>
              <a:t>Néanmoins, le défi est de les implémenter pour les opérations concernant des données dans plusieurs bases différentes, comme dans le cas d’une architecture </a:t>
            </a:r>
            <a:r>
              <a:rPr lang="fr-FR" sz="2000" dirty="0" err="1"/>
              <a:t>microservices</a:t>
            </a:r>
            <a:r>
              <a:rPr lang="fr-FR" sz="2000" dirty="0"/>
              <a:t>.</a:t>
            </a:r>
          </a:p>
          <a:p>
            <a:pPr marL="0" indent="0">
              <a:lnSpc>
                <a:spcPct val="150000"/>
              </a:lnSpc>
              <a:buNone/>
            </a:pPr>
            <a:endParaRPr lang="fr-FR" sz="2000" dirty="0"/>
          </a:p>
          <a:p>
            <a:pPr marL="0" indent="0">
              <a:lnSpc>
                <a:spcPct val="150000"/>
              </a:lnSpc>
              <a:buNone/>
            </a:pPr>
            <a:r>
              <a:rPr lang="fr-FR" sz="2000" dirty="0"/>
              <a:t>Les transactions traditionnelles deviennent difficiles, voire impossibles en mettre en œuvre directement.</a:t>
            </a:r>
          </a:p>
        </p:txBody>
      </p:sp>
      <p:pic>
        <p:nvPicPr>
          <p:cNvPr id="3074" name="Picture 2" descr="Hand drawn headache cartoon illustration">
            <a:extLst>
              <a:ext uri="{FF2B5EF4-FFF2-40B4-BE49-F238E27FC236}">
                <a16:creationId xmlns:a16="http://schemas.microsoft.com/office/drawing/2014/main" id="{6DDAC7F9-E6A6-FF1E-2049-68147FF0B3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39665" y="1129755"/>
            <a:ext cx="4860693" cy="48606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21535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66CD0-5B18-E07C-E46B-758038E4B3DB}"/>
            </a:ext>
          </a:extLst>
        </p:cNvPr>
        <p:cNvGrpSpPr/>
        <p:nvPr/>
      </p:nvGrpSpPr>
      <p:grpSpPr>
        <a:xfrm>
          <a:off x="0" y="0"/>
          <a:ext cx="0" cy="0"/>
          <a:chOff x="0" y="0"/>
          <a:chExt cx="0" cy="0"/>
        </a:xfrm>
      </p:grpSpPr>
      <p:sp>
        <p:nvSpPr>
          <p:cNvPr id="4" name="Titre 1">
            <a:extLst>
              <a:ext uri="{FF2B5EF4-FFF2-40B4-BE49-F238E27FC236}">
                <a16:creationId xmlns:a16="http://schemas.microsoft.com/office/drawing/2014/main" id="{75D88A3A-F480-A199-9316-DEDF6E9A58F0}"/>
              </a:ext>
            </a:extLst>
          </p:cNvPr>
          <p:cNvSpPr txBox="1">
            <a:spLocks/>
          </p:cNvSpPr>
          <p:nvPr/>
        </p:nvSpPr>
        <p:spPr>
          <a:xfrm>
            <a:off x="223520" y="284485"/>
            <a:ext cx="7749226" cy="42567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b="1" dirty="0"/>
              <a:t>Les transactions en architecture </a:t>
            </a:r>
            <a:r>
              <a:rPr lang="fr-FR" sz="2800" b="1" dirty="0" err="1"/>
              <a:t>microservicees</a:t>
            </a:r>
            <a:endParaRPr lang="fr-FR" sz="2800" b="1" dirty="0"/>
          </a:p>
        </p:txBody>
      </p:sp>
      <p:cxnSp>
        <p:nvCxnSpPr>
          <p:cNvPr id="5" name="Connecteur droit 4">
            <a:extLst>
              <a:ext uri="{FF2B5EF4-FFF2-40B4-BE49-F238E27FC236}">
                <a16:creationId xmlns:a16="http://schemas.microsoft.com/office/drawing/2014/main" id="{E689A376-2569-3892-4EB9-C34882F3AA36}"/>
              </a:ext>
            </a:extLst>
          </p:cNvPr>
          <p:cNvCxnSpPr>
            <a:cxnSpLocks/>
          </p:cNvCxnSpPr>
          <p:nvPr/>
        </p:nvCxnSpPr>
        <p:spPr>
          <a:xfrm>
            <a:off x="0" y="86754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Sous-titre 2">
            <a:extLst>
              <a:ext uri="{FF2B5EF4-FFF2-40B4-BE49-F238E27FC236}">
                <a16:creationId xmlns:a16="http://schemas.microsoft.com/office/drawing/2014/main" id="{B93D9080-18DE-2869-4D10-C62A761D2B1B}"/>
              </a:ext>
            </a:extLst>
          </p:cNvPr>
          <p:cNvSpPr txBox="1">
            <a:spLocks/>
          </p:cNvSpPr>
          <p:nvPr/>
        </p:nvSpPr>
        <p:spPr>
          <a:xfrm>
            <a:off x="4324350" y="6643878"/>
            <a:ext cx="2890647" cy="2141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100" b="1">
                <a:solidFill>
                  <a:schemeClr val="tx2"/>
                </a:solidFill>
              </a:rPr>
              <a:t>Préparé et Présenté par Daniel  Lawson</a:t>
            </a:r>
            <a:endParaRPr lang="fr-FR" sz="1100" b="1" dirty="0">
              <a:solidFill>
                <a:schemeClr val="tx2"/>
              </a:solidFill>
            </a:endParaRPr>
          </a:p>
        </p:txBody>
      </p:sp>
      <p:sp>
        <p:nvSpPr>
          <p:cNvPr id="8" name="ZoneTexte 7">
            <a:extLst>
              <a:ext uri="{FF2B5EF4-FFF2-40B4-BE49-F238E27FC236}">
                <a16:creationId xmlns:a16="http://schemas.microsoft.com/office/drawing/2014/main" id="{42955987-0D12-3A65-B751-BDAA91F71F2E}"/>
              </a:ext>
            </a:extLst>
          </p:cNvPr>
          <p:cNvSpPr txBox="1"/>
          <p:nvPr/>
        </p:nvSpPr>
        <p:spPr>
          <a:xfrm>
            <a:off x="508000" y="1760787"/>
            <a:ext cx="5963820" cy="4167423"/>
          </a:xfrm>
          <a:prstGeom prst="rect">
            <a:avLst/>
          </a:prstGeom>
          <a:noFill/>
        </p:spPr>
        <p:txBody>
          <a:bodyPr wrap="square">
            <a:spAutoFit/>
          </a:bodyPr>
          <a:lstStyle/>
          <a:p>
            <a:pPr marL="0" indent="0">
              <a:lnSpc>
                <a:spcPct val="150000"/>
              </a:lnSpc>
              <a:buNone/>
            </a:pPr>
            <a:r>
              <a:rPr lang="fr-FR" sz="3600" dirty="0"/>
              <a:t>Comment implémenter des transactions qui concernent plusieurs bases de données, probablement de types différents ? </a:t>
            </a:r>
          </a:p>
        </p:txBody>
      </p:sp>
      <p:pic>
        <p:nvPicPr>
          <p:cNvPr id="5122" name="Picture 2" descr="thoughtful woman with laptop looking at big question mark">
            <a:extLst>
              <a:ext uri="{FF2B5EF4-FFF2-40B4-BE49-F238E27FC236}">
                <a16:creationId xmlns:a16="http://schemas.microsoft.com/office/drawing/2014/main" id="{5F6376C6-CFDF-4336-8207-D39639490D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1820" y="1068958"/>
            <a:ext cx="5373511" cy="5373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7901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023F7-FE63-157C-3C2F-E4E9ACBF7EAC}"/>
            </a:ext>
          </a:extLst>
        </p:cNvPr>
        <p:cNvGrpSpPr/>
        <p:nvPr/>
      </p:nvGrpSpPr>
      <p:grpSpPr>
        <a:xfrm>
          <a:off x="0" y="0"/>
          <a:ext cx="0" cy="0"/>
          <a:chOff x="0" y="0"/>
          <a:chExt cx="0" cy="0"/>
        </a:xfrm>
      </p:grpSpPr>
      <p:sp>
        <p:nvSpPr>
          <p:cNvPr id="4" name="Titre 1">
            <a:extLst>
              <a:ext uri="{FF2B5EF4-FFF2-40B4-BE49-F238E27FC236}">
                <a16:creationId xmlns:a16="http://schemas.microsoft.com/office/drawing/2014/main" id="{43385B1B-C7C7-B1B9-D018-4586C39DB46D}"/>
              </a:ext>
            </a:extLst>
          </p:cNvPr>
          <p:cNvSpPr txBox="1">
            <a:spLocks/>
          </p:cNvSpPr>
          <p:nvPr/>
        </p:nvSpPr>
        <p:spPr>
          <a:xfrm>
            <a:off x="223520" y="284485"/>
            <a:ext cx="7749226" cy="42567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b="1" dirty="0"/>
              <a:t>La stratégie Saga</a:t>
            </a:r>
          </a:p>
        </p:txBody>
      </p:sp>
      <p:cxnSp>
        <p:nvCxnSpPr>
          <p:cNvPr id="5" name="Connecteur droit 4">
            <a:extLst>
              <a:ext uri="{FF2B5EF4-FFF2-40B4-BE49-F238E27FC236}">
                <a16:creationId xmlns:a16="http://schemas.microsoft.com/office/drawing/2014/main" id="{C72ED629-FF8A-E3CC-E3EE-D7CF3F63876F}"/>
              </a:ext>
            </a:extLst>
          </p:cNvPr>
          <p:cNvCxnSpPr>
            <a:cxnSpLocks/>
          </p:cNvCxnSpPr>
          <p:nvPr/>
        </p:nvCxnSpPr>
        <p:spPr>
          <a:xfrm>
            <a:off x="0" y="86754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Sous-titre 2">
            <a:extLst>
              <a:ext uri="{FF2B5EF4-FFF2-40B4-BE49-F238E27FC236}">
                <a16:creationId xmlns:a16="http://schemas.microsoft.com/office/drawing/2014/main" id="{7B3AE738-C34E-73FC-53FC-370A0E85515E}"/>
              </a:ext>
            </a:extLst>
          </p:cNvPr>
          <p:cNvSpPr txBox="1">
            <a:spLocks/>
          </p:cNvSpPr>
          <p:nvPr/>
        </p:nvSpPr>
        <p:spPr>
          <a:xfrm>
            <a:off x="4324350" y="6643878"/>
            <a:ext cx="2890647" cy="2141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100" b="1">
                <a:solidFill>
                  <a:schemeClr val="tx2"/>
                </a:solidFill>
              </a:rPr>
              <a:t>Préparé et Présenté par Daniel  Lawson</a:t>
            </a:r>
            <a:endParaRPr lang="fr-FR" sz="1100" b="1" dirty="0">
              <a:solidFill>
                <a:schemeClr val="tx2"/>
              </a:solidFill>
            </a:endParaRPr>
          </a:p>
        </p:txBody>
      </p:sp>
      <p:sp>
        <p:nvSpPr>
          <p:cNvPr id="8" name="ZoneTexte 7">
            <a:extLst>
              <a:ext uri="{FF2B5EF4-FFF2-40B4-BE49-F238E27FC236}">
                <a16:creationId xmlns:a16="http://schemas.microsoft.com/office/drawing/2014/main" id="{E39E2CFE-FC62-D44C-6E39-97D0E020474E}"/>
              </a:ext>
            </a:extLst>
          </p:cNvPr>
          <p:cNvSpPr txBox="1"/>
          <p:nvPr/>
        </p:nvSpPr>
        <p:spPr>
          <a:xfrm>
            <a:off x="113939" y="1139898"/>
            <a:ext cx="11716817" cy="3428439"/>
          </a:xfrm>
          <a:prstGeom prst="rect">
            <a:avLst/>
          </a:prstGeom>
          <a:noFill/>
        </p:spPr>
        <p:txBody>
          <a:bodyPr wrap="square">
            <a:spAutoFit/>
          </a:bodyPr>
          <a:lstStyle/>
          <a:p>
            <a:pPr marL="228600">
              <a:lnSpc>
                <a:spcPct val="115000"/>
              </a:lnSpc>
              <a:spcAft>
                <a:spcPts val="800"/>
              </a:spcAft>
            </a:pPr>
            <a:r>
              <a:rPr lang="fr-FR" sz="2200" kern="100" dirty="0">
                <a:effectLst/>
                <a:latin typeface="Aptos" panose="020B0004020202020204" pitchFamily="34" charset="0"/>
                <a:ea typeface="Aptos" panose="020B0004020202020204" pitchFamily="34" charset="0"/>
                <a:cs typeface="Times New Roman" panose="02020603050405020304" pitchFamily="18" charset="0"/>
              </a:rPr>
              <a:t>Une des solutions les plus populaires pour gérer les transactions distribuées dans les </a:t>
            </a:r>
            <a:r>
              <a:rPr lang="fr-FR" sz="2200" kern="100" dirty="0" err="1">
                <a:effectLst/>
                <a:latin typeface="Aptos" panose="020B0004020202020204" pitchFamily="34" charset="0"/>
                <a:ea typeface="Aptos" panose="020B0004020202020204" pitchFamily="34" charset="0"/>
                <a:cs typeface="Times New Roman" panose="02020603050405020304" pitchFamily="18" charset="0"/>
              </a:rPr>
              <a:t>microservices</a:t>
            </a:r>
            <a:r>
              <a:rPr lang="fr-FR" sz="2200" kern="100" dirty="0">
                <a:effectLst/>
                <a:latin typeface="Aptos" panose="020B0004020202020204" pitchFamily="34" charset="0"/>
                <a:ea typeface="Aptos" panose="020B0004020202020204" pitchFamily="34" charset="0"/>
                <a:cs typeface="Times New Roman" panose="02020603050405020304" pitchFamily="18" charset="0"/>
              </a:rPr>
              <a:t> est l’utilisation du </a:t>
            </a:r>
            <a:r>
              <a:rPr lang="fr-FR" sz="2200" b="1" kern="100" dirty="0">
                <a:effectLst/>
                <a:latin typeface="Aptos" panose="020B0004020202020204" pitchFamily="34" charset="0"/>
                <a:ea typeface="Aptos" panose="020B0004020202020204" pitchFamily="34" charset="0"/>
                <a:cs typeface="Times New Roman" panose="02020603050405020304" pitchFamily="18" charset="0"/>
              </a:rPr>
              <a:t>patron Saga</a:t>
            </a:r>
            <a:r>
              <a:rPr lang="fr-FR" sz="2200" kern="100" dirty="0">
                <a:effectLst/>
                <a:latin typeface="Aptos" panose="020B0004020202020204" pitchFamily="34" charset="0"/>
                <a:ea typeface="Aptos" panose="020B0004020202020204" pitchFamily="34" charset="0"/>
                <a:cs typeface="Times New Roman" panose="02020603050405020304" pitchFamily="18" charset="0"/>
              </a:rPr>
              <a:t>. Il permet de gérer des </a:t>
            </a:r>
            <a:r>
              <a:rPr lang="fr-FR" sz="2200" b="1" kern="100" dirty="0">
                <a:effectLst/>
                <a:latin typeface="Aptos" panose="020B0004020202020204" pitchFamily="34" charset="0"/>
                <a:ea typeface="Aptos" panose="020B0004020202020204" pitchFamily="34" charset="0"/>
                <a:cs typeface="Times New Roman" panose="02020603050405020304" pitchFamily="18" charset="0"/>
              </a:rPr>
              <a:t>transactions longues et distribuées</a:t>
            </a:r>
            <a:r>
              <a:rPr lang="fr-FR" sz="2200" kern="100" dirty="0">
                <a:effectLst/>
                <a:latin typeface="Aptos" panose="020B0004020202020204" pitchFamily="34" charset="0"/>
                <a:ea typeface="Aptos" panose="020B0004020202020204" pitchFamily="34" charset="0"/>
                <a:cs typeface="Times New Roman" panose="02020603050405020304" pitchFamily="18" charset="0"/>
              </a:rPr>
              <a:t> sur plusieurs </a:t>
            </a:r>
            <a:r>
              <a:rPr lang="fr-FR" sz="2200" kern="100" dirty="0" err="1">
                <a:effectLst/>
                <a:latin typeface="Aptos" panose="020B0004020202020204" pitchFamily="34" charset="0"/>
                <a:ea typeface="Aptos" panose="020B0004020202020204" pitchFamily="34" charset="0"/>
                <a:cs typeface="Times New Roman" panose="02020603050405020304" pitchFamily="18" charset="0"/>
              </a:rPr>
              <a:t>microservices</a:t>
            </a:r>
            <a:r>
              <a:rPr lang="fr-FR" sz="2200" kern="100" dirty="0">
                <a:effectLst/>
                <a:latin typeface="Aptos" panose="020B0004020202020204" pitchFamily="34" charset="0"/>
                <a:ea typeface="Aptos" panose="020B0004020202020204" pitchFamily="34" charset="0"/>
                <a:cs typeface="Times New Roman" panose="02020603050405020304" pitchFamily="18" charset="0"/>
              </a:rPr>
              <a:t> tout en garantissant que le système reste cohérent même en cas d’échec.</a:t>
            </a:r>
            <a:endParaRPr lang="fr-FR" sz="2200" kern="100" dirty="0">
              <a:latin typeface="Aptos" panose="020B0004020202020204" pitchFamily="34" charset="0"/>
              <a:ea typeface="Aptos" panose="020B0004020202020204" pitchFamily="34" charset="0"/>
              <a:cs typeface="Times New Roman" panose="02020603050405020304" pitchFamily="18" charset="0"/>
            </a:endParaRPr>
          </a:p>
          <a:p>
            <a:pPr marL="228600">
              <a:lnSpc>
                <a:spcPct val="115000"/>
              </a:lnSpc>
              <a:spcAft>
                <a:spcPts val="800"/>
              </a:spcAft>
            </a:pPr>
            <a:r>
              <a:rPr lang="fr-FR" sz="2400" b="1" kern="100" dirty="0">
                <a:effectLst/>
                <a:latin typeface="Aptos" panose="020B0004020202020204" pitchFamily="34" charset="0"/>
                <a:ea typeface="Aptos" panose="020B0004020202020204" pitchFamily="34" charset="0"/>
                <a:cs typeface="Times New Roman" panose="02020603050405020304" pitchFamily="18" charset="0"/>
              </a:rPr>
              <a:t>Principe</a:t>
            </a:r>
          </a:p>
          <a:p>
            <a:pPr marL="228600">
              <a:lnSpc>
                <a:spcPct val="115000"/>
              </a:lnSpc>
              <a:spcAft>
                <a:spcPts val="800"/>
              </a:spcAft>
            </a:pPr>
            <a:r>
              <a:rPr lang="fr-FR" sz="2200" dirty="0">
                <a:effectLst/>
                <a:latin typeface="Aptos" panose="020B0004020202020204" pitchFamily="34" charset="0"/>
                <a:ea typeface="Aptos" panose="020B0004020202020204" pitchFamily="34" charset="0"/>
                <a:cs typeface="Times New Roman" panose="02020603050405020304" pitchFamily="18" charset="0"/>
              </a:rPr>
              <a:t>Une </a:t>
            </a:r>
            <a:r>
              <a:rPr lang="fr-FR" sz="2200" b="1" dirty="0">
                <a:effectLst/>
                <a:latin typeface="Aptos" panose="020B0004020202020204" pitchFamily="34" charset="0"/>
                <a:ea typeface="Aptos" panose="020B0004020202020204" pitchFamily="34" charset="0"/>
                <a:cs typeface="Times New Roman" panose="02020603050405020304" pitchFamily="18" charset="0"/>
              </a:rPr>
              <a:t>Saga</a:t>
            </a:r>
            <a:r>
              <a:rPr lang="fr-FR" sz="2200" dirty="0">
                <a:effectLst/>
                <a:latin typeface="Aptos" panose="020B0004020202020204" pitchFamily="34" charset="0"/>
                <a:ea typeface="Aptos" panose="020B0004020202020204" pitchFamily="34" charset="0"/>
                <a:cs typeface="Times New Roman" panose="02020603050405020304" pitchFamily="18" charset="0"/>
              </a:rPr>
              <a:t> est composée d'une série de </a:t>
            </a:r>
            <a:r>
              <a:rPr lang="fr-FR" sz="2200" b="1" dirty="0">
                <a:effectLst/>
                <a:latin typeface="Aptos" panose="020B0004020202020204" pitchFamily="34" charset="0"/>
                <a:ea typeface="Aptos" panose="020B0004020202020204" pitchFamily="34" charset="0"/>
                <a:cs typeface="Times New Roman" panose="02020603050405020304" pitchFamily="18" charset="0"/>
              </a:rPr>
              <a:t>transactions locales</a:t>
            </a:r>
            <a:r>
              <a:rPr lang="fr-FR" sz="2200" dirty="0">
                <a:effectLst/>
                <a:latin typeface="Aptos" panose="020B0004020202020204" pitchFamily="34" charset="0"/>
                <a:ea typeface="Aptos" panose="020B0004020202020204" pitchFamily="34" charset="0"/>
                <a:cs typeface="Times New Roman" panose="02020603050405020304" pitchFamily="18" charset="0"/>
              </a:rPr>
              <a:t>, où chaque microservice exécute sa propre transaction. Si une étape échoue, une </a:t>
            </a:r>
            <a:r>
              <a:rPr lang="fr-FR" sz="2200" b="1" dirty="0">
                <a:effectLst/>
                <a:latin typeface="Aptos" panose="020B0004020202020204" pitchFamily="34" charset="0"/>
                <a:ea typeface="Aptos" panose="020B0004020202020204" pitchFamily="34" charset="0"/>
                <a:cs typeface="Times New Roman" panose="02020603050405020304" pitchFamily="18" charset="0"/>
              </a:rPr>
              <a:t>action compensatoire</a:t>
            </a:r>
            <a:r>
              <a:rPr lang="fr-FR" sz="2200" dirty="0">
                <a:effectLst/>
                <a:latin typeface="Aptos" panose="020B0004020202020204" pitchFamily="34" charset="0"/>
                <a:ea typeface="Aptos" panose="020B0004020202020204" pitchFamily="34" charset="0"/>
                <a:cs typeface="Times New Roman" panose="02020603050405020304" pitchFamily="18" charset="0"/>
              </a:rPr>
              <a:t> est déclenchée pour annuler les effets des étapes précédentes.</a:t>
            </a:r>
          </a:p>
        </p:txBody>
      </p:sp>
    </p:spTree>
    <p:extLst>
      <p:ext uri="{BB962C8B-B14F-4D97-AF65-F5344CB8AC3E}">
        <p14:creationId xmlns:p14="http://schemas.microsoft.com/office/powerpoint/2010/main" val="40005250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03A10-5542-0E75-A74A-0159582D0D9E}"/>
            </a:ext>
          </a:extLst>
        </p:cNvPr>
        <p:cNvGrpSpPr/>
        <p:nvPr/>
      </p:nvGrpSpPr>
      <p:grpSpPr>
        <a:xfrm>
          <a:off x="0" y="0"/>
          <a:ext cx="0" cy="0"/>
          <a:chOff x="0" y="0"/>
          <a:chExt cx="0" cy="0"/>
        </a:xfrm>
      </p:grpSpPr>
      <p:sp>
        <p:nvSpPr>
          <p:cNvPr id="4" name="Titre 1">
            <a:extLst>
              <a:ext uri="{FF2B5EF4-FFF2-40B4-BE49-F238E27FC236}">
                <a16:creationId xmlns:a16="http://schemas.microsoft.com/office/drawing/2014/main" id="{D0406419-D285-23B1-A0DD-BAE295658277}"/>
              </a:ext>
            </a:extLst>
          </p:cNvPr>
          <p:cNvSpPr txBox="1">
            <a:spLocks/>
          </p:cNvSpPr>
          <p:nvPr/>
        </p:nvSpPr>
        <p:spPr>
          <a:xfrm>
            <a:off x="223520" y="284485"/>
            <a:ext cx="7749226" cy="42567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b="1" dirty="0"/>
              <a:t>La stratégie Saga</a:t>
            </a:r>
          </a:p>
        </p:txBody>
      </p:sp>
      <p:cxnSp>
        <p:nvCxnSpPr>
          <p:cNvPr id="5" name="Connecteur droit 4">
            <a:extLst>
              <a:ext uri="{FF2B5EF4-FFF2-40B4-BE49-F238E27FC236}">
                <a16:creationId xmlns:a16="http://schemas.microsoft.com/office/drawing/2014/main" id="{64D43741-C339-6DF1-96C7-2C9D2D8A102D}"/>
              </a:ext>
            </a:extLst>
          </p:cNvPr>
          <p:cNvCxnSpPr>
            <a:cxnSpLocks/>
          </p:cNvCxnSpPr>
          <p:nvPr/>
        </p:nvCxnSpPr>
        <p:spPr>
          <a:xfrm>
            <a:off x="0" y="86754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Sous-titre 2">
            <a:extLst>
              <a:ext uri="{FF2B5EF4-FFF2-40B4-BE49-F238E27FC236}">
                <a16:creationId xmlns:a16="http://schemas.microsoft.com/office/drawing/2014/main" id="{376C5C85-2E25-656C-FEB6-B184D7CC4D0F}"/>
              </a:ext>
            </a:extLst>
          </p:cNvPr>
          <p:cNvSpPr txBox="1">
            <a:spLocks/>
          </p:cNvSpPr>
          <p:nvPr/>
        </p:nvSpPr>
        <p:spPr>
          <a:xfrm>
            <a:off x="4324350" y="6643878"/>
            <a:ext cx="2890647" cy="2141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100" b="1">
                <a:solidFill>
                  <a:schemeClr val="tx2"/>
                </a:solidFill>
              </a:rPr>
              <a:t>Préparé et Présenté par Daniel  Lawson</a:t>
            </a:r>
            <a:endParaRPr lang="fr-FR" sz="1100" b="1" dirty="0">
              <a:solidFill>
                <a:schemeClr val="tx2"/>
              </a:solidFill>
            </a:endParaRPr>
          </a:p>
        </p:txBody>
      </p:sp>
      <p:sp>
        <p:nvSpPr>
          <p:cNvPr id="8" name="ZoneTexte 7">
            <a:extLst>
              <a:ext uri="{FF2B5EF4-FFF2-40B4-BE49-F238E27FC236}">
                <a16:creationId xmlns:a16="http://schemas.microsoft.com/office/drawing/2014/main" id="{60CD0038-4B41-BB4C-BD10-ACF6F8FE2944}"/>
              </a:ext>
            </a:extLst>
          </p:cNvPr>
          <p:cNvSpPr txBox="1"/>
          <p:nvPr/>
        </p:nvSpPr>
        <p:spPr>
          <a:xfrm>
            <a:off x="113939" y="1139898"/>
            <a:ext cx="11716817" cy="5530553"/>
          </a:xfrm>
          <a:prstGeom prst="rect">
            <a:avLst/>
          </a:prstGeom>
          <a:noFill/>
        </p:spPr>
        <p:txBody>
          <a:bodyPr wrap="square">
            <a:spAutoFit/>
          </a:bodyPr>
          <a:lstStyle/>
          <a:p>
            <a:pPr marL="228600">
              <a:lnSpc>
                <a:spcPct val="115000"/>
              </a:lnSpc>
              <a:spcAft>
                <a:spcPts val="800"/>
              </a:spcAft>
            </a:pPr>
            <a:r>
              <a:rPr lang="fr-FR" sz="2400" b="1" kern="100" dirty="0">
                <a:effectLst/>
                <a:latin typeface="Aptos" panose="020B0004020202020204" pitchFamily="34" charset="0"/>
                <a:ea typeface="Aptos" panose="020B0004020202020204" pitchFamily="34" charset="0"/>
                <a:cs typeface="Times New Roman" panose="02020603050405020304" pitchFamily="18" charset="0"/>
              </a:rPr>
              <a:t>Exemple de Saga :</a:t>
            </a:r>
            <a:endParaRPr lang="fr-FR" sz="24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fr-FR" sz="2400" b="1" kern="100" dirty="0">
                <a:effectLst/>
                <a:latin typeface="Aptos" panose="020B0004020202020204" pitchFamily="34" charset="0"/>
                <a:ea typeface="Aptos" panose="020B0004020202020204" pitchFamily="34" charset="0"/>
                <a:cs typeface="Times New Roman" panose="02020603050405020304" pitchFamily="18" charset="0"/>
              </a:rPr>
              <a:t>Étape 1</a:t>
            </a:r>
            <a:r>
              <a:rPr lang="fr-FR" sz="2400" kern="100" dirty="0">
                <a:effectLst/>
                <a:latin typeface="Aptos" panose="020B0004020202020204" pitchFamily="34" charset="0"/>
                <a:ea typeface="Aptos" panose="020B0004020202020204" pitchFamily="34" charset="0"/>
                <a:cs typeface="Times New Roman" panose="02020603050405020304" pitchFamily="18" charset="0"/>
              </a:rPr>
              <a:t> : Un microservice de commande crée une nouvelle commande.</a:t>
            </a:r>
          </a:p>
          <a:p>
            <a:pPr marL="342900" lvl="0" indent="-342900">
              <a:lnSpc>
                <a:spcPct val="115000"/>
              </a:lnSpc>
              <a:spcAft>
                <a:spcPts val="800"/>
              </a:spcAft>
              <a:buSzPts val="1000"/>
              <a:buFont typeface="Symbol" panose="05050102010706020507" pitchFamily="18" charset="2"/>
              <a:buChar char=""/>
              <a:tabLst>
                <a:tab pos="457200" algn="l"/>
              </a:tabLst>
            </a:pPr>
            <a:r>
              <a:rPr lang="fr-FR" sz="2400" b="1" kern="100" dirty="0">
                <a:effectLst/>
                <a:latin typeface="Aptos" panose="020B0004020202020204" pitchFamily="34" charset="0"/>
                <a:ea typeface="Aptos" panose="020B0004020202020204" pitchFamily="34" charset="0"/>
                <a:cs typeface="Times New Roman" panose="02020603050405020304" pitchFamily="18" charset="0"/>
              </a:rPr>
              <a:t>Étape 2</a:t>
            </a:r>
            <a:r>
              <a:rPr lang="fr-FR" sz="2400" kern="100" dirty="0">
                <a:effectLst/>
                <a:latin typeface="Aptos" panose="020B0004020202020204" pitchFamily="34" charset="0"/>
                <a:ea typeface="Aptos" panose="020B0004020202020204" pitchFamily="34" charset="0"/>
                <a:cs typeface="Times New Roman" panose="02020603050405020304" pitchFamily="18" charset="0"/>
              </a:rPr>
              <a:t> : Un microservice de paiement traite le paiement.</a:t>
            </a:r>
          </a:p>
          <a:p>
            <a:pPr marL="342900" lvl="0" indent="-342900">
              <a:lnSpc>
                <a:spcPct val="115000"/>
              </a:lnSpc>
              <a:spcAft>
                <a:spcPts val="800"/>
              </a:spcAft>
              <a:buSzPts val="1000"/>
              <a:buFont typeface="Symbol" panose="05050102010706020507" pitchFamily="18" charset="2"/>
              <a:buChar char=""/>
              <a:tabLst>
                <a:tab pos="457200" algn="l"/>
              </a:tabLst>
            </a:pPr>
            <a:r>
              <a:rPr lang="fr-FR" sz="2400" b="1" kern="100" dirty="0">
                <a:effectLst/>
                <a:latin typeface="Aptos" panose="020B0004020202020204" pitchFamily="34" charset="0"/>
                <a:ea typeface="Aptos" panose="020B0004020202020204" pitchFamily="34" charset="0"/>
                <a:cs typeface="Times New Roman" panose="02020603050405020304" pitchFamily="18" charset="0"/>
              </a:rPr>
              <a:t>Étape 3</a:t>
            </a:r>
            <a:r>
              <a:rPr lang="fr-FR" sz="2400" kern="100" dirty="0">
                <a:effectLst/>
                <a:latin typeface="Aptos" panose="020B0004020202020204" pitchFamily="34" charset="0"/>
                <a:ea typeface="Aptos" panose="020B0004020202020204" pitchFamily="34" charset="0"/>
                <a:cs typeface="Times New Roman" panose="02020603050405020304" pitchFamily="18" charset="0"/>
              </a:rPr>
              <a:t> : Un microservice de stock réserve le produit ou lance un achat fournisseur si le stock est épuisé. </a:t>
            </a:r>
          </a:p>
          <a:p>
            <a:pPr lvl="0">
              <a:lnSpc>
                <a:spcPct val="115000"/>
              </a:lnSpc>
              <a:spcAft>
                <a:spcPts val="800"/>
              </a:spcAft>
              <a:buSzPts val="1000"/>
              <a:tabLst>
                <a:tab pos="457200" algn="l"/>
              </a:tabLst>
            </a:pPr>
            <a:r>
              <a:rPr lang="fr-FR" sz="2400" b="1" kern="100" dirty="0">
                <a:effectLst/>
                <a:latin typeface="Aptos" panose="020B0004020202020204" pitchFamily="34" charset="0"/>
                <a:ea typeface="Aptos" panose="020B0004020202020204" pitchFamily="34" charset="0"/>
                <a:cs typeface="Times New Roman" panose="02020603050405020304" pitchFamily="18" charset="0"/>
              </a:rPr>
              <a:t>Si le paiement échoue</a:t>
            </a:r>
            <a:r>
              <a:rPr lang="fr-FR" sz="2400" kern="100" dirty="0">
                <a:effectLst/>
                <a:latin typeface="Aptos" panose="020B0004020202020204" pitchFamily="34" charset="0"/>
                <a:ea typeface="Aptos" panose="020B0004020202020204" pitchFamily="34" charset="0"/>
                <a:cs typeface="Times New Roman" panose="02020603050405020304" pitchFamily="18" charset="0"/>
              </a:rPr>
              <a:t>, une </a:t>
            </a:r>
            <a:r>
              <a:rPr lang="fr-FR" sz="2400" b="1" kern="100" dirty="0">
                <a:effectLst/>
                <a:latin typeface="Aptos" panose="020B0004020202020204" pitchFamily="34" charset="0"/>
                <a:ea typeface="Aptos" panose="020B0004020202020204" pitchFamily="34" charset="0"/>
                <a:cs typeface="Times New Roman" panose="02020603050405020304" pitchFamily="18" charset="0"/>
              </a:rPr>
              <a:t>action compensatoire </a:t>
            </a:r>
            <a:r>
              <a:rPr lang="fr-FR" sz="2400" kern="100" dirty="0">
                <a:effectLst/>
                <a:latin typeface="Aptos" panose="020B0004020202020204" pitchFamily="34" charset="0"/>
                <a:ea typeface="Aptos" panose="020B0004020202020204" pitchFamily="34" charset="0"/>
                <a:cs typeface="Times New Roman" panose="02020603050405020304" pitchFamily="18" charset="0"/>
              </a:rPr>
              <a:t>pourrait annuler la commande et libérer le stock ou annuler la commande fournisseur</a:t>
            </a:r>
            <a:r>
              <a:rPr lang="fr-FR" sz="2400" kern="100" dirty="0">
                <a:latin typeface="Aptos" panose="020B0004020202020204" pitchFamily="34" charset="0"/>
                <a:ea typeface="Aptos" panose="020B0004020202020204" pitchFamily="34" charset="0"/>
                <a:cs typeface="Times New Roman" panose="02020603050405020304" pitchFamily="18" charset="0"/>
              </a:rPr>
              <a:t>.</a:t>
            </a:r>
            <a:endParaRPr lang="fr-FR" sz="2400" kern="100" dirty="0">
              <a:effectLst/>
              <a:latin typeface="Aptos" panose="020B0004020202020204" pitchFamily="34" charset="0"/>
              <a:ea typeface="Aptos" panose="020B0004020202020204" pitchFamily="34" charset="0"/>
              <a:cs typeface="Times New Roman" panose="02020603050405020304" pitchFamily="18" charset="0"/>
            </a:endParaRPr>
          </a:p>
          <a:p>
            <a:pPr lvl="0">
              <a:lnSpc>
                <a:spcPct val="115000"/>
              </a:lnSpc>
              <a:spcAft>
                <a:spcPts val="800"/>
              </a:spcAft>
              <a:buSzPts val="1000"/>
              <a:tabLst>
                <a:tab pos="457200" algn="l"/>
              </a:tabLst>
            </a:pPr>
            <a:endParaRPr lang="fr-FR" sz="2400" kern="100" dirty="0">
              <a:latin typeface="Aptos" panose="020B0004020202020204" pitchFamily="34" charset="0"/>
              <a:ea typeface="Aptos" panose="020B0004020202020204" pitchFamily="34" charset="0"/>
              <a:cs typeface="Times New Roman" panose="02020603050405020304" pitchFamily="18" charset="0"/>
            </a:endParaRPr>
          </a:p>
          <a:p>
            <a:pPr lvl="0">
              <a:lnSpc>
                <a:spcPct val="115000"/>
              </a:lnSpc>
              <a:spcAft>
                <a:spcPts val="800"/>
              </a:spcAft>
              <a:buSzPts val="1000"/>
              <a:tabLst>
                <a:tab pos="457200" algn="l"/>
              </a:tabLst>
            </a:pPr>
            <a:r>
              <a:rPr lang="fr-FR" sz="2400" kern="100" dirty="0">
                <a:effectLst/>
                <a:latin typeface="Aptos" panose="020B0004020202020204" pitchFamily="34" charset="0"/>
                <a:ea typeface="Aptos" panose="020B0004020202020204" pitchFamily="34" charset="0"/>
                <a:cs typeface="Times New Roman" panose="02020603050405020304" pitchFamily="18" charset="0"/>
              </a:rPr>
              <a:t>Il existe deux (2) principaux types de Sagas : La </a:t>
            </a:r>
            <a:r>
              <a:rPr lang="fr-FR" sz="2400" b="1" kern="100" dirty="0">
                <a:effectLst/>
                <a:latin typeface="Aptos" panose="020B0004020202020204" pitchFamily="34" charset="0"/>
                <a:ea typeface="Aptos" panose="020B0004020202020204" pitchFamily="34" charset="0"/>
                <a:cs typeface="Times New Roman" panose="02020603050405020304" pitchFamily="18" charset="0"/>
              </a:rPr>
              <a:t>chorégraphie</a:t>
            </a:r>
            <a:r>
              <a:rPr lang="fr-FR" sz="2400" kern="100" dirty="0">
                <a:effectLst/>
                <a:latin typeface="Aptos" panose="020B0004020202020204" pitchFamily="34" charset="0"/>
                <a:ea typeface="Aptos" panose="020B0004020202020204" pitchFamily="34" charset="0"/>
                <a:cs typeface="Times New Roman" panose="02020603050405020304" pitchFamily="18" charset="0"/>
              </a:rPr>
              <a:t> et </a:t>
            </a:r>
            <a:r>
              <a:rPr lang="fr-FR" sz="2400" b="1" kern="100" dirty="0">
                <a:effectLst/>
                <a:latin typeface="Aptos" panose="020B0004020202020204" pitchFamily="34" charset="0"/>
                <a:ea typeface="Aptos" panose="020B0004020202020204" pitchFamily="34" charset="0"/>
                <a:cs typeface="Times New Roman" panose="02020603050405020304" pitchFamily="18" charset="0"/>
              </a:rPr>
              <a:t>l’orchestration.</a:t>
            </a:r>
          </a:p>
          <a:p>
            <a:pPr lvl="0">
              <a:lnSpc>
                <a:spcPct val="115000"/>
              </a:lnSpc>
              <a:spcAft>
                <a:spcPts val="800"/>
              </a:spcAft>
              <a:buSzPts val="1000"/>
              <a:tabLst>
                <a:tab pos="457200" algn="l"/>
              </a:tabLst>
            </a:pPr>
            <a:endParaRPr lang="fr-FR" sz="2400" kern="100" dirty="0">
              <a:effectLst/>
              <a:latin typeface="Aptos" panose="020B0004020202020204" pitchFamily="34" charset="0"/>
              <a:ea typeface="Aptos" panose="020B0004020202020204" pitchFamily="34" charset="0"/>
              <a:cs typeface="Times New Roman" panose="02020603050405020304" pitchFamily="18" charset="0"/>
            </a:endParaRPr>
          </a:p>
          <a:p>
            <a:pPr marL="228600">
              <a:lnSpc>
                <a:spcPct val="115000"/>
              </a:lnSpc>
              <a:spcAft>
                <a:spcPts val="800"/>
              </a:spcAft>
            </a:pPr>
            <a:endParaRPr lang="fr-FR" sz="22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4702577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72330-CB97-6C19-C851-C45C6A1E0C86}"/>
            </a:ext>
          </a:extLst>
        </p:cNvPr>
        <p:cNvGrpSpPr/>
        <p:nvPr/>
      </p:nvGrpSpPr>
      <p:grpSpPr>
        <a:xfrm>
          <a:off x="0" y="0"/>
          <a:ext cx="0" cy="0"/>
          <a:chOff x="0" y="0"/>
          <a:chExt cx="0" cy="0"/>
        </a:xfrm>
      </p:grpSpPr>
      <p:sp>
        <p:nvSpPr>
          <p:cNvPr id="4" name="Titre 1">
            <a:extLst>
              <a:ext uri="{FF2B5EF4-FFF2-40B4-BE49-F238E27FC236}">
                <a16:creationId xmlns:a16="http://schemas.microsoft.com/office/drawing/2014/main" id="{305183A9-B989-3A8E-FEA3-4EF6BA794869}"/>
              </a:ext>
            </a:extLst>
          </p:cNvPr>
          <p:cNvSpPr txBox="1">
            <a:spLocks/>
          </p:cNvSpPr>
          <p:nvPr/>
        </p:nvSpPr>
        <p:spPr>
          <a:xfrm>
            <a:off x="223520" y="284485"/>
            <a:ext cx="5116124" cy="42567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b="1" dirty="0"/>
              <a:t>Stratégie Saga : La chorégraphie</a:t>
            </a:r>
          </a:p>
        </p:txBody>
      </p:sp>
      <p:cxnSp>
        <p:nvCxnSpPr>
          <p:cNvPr id="5" name="Connecteur droit 4">
            <a:extLst>
              <a:ext uri="{FF2B5EF4-FFF2-40B4-BE49-F238E27FC236}">
                <a16:creationId xmlns:a16="http://schemas.microsoft.com/office/drawing/2014/main" id="{7562855C-951C-2B0A-721E-CB549F5A672B}"/>
              </a:ext>
            </a:extLst>
          </p:cNvPr>
          <p:cNvCxnSpPr>
            <a:cxnSpLocks/>
          </p:cNvCxnSpPr>
          <p:nvPr/>
        </p:nvCxnSpPr>
        <p:spPr>
          <a:xfrm>
            <a:off x="0" y="86754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Sous-titre 2">
            <a:extLst>
              <a:ext uri="{FF2B5EF4-FFF2-40B4-BE49-F238E27FC236}">
                <a16:creationId xmlns:a16="http://schemas.microsoft.com/office/drawing/2014/main" id="{7AA07B7F-FC84-A05D-1809-AD415D663BCC}"/>
              </a:ext>
            </a:extLst>
          </p:cNvPr>
          <p:cNvSpPr txBox="1">
            <a:spLocks/>
          </p:cNvSpPr>
          <p:nvPr/>
        </p:nvSpPr>
        <p:spPr>
          <a:xfrm>
            <a:off x="4324350" y="6643878"/>
            <a:ext cx="2890647" cy="2141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100" b="1">
                <a:solidFill>
                  <a:schemeClr val="tx2"/>
                </a:solidFill>
              </a:rPr>
              <a:t>Préparé et Présenté par Daniel  Lawson</a:t>
            </a:r>
            <a:endParaRPr lang="fr-FR" sz="1100" b="1" dirty="0">
              <a:solidFill>
                <a:schemeClr val="tx2"/>
              </a:solidFill>
            </a:endParaRPr>
          </a:p>
        </p:txBody>
      </p:sp>
      <p:sp>
        <p:nvSpPr>
          <p:cNvPr id="8" name="ZoneTexte 7">
            <a:extLst>
              <a:ext uri="{FF2B5EF4-FFF2-40B4-BE49-F238E27FC236}">
                <a16:creationId xmlns:a16="http://schemas.microsoft.com/office/drawing/2014/main" id="{E39120C9-FDD8-A714-3479-7787E047DD05}"/>
              </a:ext>
            </a:extLst>
          </p:cNvPr>
          <p:cNvSpPr txBox="1"/>
          <p:nvPr/>
        </p:nvSpPr>
        <p:spPr>
          <a:xfrm>
            <a:off x="223520" y="1115187"/>
            <a:ext cx="3545919" cy="4527393"/>
          </a:xfrm>
          <a:prstGeom prst="rect">
            <a:avLst/>
          </a:prstGeom>
          <a:noFill/>
        </p:spPr>
        <p:txBody>
          <a:bodyPr wrap="square">
            <a:spAutoFit/>
          </a:bodyPr>
          <a:lstStyle/>
          <a:p>
            <a:pPr lvl="0">
              <a:lnSpc>
                <a:spcPct val="115000"/>
              </a:lnSpc>
              <a:spcAft>
                <a:spcPts val="800"/>
              </a:spcAft>
              <a:buSzPts val="1000"/>
              <a:tabLst>
                <a:tab pos="457200" algn="l"/>
              </a:tabLst>
            </a:pPr>
            <a:r>
              <a:rPr lang="fr-FR" sz="2000" dirty="0">
                <a:effectLst/>
                <a:latin typeface="Aptos" panose="020B0004020202020204" pitchFamily="34" charset="0"/>
                <a:ea typeface="Aptos" panose="020B0004020202020204" pitchFamily="34" charset="0"/>
                <a:cs typeface="Times New Roman" panose="02020603050405020304" pitchFamily="18" charset="0"/>
              </a:rPr>
              <a:t>Dans le style Chorégraphie, chaque service émet un événement après avoir complété sa transaction locale, et les autres services écoutent et réagissent à ces événements. </a:t>
            </a:r>
          </a:p>
          <a:p>
            <a:pPr lvl="0">
              <a:lnSpc>
                <a:spcPct val="115000"/>
              </a:lnSpc>
              <a:spcAft>
                <a:spcPts val="800"/>
              </a:spcAft>
              <a:buSzPts val="1000"/>
              <a:tabLst>
                <a:tab pos="457200" algn="l"/>
              </a:tabLst>
            </a:pPr>
            <a:r>
              <a:rPr lang="fr-FR" sz="2000" dirty="0">
                <a:effectLst/>
                <a:latin typeface="Aptos" panose="020B0004020202020204" pitchFamily="34" charset="0"/>
                <a:ea typeface="Aptos" panose="020B0004020202020204" pitchFamily="34" charset="0"/>
                <a:cs typeface="Times New Roman" panose="02020603050405020304" pitchFamily="18" charset="0"/>
              </a:rPr>
              <a:t>Il n’y a pas de contrôleur central.</a:t>
            </a:r>
            <a:endParaRPr lang="fr-FR" sz="2000" dirty="0">
              <a:latin typeface="Aptos" panose="020B0004020202020204" pitchFamily="34" charset="0"/>
              <a:ea typeface="Aptos" panose="020B0004020202020204" pitchFamily="34" charset="0"/>
              <a:cs typeface="Times New Roman" panose="02020603050405020304" pitchFamily="18" charset="0"/>
            </a:endParaRPr>
          </a:p>
          <a:p>
            <a:pPr lvl="0">
              <a:lnSpc>
                <a:spcPct val="115000"/>
              </a:lnSpc>
              <a:spcAft>
                <a:spcPts val="800"/>
              </a:spcAft>
              <a:buSzPts val="1000"/>
              <a:tabLst>
                <a:tab pos="457200" algn="l"/>
              </a:tabLst>
            </a:pPr>
            <a:r>
              <a:rPr lang="fr-FR" sz="2000" dirty="0">
                <a:effectLst/>
                <a:latin typeface="Aptos" panose="020B0004020202020204" pitchFamily="34" charset="0"/>
                <a:ea typeface="Aptos" panose="020B0004020202020204" pitchFamily="34" charset="0"/>
                <a:cs typeface="Times New Roman" panose="02020603050405020304" pitchFamily="18" charset="0"/>
              </a:rPr>
              <a:t>Ci-contre </a:t>
            </a:r>
            <a:r>
              <a:rPr lang="fr-FR" sz="2000" b="1" dirty="0">
                <a:effectLst/>
                <a:latin typeface="Aptos" panose="020B0004020202020204" pitchFamily="34" charset="0"/>
                <a:ea typeface="Aptos" panose="020B0004020202020204" pitchFamily="34" charset="0"/>
                <a:cs typeface="Times New Roman" panose="02020603050405020304" pitchFamily="18" charset="0"/>
              </a:rPr>
              <a:t>un exemple de chorégraphie lorsque toutes les opérations réussissent</a:t>
            </a:r>
            <a:r>
              <a:rPr lang="fr-FR" sz="2000" b="1" dirty="0">
                <a:latin typeface="Aptos" panose="020B0004020202020204" pitchFamily="34" charset="0"/>
                <a:ea typeface="Aptos" panose="020B0004020202020204" pitchFamily="34" charset="0"/>
                <a:cs typeface="Times New Roman" panose="02020603050405020304" pitchFamily="18" charset="0"/>
              </a:rPr>
              <a:t>.</a:t>
            </a:r>
          </a:p>
        </p:txBody>
      </p:sp>
      <p:pic>
        <p:nvPicPr>
          <p:cNvPr id="3" name="Image 2">
            <a:extLst>
              <a:ext uri="{FF2B5EF4-FFF2-40B4-BE49-F238E27FC236}">
                <a16:creationId xmlns:a16="http://schemas.microsoft.com/office/drawing/2014/main" id="{B3A585D3-CEB5-C965-AB8A-AC45ADD8A89A}"/>
              </a:ext>
            </a:extLst>
          </p:cNvPr>
          <p:cNvPicPr>
            <a:picLocks noChangeAspect="1"/>
          </p:cNvPicPr>
          <p:nvPr/>
        </p:nvPicPr>
        <p:blipFill>
          <a:blip r:embed="rId2"/>
          <a:stretch>
            <a:fillRect/>
          </a:stretch>
        </p:blipFill>
        <p:spPr>
          <a:xfrm>
            <a:off x="3669957" y="898698"/>
            <a:ext cx="8522042" cy="5831786"/>
          </a:xfrm>
          <a:prstGeom prst="rect">
            <a:avLst/>
          </a:prstGeom>
        </p:spPr>
      </p:pic>
      <p:sp>
        <p:nvSpPr>
          <p:cNvPr id="7" name="ZoneTexte 6">
            <a:extLst>
              <a:ext uri="{FF2B5EF4-FFF2-40B4-BE49-F238E27FC236}">
                <a16:creationId xmlns:a16="http://schemas.microsoft.com/office/drawing/2014/main" id="{19A684CF-9582-C450-E3FB-085B7760DD0D}"/>
              </a:ext>
            </a:extLst>
          </p:cNvPr>
          <p:cNvSpPr txBox="1"/>
          <p:nvPr/>
        </p:nvSpPr>
        <p:spPr>
          <a:xfrm>
            <a:off x="9016313" y="898698"/>
            <a:ext cx="3175686" cy="646331"/>
          </a:xfrm>
          <a:prstGeom prst="rect">
            <a:avLst/>
          </a:prstGeom>
          <a:noFill/>
        </p:spPr>
        <p:txBody>
          <a:bodyPr wrap="square">
            <a:spAutoFit/>
          </a:bodyPr>
          <a:lstStyle/>
          <a:p>
            <a:r>
              <a:rPr lang="fr-FR" sz="1800" b="1" kern="100" dirty="0">
                <a:latin typeface="Aptos" panose="020B0004020202020204" pitchFamily="34" charset="0"/>
                <a:ea typeface="Aptos" panose="020B0004020202020204" pitchFamily="34" charset="0"/>
                <a:cs typeface="Times New Roman" panose="02020603050405020304" pitchFamily="18" charset="0"/>
              </a:rPr>
              <a:t>Source</a:t>
            </a:r>
            <a:r>
              <a:rPr lang="fr-FR" sz="1800" kern="100" dirty="0">
                <a:latin typeface="Aptos" panose="020B0004020202020204" pitchFamily="34" charset="0"/>
                <a:ea typeface="Aptos" panose="020B0004020202020204" pitchFamily="34" charset="0"/>
                <a:cs typeface="Times New Roman" panose="02020603050405020304" pitchFamily="18" charset="0"/>
              </a:rPr>
              <a:t> : Livre « </a:t>
            </a:r>
            <a:r>
              <a:rPr lang="fr-FR" sz="1800" kern="100" dirty="0" err="1">
                <a:latin typeface="Aptos" panose="020B0004020202020204" pitchFamily="34" charset="0"/>
                <a:ea typeface="Aptos" panose="020B0004020202020204" pitchFamily="34" charset="0"/>
                <a:cs typeface="Times New Roman" panose="02020603050405020304" pitchFamily="18" charset="0"/>
              </a:rPr>
              <a:t>Microservices</a:t>
            </a:r>
            <a:r>
              <a:rPr lang="fr-FR" sz="1800" kern="100" dirty="0">
                <a:latin typeface="Aptos" panose="020B0004020202020204" pitchFamily="34" charset="0"/>
                <a:ea typeface="Aptos" panose="020B0004020202020204" pitchFamily="34" charset="0"/>
                <a:cs typeface="Times New Roman" panose="02020603050405020304" pitchFamily="18" charset="0"/>
              </a:rPr>
              <a:t> Patterns », Chris </a:t>
            </a:r>
            <a:r>
              <a:rPr lang="fr-FR" sz="1800" kern="100" dirty="0" err="1">
                <a:latin typeface="Aptos" panose="020B0004020202020204" pitchFamily="34" charset="0"/>
                <a:ea typeface="Aptos" panose="020B0004020202020204" pitchFamily="34" charset="0"/>
                <a:cs typeface="Times New Roman" panose="02020603050405020304" pitchFamily="18" charset="0"/>
              </a:rPr>
              <a:t>Richarson</a:t>
            </a:r>
            <a:endParaRPr lang="fr-FR" dirty="0"/>
          </a:p>
        </p:txBody>
      </p:sp>
    </p:spTree>
    <p:extLst>
      <p:ext uri="{BB962C8B-B14F-4D97-AF65-F5344CB8AC3E}">
        <p14:creationId xmlns:p14="http://schemas.microsoft.com/office/powerpoint/2010/main" val="39930439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8F42A-3FBC-9F2E-EF95-0BC1B67CF966}"/>
            </a:ext>
          </a:extLst>
        </p:cNvPr>
        <p:cNvGrpSpPr/>
        <p:nvPr/>
      </p:nvGrpSpPr>
      <p:grpSpPr>
        <a:xfrm>
          <a:off x="0" y="0"/>
          <a:ext cx="0" cy="0"/>
          <a:chOff x="0" y="0"/>
          <a:chExt cx="0" cy="0"/>
        </a:xfrm>
      </p:grpSpPr>
      <p:sp>
        <p:nvSpPr>
          <p:cNvPr id="4" name="Titre 1">
            <a:extLst>
              <a:ext uri="{FF2B5EF4-FFF2-40B4-BE49-F238E27FC236}">
                <a16:creationId xmlns:a16="http://schemas.microsoft.com/office/drawing/2014/main" id="{250833CB-FD67-8383-C15B-7538BD448252}"/>
              </a:ext>
            </a:extLst>
          </p:cNvPr>
          <p:cNvSpPr txBox="1">
            <a:spLocks/>
          </p:cNvSpPr>
          <p:nvPr/>
        </p:nvSpPr>
        <p:spPr>
          <a:xfrm>
            <a:off x="223520" y="284485"/>
            <a:ext cx="5116124" cy="42567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b="1" dirty="0"/>
              <a:t>Stratégie Saga : La chorégraphie</a:t>
            </a:r>
          </a:p>
        </p:txBody>
      </p:sp>
      <p:cxnSp>
        <p:nvCxnSpPr>
          <p:cNvPr id="5" name="Connecteur droit 4">
            <a:extLst>
              <a:ext uri="{FF2B5EF4-FFF2-40B4-BE49-F238E27FC236}">
                <a16:creationId xmlns:a16="http://schemas.microsoft.com/office/drawing/2014/main" id="{2D396881-DD90-6271-CEC2-39353C99A584}"/>
              </a:ext>
            </a:extLst>
          </p:cNvPr>
          <p:cNvCxnSpPr>
            <a:cxnSpLocks/>
          </p:cNvCxnSpPr>
          <p:nvPr/>
        </p:nvCxnSpPr>
        <p:spPr>
          <a:xfrm>
            <a:off x="0" y="86754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Sous-titre 2">
            <a:extLst>
              <a:ext uri="{FF2B5EF4-FFF2-40B4-BE49-F238E27FC236}">
                <a16:creationId xmlns:a16="http://schemas.microsoft.com/office/drawing/2014/main" id="{32E2E651-B878-DA18-8E04-2294BBD46CD9}"/>
              </a:ext>
            </a:extLst>
          </p:cNvPr>
          <p:cNvSpPr txBox="1">
            <a:spLocks/>
          </p:cNvSpPr>
          <p:nvPr/>
        </p:nvSpPr>
        <p:spPr>
          <a:xfrm>
            <a:off x="4324350" y="6643878"/>
            <a:ext cx="2890647" cy="2141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100" b="1" dirty="0">
                <a:solidFill>
                  <a:schemeClr val="tx2"/>
                </a:solidFill>
              </a:rPr>
              <a:t>Préparé et Présenté par Daniel  Lawson</a:t>
            </a:r>
          </a:p>
        </p:txBody>
      </p:sp>
      <p:sp>
        <p:nvSpPr>
          <p:cNvPr id="8" name="ZoneTexte 7">
            <a:extLst>
              <a:ext uri="{FF2B5EF4-FFF2-40B4-BE49-F238E27FC236}">
                <a16:creationId xmlns:a16="http://schemas.microsoft.com/office/drawing/2014/main" id="{237FF614-79F5-2946-9265-0A74090D284C}"/>
              </a:ext>
            </a:extLst>
          </p:cNvPr>
          <p:cNvSpPr txBox="1"/>
          <p:nvPr/>
        </p:nvSpPr>
        <p:spPr>
          <a:xfrm>
            <a:off x="223520" y="1535319"/>
            <a:ext cx="3545919" cy="4527393"/>
          </a:xfrm>
          <a:prstGeom prst="rect">
            <a:avLst/>
          </a:prstGeom>
          <a:noFill/>
        </p:spPr>
        <p:txBody>
          <a:bodyPr wrap="square">
            <a:spAutoFit/>
          </a:bodyPr>
          <a:lstStyle/>
          <a:p>
            <a:pPr lvl="0">
              <a:lnSpc>
                <a:spcPct val="115000"/>
              </a:lnSpc>
              <a:spcAft>
                <a:spcPts val="800"/>
              </a:spcAft>
              <a:buSzPts val="1000"/>
              <a:tabLst>
                <a:tab pos="457200" algn="l"/>
              </a:tabLst>
            </a:pPr>
            <a:r>
              <a:rPr lang="fr-FR" sz="2000" b="1" dirty="0">
                <a:effectLst/>
                <a:latin typeface="Aptos" panose="020B0004020202020204" pitchFamily="34" charset="0"/>
                <a:ea typeface="Aptos" panose="020B0004020202020204" pitchFamily="34" charset="0"/>
                <a:cs typeface="Times New Roman" panose="02020603050405020304" pitchFamily="18" charset="0"/>
              </a:rPr>
              <a:t>Que se passe-t-il lorsque que l’une de ces opérations échoue ?</a:t>
            </a:r>
          </a:p>
          <a:p>
            <a:pPr lvl="0">
              <a:lnSpc>
                <a:spcPct val="115000"/>
              </a:lnSpc>
              <a:spcAft>
                <a:spcPts val="800"/>
              </a:spcAft>
              <a:buSzPts val="1000"/>
              <a:tabLst>
                <a:tab pos="457200" algn="l"/>
              </a:tabLst>
            </a:pPr>
            <a:r>
              <a:rPr lang="fr-FR" sz="2000" dirty="0">
                <a:latin typeface="Aptos" panose="020B0004020202020204" pitchFamily="34" charset="0"/>
                <a:ea typeface="Aptos" panose="020B0004020202020204" pitchFamily="34" charset="0"/>
                <a:cs typeface="Times New Roman" panose="02020603050405020304" pitchFamily="18" charset="0"/>
              </a:rPr>
              <a:t>Des actions compensatoires correspondant à des messages d’échec sont exécutées pour ramener le système à son état initial.</a:t>
            </a:r>
          </a:p>
          <a:p>
            <a:pPr lvl="0">
              <a:lnSpc>
                <a:spcPct val="115000"/>
              </a:lnSpc>
              <a:spcAft>
                <a:spcPts val="800"/>
              </a:spcAft>
              <a:buSzPts val="1000"/>
              <a:tabLst>
                <a:tab pos="457200" algn="l"/>
              </a:tabLst>
            </a:pPr>
            <a:r>
              <a:rPr lang="fr-FR" sz="2000" dirty="0">
                <a:effectLst/>
                <a:latin typeface="Aptos" panose="020B0004020202020204" pitchFamily="34" charset="0"/>
                <a:ea typeface="Aptos" panose="020B0004020202020204" pitchFamily="34" charset="0"/>
                <a:cs typeface="Times New Roman" panose="02020603050405020304" pitchFamily="18" charset="0"/>
              </a:rPr>
              <a:t>Ci-contre </a:t>
            </a:r>
            <a:r>
              <a:rPr lang="fr-FR" sz="2000" b="1" dirty="0">
                <a:effectLst/>
                <a:latin typeface="Aptos" panose="020B0004020202020204" pitchFamily="34" charset="0"/>
                <a:ea typeface="Aptos" panose="020B0004020202020204" pitchFamily="34" charset="0"/>
                <a:cs typeface="Times New Roman" panose="02020603050405020304" pitchFamily="18" charset="0"/>
              </a:rPr>
              <a:t>un exemple de chorégraphie lorsque l’étape de validation de la carte de crédit a échoué. </a:t>
            </a:r>
            <a:endParaRPr lang="fr-FR" sz="20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7" name="Image 6">
            <a:extLst>
              <a:ext uri="{FF2B5EF4-FFF2-40B4-BE49-F238E27FC236}">
                <a16:creationId xmlns:a16="http://schemas.microsoft.com/office/drawing/2014/main" id="{746D12E3-AD88-850B-B851-3B38D2C2EED8}"/>
              </a:ext>
            </a:extLst>
          </p:cNvPr>
          <p:cNvPicPr>
            <a:picLocks noChangeAspect="1"/>
          </p:cNvPicPr>
          <p:nvPr/>
        </p:nvPicPr>
        <p:blipFill>
          <a:blip r:embed="rId2"/>
          <a:stretch>
            <a:fillRect/>
          </a:stretch>
        </p:blipFill>
        <p:spPr>
          <a:xfrm>
            <a:off x="3769439" y="1024940"/>
            <a:ext cx="8332939" cy="5467159"/>
          </a:xfrm>
          <a:prstGeom prst="rect">
            <a:avLst/>
          </a:prstGeom>
        </p:spPr>
      </p:pic>
    </p:spTree>
    <p:extLst>
      <p:ext uri="{BB962C8B-B14F-4D97-AF65-F5344CB8AC3E}">
        <p14:creationId xmlns:p14="http://schemas.microsoft.com/office/powerpoint/2010/main" val="11390473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6A6AF-7009-88EA-01E3-12295F2910F4}"/>
            </a:ext>
          </a:extLst>
        </p:cNvPr>
        <p:cNvGrpSpPr/>
        <p:nvPr/>
      </p:nvGrpSpPr>
      <p:grpSpPr>
        <a:xfrm>
          <a:off x="0" y="0"/>
          <a:ext cx="0" cy="0"/>
          <a:chOff x="0" y="0"/>
          <a:chExt cx="0" cy="0"/>
        </a:xfrm>
      </p:grpSpPr>
      <p:pic>
        <p:nvPicPr>
          <p:cNvPr id="1028" name="Picture 4" descr="Pros and cons concept illustration">
            <a:extLst>
              <a:ext uri="{FF2B5EF4-FFF2-40B4-BE49-F238E27FC236}">
                <a16:creationId xmlns:a16="http://schemas.microsoft.com/office/drawing/2014/main" id="{D46EE1C6-B99D-9B5E-FBDB-2B1FDC00DC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16922" y="1272398"/>
            <a:ext cx="4477587" cy="4477587"/>
          </a:xfrm>
          <a:prstGeom prst="rect">
            <a:avLst/>
          </a:prstGeom>
          <a:noFill/>
          <a:extLst>
            <a:ext uri="{909E8E84-426E-40DD-AFC4-6F175D3DCCD1}">
              <a14:hiddenFill xmlns:a14="http://schemas.microsoft.com/office/drawing/2010/main">
                <a:solidFill>
                  <a:srgbClr val="FFFFFF"/>
                </a:solidFill>
              </a14:hiddenFill>
            </a:ext>
          </a:extLst>
        </p:spPr>
      </p:pic>
      <p:sp>
        <p:nvSpPr>
          <p:cNvPr id="4" name="Titre 1">
            <a:extLst>
              <a:ext uri="{FF2B5EF4-FFF2-40B4-BE49-F238E27FC236}">
                <a16:creationId xmlns:a16="http://schemas.microsoft.com/office/drawing/2014/main" id="{96019370-A4D3-A033-86CB-4AB9DEB55594}"/>
              </a:ext>
            </a:extLst>
          </p:cNvPr>
          <p:cNvSpPr txBox="1">
            <a:spLocks/>
          </p:cNvSpPr>
          <p:nvPr/>
        </p:nvSpPr>
        <p:spPr>
          <a:xfrm>
            <a:off x="223520" y="284485"/>
            <a:ext cx="7471824" cy="42567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b="1" dirty="0"/>
              <a:t>Chorégraphie: Avantages et inconvénients</a:t>
            </a:r>
          </a:p>
        </p:txBody>
      </p:sp>
      <p:cxnSp>
        <p:nvCxnSpPr>
          <p:cNvPr id="5" name="Connecteur droit 4">
            <a:extLst>
              <a:ext uri="{FF2B5EF4-FFF2-40B4-BE49-F238E27FC236}">
                <a16:creationId xmlns:a16="http://schemas.microsoft.com/office/drawing/2014/main" id="{105AC67A-C262-7348-3378-195001A52CEC}"/>
              </a:ext>
            </a:extLst>
          </p:cNvPr>
          <p:cNvCxnSpPr>
            <a:cxnSpLocks/>
          </p:cNvCxnSpPr>
          <p:nvPr/>
        </p:nvCxnSpPr>
        <p:spPr>
          <a:xfrm>
            <a:off x="0" y="86754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Sous-titre 2">
            <a:extLst>
              <a:ext uri="{FF2B5EF4-FFF2-40B4-BE49-F238E27FC236}">
                <a16:creationId xmlns:a16="http://schemas.microsoft.com/office/drawing/2014/main" id="{331EBBBF-D9CD-DDD5-FB4B-F28F4DFD9B52}"/>
              </a:ext>
            </a:extLst>
          </p:cNvPr>
          <p:cNvSpPr txBox="1">
            <a:spLocks/>
          </p:cNvSpPr>
          <p:nvPr/>
        </p:nvSpPr>
        <p:spPr>
          <a:xfrm>
            <a:off x="4324350" y="6643878"/>
            <a:ext cx="2890647" cy="2141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100" b="1">
                <a:solidFill>
                  <a:schemeClr val="tx2"/>
                </a:solidFill>
              </a:rPr>
              <a:t>Préparé et Présenté par Daniel  Lawson</a:t>
            </a:r>
            <a:endParaRPr lang="fr-FR" sz="1100" b="1" dirty="0">
              <a:solidFill>
                <a:schemeClr val="tx2"/>
              </a:solidFill>
            </a:endParaRPr>
          </a:p>
        </p:txBody>
      </p:sp>
      <p:sp>
        <p:nvSpPr>
          <p:cNvPr id="8" name="ZoneTexte 7">
            <a:extLst>
              <a:ext uri="{FF2B5EF4-FFF2-40B4-BE49-F238E27FC236}">
                <a16:creationId xmlns:a16="http://schemas.microsoft.com/office/drawing/2014/main" id="{6424308A-0D6E-0A6F-8B07-530F06EBD44E}"/>
              </a:ext>
            </a:extLst>
          </p:cNvPr>
          <p:cNvSpPr txBox="1"/>
          <p:nvPr/>
        </p:nvSpPr>
        <p:spPr>
          <a:xfrm>
            <a:off x="223519" y="993116"/>
            <a:ext cx="7471825" cy="5121915"/>
          </a:xfrm>
          <a:prstGeom prst="rect">
            <a:avLst/>
          </a:prstGeom>
          <a:noFill/>
        </p:spPr>
        <p:txBody>
          <a:bodyPr wrap="square">
            <a:spAutoFit/>
          </a:bodyPr>
          <a:lstStyle/>
          <a:p>
            <a:pPr>
              <a:lnSpc>
                <a:spcPct val="115000"/>
              </a:lnSpc>
              <a:spcAft>
                <a:spcPts val="800"/>
              </a:spcAft>
            </a:pPr>
            <a:r>
              <a:rPr lang="fr-FR" sz="2200" b="1" kern="100" dirty="0">
                <a:effectLst/>
                <a:latin typeface="Aptos" panose="020B0004020202020204" pitchFamily="34" charset="0"/>
                <a:ea typeface="Aptos" panose="020B0004020202020204" pitchFamily="34" charset="0"/>
                <a:cs typeface="Times New Roman" panose="02020603050405020304" pitchFamily="18" charset="0"/>
              </a:rPr>
              <a:t>Avantages</a:t>
            </a:r>
            <a:endParaRPr lang="fr-FR" sz="22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Arial" panose="020B0604020202020204" pitchFamily="34" charset="0"/>
              <a:buChar char="•"/>
              <a:tabLst>
                <a:tab pos="457200" algn="l"/>
              </a:tabLst>
            </a:pPr>
            <a:r>
              <a:rPr lang="fr-FR" sz="2000" b="1" kern="100" dirty="0">
                <a:effectLst/>
                <a:latin typeface="Aptos" panose="020B0004020202020204" pitchFamily="34" charset="0"/>
                <a:ea typeface="Aptos" panose="020B0004020202020204" pitchFamily="34" charset="0"/>
                <a:cs typeface="Times New Roman" panose="02020603050405020304" pitchFamily="18" charset="0"/>
              </a:rPr>
              <a:t>Autonomie des </a:t>
            </a:r>
            <a:r>
              <a:rPr lang="fr-FR" sz="2000" b="1" kern="100" dirty="0" err="1">
                <a:effectLst/>
                <a:latin typeface="Aptos" panose="020B0004020202020204" pitchFamily="34" charset="0"/>
                <a:ea typeface="Aptos" panose="020B0004020202020204" pitchFamily="34" charset="0"/>
                <a:cs typeface="Times New Roman" panose="02020603050405020304" pitchFamily="18" charset="0"/>
              </a:rPr>
              <a:t>microservices</a:t>
            </a:r>
            <a:r>
              <a:rPr lang="fr-FR" sz="2000" kern="100" dirty="0">
                <a:effectLst/>
                <a:latin typeface="Aptos" panose="020B0004020202020204" pitchFamily="34" charset="0"/>
                <a:ea typeface="Aptos" panose="020B0004020202020204" pitchFamily="34" charset="0"/>
                <a:cs typeface="Times New Roman" panose="02020603050405020304" pitchFamily="18" charset="0"/>
              </a:rPr>
              <a:t> : Chaque microservice est indépendant, ne nécessitant pas de coordonnateur central. Cela favorise un couplage faible entre les services.</a:t>
            </a:r>
          </a:p>
          <a:p>
            <a:pPr marL="342900" lvl="0" indent="-342900">
              <a:lnSpc>
                <a:spcPct val="115000"/>
              </a:lnSpc>
              <a:spcAft>
                <a:spcPts val="800"/>
              </a:spcAft>
              <a:buFont typeface="Arial" panose="020B0604020202020204" pitchFamily="34" charset="0"/>
              <a:buChar char="•"/>
              <a:tabLst>
                <a:tab pos="457200" algn="l"/>
              </a:tabLst>
            </a:pPr>
            <a:r>
              <a:rPr lang="fr-FR" sz="2000" b="1" kern="100" dirty="0">
                <a:effectLst/>
                <a:latin typeface="Aptos" panose="020B0004020202020204" pitchFamily="34" charset="0"/>
                <a:ea typeface="Aptos" panose="020B0004020202020204" pitchFamily="34" charset="0"/>
                <a:cs typeface="Times New Roman" panose="02020603050405020304" pitchFamily="18" charset="0"/>
              </a:rPr>
              <a:t>Évolutivité</a:t>
            </a:r>
            <a:r>
              <a:rPr lang="fr-FR" sz="2000" kern="100" dirty="0">
                <a:effectLst/>
                <a:latin typeface="Aptos" panose="020B0004020202020204" pitchFamily="34" charset="0"/>
                <a:ea typeface="Aptos" panose="020B0004020202020204" pitchFamily="34" charset="0"/>
                <a:cs typeface="Times New Roman" panose="02020603050405020304" pitchFamily="18" charset="0"/>
              </a:rPr>
              <a:t> : Puisqu’il n’y a pas de point de contrôle centralisé, le modèle est naturellement plus facile à faire évoluer.</a:t>
            </a:r>
          </a:p>
          <a:p>
            <a:pPr marL="342900" lvl="0" indent="-342900">
              <a:lnSpc>
                <a:spcPct val="115000"/>
              </a:lnSpc>
              <a:spcAft>
                <a:spcPts val="800"/>
              </a:spcAft>
              <a:buFont typeface="Arial" panose="020B0604020202020204" pitchFamily="34" charset="0"/>
              <a:buChar char="•"/>
              <a:tabLst>
                <a:tab pos="457200" algn="l"/>
              </a:tabLst>
            </a:pPr>
            <a:r>
              <a:rPr lang="fr-FR" sz="2000" b="1" kern="100" dirty="0">
                <a:effectLst/>
                <a:latin typeface="Aptos" panose="020B0004020202020204" pitchFamily="34" charset="0"/>
                <a:ea typeface="Aptos" panose="020B0004020202020204" pitchFamily="34" charset="0"/>
                <a:cs typeface="Times New Roman" panose="02020603050405020304" pitchFamily="18" charset="0"/>
              </a:rPr>
              <a:t>Simplicité de l’implémentation pour des scénarios simples</a:t>
            </a:r>
            <a:r>
              <a:rPr lang="fr-FR" sz="2000" kern="100" dirty="0">
                <a:effectLst/>
                <a:latin typeface="Aptos" panose="020B0004020202020204" pitchFamily="34" charset="0"/>
                <a:ea typeface="Aptos" panose="020B0004020202020204" pitchFamily="34" charset="0"/>
                <a:cs typeface="Times New Roman" panose="02020603050405020304" pitchFamily="18" charset="0"/>
              </a:rPr>
              <a:t> : Pour des flux simples, où les </a:t>
            </a:r>
            <a:r>
              <a:rPr lang="fr-FR" sz="2000" kern="100" dirty="0" err="1">
                <a:effectLst/>
                <a:latin typeface="Aptos" panose="020B0004020202020204" pitchFamily="34" charset="0"/>
                <a:ea typeface="Aptos" panose="020B0004020202020204" pitchFamily="34" charset="0"/>
                <a:cs typeface="Times New Roman" panose="02020603050405020304" pitchFamily="18" charset="0"/>
              </a:rPr>
              <a:t>microservices</a:t>
            </a:r>
            <a:r>
              <a:rPr lang="fr-FR" sz="2000" kern="100" dirty="0">
                <a:effectLst/>
                <a:latin typeface="Aptos" panose="020B0004020202020204" pitchFamily="34" charset="0"/>
                <a:ea typeface="Aptos" panose="020B0004020202020204" pitchFamily="34" charset="0"/>
                <a:cs typeface="Times New Roman" panose="02020603050405020304" pitchFamily="18" charset="0"/>
              </a:rPr>
              <a:t> ont des interactions claires et bien définies, la chorégraphie peut être une solution facile à mettre en place.</a:t>
            </a:r>
          </a:p>
          <a:p>
            <a:pPr marL="342900" lvl="0" indent="-342900">
              <a:lnSpc>
                <a:spcPct val="115000"/>
              </a:lnSpc>
              <a:spcAft>
                <a:spcPts val="800"/>
              </a:spcAft>
              <a:buFont typeface="Arial" panose="020B0604020202020204" pitchFamily="34" charset="0"/>
              <a:buChar char="•"/>
              <a:tabLst>
                <a:tab pos="457200" algn="l"/>
              </a:tabLst>
            </a:pPr>
            <a:r>
              <a:rPr lang="fr-FR" sz="2000" b="1" kern="100" dirty="0">
                <a:effectLst/>
                <a:latin typeface="Aptos" panose="020B0004020202020204" pitchFamily="34" charset="0"/>
                <a:ea typeface="Aptos" panose="020B0004020202020204" pitchFamily="34" charset="0"/>
                <a:cs typeface="Times New Roman" panose="02020603050405020304" pitchFamily="18" charset="0"/>
              </a:rPr>
              <a:t>Réduction du point de défaillance unique</a:t>
            </a:r>
            <a:r>
              <a:rPr lang="fr-FR" sz="2000" kern="100" dirty="0">
                <a:effectLst/>
                <a:latin typeface="Aptos" panose="020B0004020202020204" pitchFamily="34" charset="0"/>
                <a:ea typeface="Aptos" panose="020B0004020202020204" pitchFamily="34" charset="0"/>
                <a:cs typeface="Times New Roman" panose="02020603050405020304" pitchFamily="18" charset="0"/>
              </a:rPr>
              <a:t> : Il n’y a pas d’orchestrateur central dont l’échec pourrait interrompre l’ensemble du processus.</a:t>
            </a:r>
          </a:p>
        </p:txBody>
      </p:sp>
    </p:spTree>
    <p:extLst>
      <p:ext uri="{BB962C8B-B14F-4D97-AF65-F5344CB8AC3E}">
        <p14:creationId xmlns:p14="http://schemas.microsoft.com/office/powerpoint/2010/main" val="8771747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E1DC1-D2B3-D16C-ED55-99EE0CE62D8D}"/>
            </a:ext>
          </a:extLst>
        </p:cNvPr>
        <p:cNvGrpSpPr/>
        <p:nvPr/>
      </p:nvGrpSpPr>
      <p:grpSpPr>
        <a:xfrm>
          <a:off x="0" y="0"/>
          <a:ext cx="0" cy="0"/>
          <a:chOff x="0" y="0"/>
          <a:chExt cx="0" cy="0"/>
        </a:xfrm>
      </p:grpSpPr>
      <p:pic>
        <p:nvPicPr>
          <p:cNvPr id="1028" name="Picture 4" descr="Pros and cons concept illustration">
            <a:extLst>
              <a:ext uri="{FF2B5EF4-FFF2-40B4-BE49-F238E27FC236}">
                <a16:creationId xmlns:a16="http://schemas.microsoft.com/office/drawing/2014/main" id="{6090E311-C13B-E1CD-C3B7-A918F06AD6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16922" y="1272398"/>
            <a:ext cx="4477587" cy="4477587"/>
          </a:xfrm>
          <a:prstGeom prst="rect">
            <a:avLst/>
          </a:prstGeom>
          <a:noFill/>
          <a:extLst>
            <a:ext uri="{909E8E84-426E-40DD-AFC4-6F175D3DCCD1}">
              <a14:hiddenFill xmlns:a14="http://schemas.microsoft.com/office/drawing/2010/main">
                <a:solidFill>
                  <a:srgbClr val="FFFFFF"/>
                </a:solidFill>
              </a14:hiddenFill>
            </a:ext>
          </a:extLst>
        </p:spPr>
      </p:pic>
      <p:sp>
        <p:nvSpPr>
          <p:cNvPr id="4" name="Titre 1">
            <a:extLst>
              <a:ext uri="{FF2B5EF4-FFF2-40B4-BE49-F238E27FC236}">
                <a16:creationId xmlns:a16="http://schemas.microsoft.com/office/drawing/2014/main" id="{3B190013-A8C4-9878-E0A4-156BD9B1A191}"/>
              </a:ext>
            </a:extLst>
          </p:cNvPr>
          <p:cNvSpPr txBox="1">
            <a:spLocks/>
          </p:cNvSpPr>
          <p:nvPr/>
        </p:nvSpPr>
        <p:spPr>
          <a:xfrm>
            <a:off x="223520" y="284485"/>
            <a:ext cx="7471824" cy="42567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b="1" dirty="0"/>
              <a:t>Chorégraphie: Avantages et inconvénients</a:t>
            </a:r>
          </a:p>
        </p:txBody>
      </p:sp>
      <p:cxnSp>
        <p:nvCxnSpPr>
          <p:cNvPr id="5" name="Connecteur droit 4">
            <a:extLst>
              <a:ext uri="{FF2B5EF4-FFF2-40B4-BE49-F238E27FC236}">
                <a16:creationId xmlns:a16="http://schemas.microsoft.com/office/drawing/2014/main" id="{A31A63F7-3CC6-9448-B137-08BDF9C8B6C7}"/>
              </a:ext>
            </a:extLst>
          </p:cNvPr>
          <p:cNvCxnSpPr>
            <a:cxnSpLocks/>
          </p:cNvCxnSpPr>
          <p:nvPr/>
        </p:nvCxnSpPr>
        <p:spPr>
          <a:xfrm>
            <a:off x="0" y="86754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Sous-titre 2">
            <a:extLst>
              <a:ext uri="{FF2B5EF4-FFF2-40B4-BE49-F238E27FC236}">
                <a16:creationId xmlns:a16="http://schemas.microsoft.com/office/drawing/2014/main" id="{24B3B303-CB34-0843-36CD-D243BF7DF864}"/>
              </a:ext>
            </a:extLst>
          </p:cNvPr>
          <p:cNvSpPr txBox="1">
            <a:spLocks/>
          </p:cNvSpPr>
          <p:nvPr/>
        </p:nvSpPr>
        <p:spPr>
          <a:xfrm>
            <a:off x="4324350" y="6643878"/>
            <a:ext cx="2890647" cy="2141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100" b="1">
                <a:solidFill>
                  <a:schemeClr val="tx2"/>
                </a:solidFill>
              </a:rPr>
              <a:t>Préparé et Présenté par Daniel  Lawson</a:t>
            </a:r>
            <a:endParaRPr lang="fr-FR" sz="1100" b="1" dirty="0">
              <a:solidFill>
                <a:schemeClr val="tx2"/>
              </a:solidFill>
            </a:endParaRPr>
          </a:p>
        </p:txBody>
      </p:sp>
      <p:sp>
        <p:nvSpPr>
          <p:cNvPr id="8" name="ZoneTexte 7">
            <a:extLst>
              <a:ext uri="{FF2B5EF4-FFF2-40B4-BE49-F238E27FC236}">
                <a16:creationId xmlns:a16="http://schemas.microsoft.com/office/drawing/2014/main" id="{D00BB78B-39C3-C192-2A33-9E158563B11F}"/>
              </a:ext>
            </a:extLst>
          </p:cNvPr>
          <p:cNvSpPr txBox="1"/>
          <p:nvPr/>
        </p:nvSpPr>
        <p:spPr>
          <a:xfrm>
            <a:off x="223519" y="993116"/>
            <a:ext cx="7471825" cy="5337872"/>
          </a:xfrm>
          <a:prstGeom prst="rect">
            <a:avLst/>
          </a:prstGeom>
          <a:noFill/>
        </p:spPr>
        <p:txBody>
          <a:bodyPr wrap="square">
            <a:spAutoFit/>
          </a:bodyPr>
          <a:lstStyle/>
          <a:p>
            <a:pPr>
              <a:lnSpc>
                <a:spcPct val="115000"/>
              </a:lnSpc>
              <a:spcAft>
                <a:spcPts val="800"/>
              </a:spcAft>
            </a:pPr>
            <a:r>
              <a:rPr lang="fr-FR" sz="2200" b="1" kern="100" dirty="0">
                <a:effectLst/>
                <a:latin typeface="Aptos" panose="020B0004020202020204" pitchFamily="34" charset="0"/>
                <a:ea typeface="Aptos" panose="020B0004020202020204" pitchFamily="34" charset="0"/>
                <a:cs typeface="Times New Roman" panose="02020603050405020304" pitchFamily="18" charset="0"/>
              </a:rPr>
              <a:t>Inconvénients</a:t>
            </a:r>
            <a:endParaRPr lang="fr-FR" sz="22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Arial" panose="020B0604020202020204" pitchFamily="34" charset="0"/>
              <a:buChar char="•"/>
              <a:tabLst>
                <a:tab pos="457200" algn="l"/>
              </a:tabLst>
            </a:pPr>
            <a:r>
              <a:rPr lang="fr-FR" sz="2000" b="1" kern="100" dirty="0">
                <a:effectLst/>
                <a:latin typeface="Aptos" panose="020B0004020202020204" pitchFamily="34" charset="0"/>
                <a:ea typeface="Aptos" panose="020B0004020202020204" pitchFamily="34" charset="0"/>
                <a:cs typeface="Times New Roman" panose="02020603050405020304" pitchFamily="18" charset="0"/>
              </a:rPr>
              <a:t>Gestion de la complexité</a:t>
            </a:r>
            <a:r>
              <a:rPr lang="fr-FR" sz="2000" kern="100" dirty="0">
                <a:effectLst/>
                <a:latin typeface="Aptos" panose="020B0004020202020204" pitchFamily="34" charset="0"/>
                <a:ea typeface="Aptos" panose="020B0004020202020204" pitchFamily="34" charset="0"/>
                <a:cs typeface="Times New Roman" panose="02020603050405020304" pitchFamily="18" charset="0"/>
              </a:rPr>
              <a:t> : Si le nombre de services ou la complexité du flux d'événements augmente, il devient difficile de comprendre et de suivre l’ordre des transactions. Les interactions deviennent imprévisibles, et des </a:t>
            </a:r>
            <a:r>
              <a:rPr lang="fr-FR" sz="2000" b="1" kern="100" dirty="0">
                <a:effectLst/>
                <a:latin typeface="Aptos" panose="020B0004020202020204" pitchFamily="34" charset="0"/>
                <a:ea typeface="Aptos" panose="020B0004020202020204" pitchFamily="34" charset="0"/>
                <a:cs typeface="Times New Roman" panose="02020603050405020304" pitchFamily="18" charset="0"/>
              </a:rPr>
              <a:t>dépendances cachées</a:t>
            </a:r>
            <a:r>
              <a:rPr lang="fr-FR" sz="2000" kern="100" dirty="0">
                <a:effectLst/>
                <a:latin typeface="Aptos" panose="020B0004020202020204" pitchFamily="34" charset="0"/>
                <a:ea typeface="Aptos" panose="020B0004020202020204" pitchFamily="34" charset="0"/>
                <a:cs typeface="Times New Roman" panose="02020603050405020304" pitchFamily="18" charset="0"/>
              </a:rPr>
              <a:t> peuvent apparaître entre les services.</a:t>
            </a:r>
          </a:p>
          <a:p>
            <a:pPr marL="342900" lvl="0" indent="-342900">
              <a:lnSpc>
                <a:spcPct val="115000"/>
              </a:lnSpc>
              <a:spcAft>
                <a:spcPts val="800"/>
              </a:spcAft>
              <a:buFont typeface="Arial" panose="020B0604020202020204" pitchFamily="34" charset="0"/>
              <a:buChar char="•"/>
              <a:tabLst>
                <a:tab pos="457200" algn="l"/>
              </a:tabLst>
            </a:pPr>
            <a:r>
              <a:rPr lang="fr-FR" sz="2000" b="1" kern="100" dirty="0">
                <a:effectLst/>
                <a:latin typeface="Aptos" panose="020B0004020202020204" pitchFamily="34" charset="0"/>
                <a:ea typeface="Aptos" panose="020B0004020202020204" pitchFamily="34" charset="0"/>
                <a:cs typeface="Times New Roman" panose="02020603050405020304" pitchFamily="18" charset="0"/>
              </a:rPr>
              <a:t>Risque de "</a:t>
            </a:r>
            <a:r>
              <a:rPr lang="fr-FR" sz="2000" b="1" kern="100" dirty="0" err="1">
                <a:effectLst/>
                <a:latin typeface="Aptos" panose="020B0004020202020204" pitchFamily="34" charset="0"/>
                <a:ea typeface="Aptos" panose="020B0004020202020204" pitchFamily="34" charset="0"/>
                <a:cs typeface="Times New Roman" panose="02020603050405020304" pitchFamily="18" charset="0"/>
              </a:rPr>
              <a:t>cascading</a:t>
            </a:r>
            <a:r>
              <a:rPr lang="fr-FR" sz="2000" b="1" kern="100" dirty="0">
                <a:effectLst/>
                <a:latin typeface="Aptos" panose="020B0004020202020204" pitchFamily="34" charset="0"/>
                <a:ea typeface="Aptos" panose="020B0004020202020204" pitchFamily="34" charset="0"/>
                <a:cs typeface="Times New Roman" panose="02020603050405020304" pitchFamily="18" charset="0"/>
              </a:rPr>
              <a:t> </a:t>
            </a:r>
            <a:r>
              <a:rPr lang="fr-FR" sz="2000" b="1" kern="100" dirty="0" err="1">
                <a:effectLst/>
                <a:latin typeface="Aptos" panose="020B0004020202020204" pitchFamily="34" charset="0"/>
                <a:ea typeface="Aptos" panose="020B0004020202020204" pitchFamily="34" charset="0"/>
                <a:cs typeface="Times New Roman" panose="02020603050405020304" pitchFamily="18" charset="0"/>
              </a:rPr>
              <a:t>failure</a:t>
            </a:r>
            <a:r>
              <a:rPr lang="fr-FR" sz="2000" b="1" kern="100" dirty="0">
                <a:effectLst/>
                <a:latin typeface="Aptos" panose="020B0004020202020204" pitchFamily="34" charset="0"/>
                <a:ea typeface="Aptos" panose="020B0004020202020204" pitchFamily="34" charset="0"/>
                <a:cs typeface="Times New Roman" panose="02020603050405020304" pitchFamily="18" charset="0"/>
              </a:rPr>
              <a:t>"</a:t>
            </a:r>
            <a:r>
              <a:rPr lang="fr-FR" sz="2000" kern="100" dirty="0">
                <a:effectLst/>
                <a:latin typeface="Aptos" panose="020B0004020202020204" pitchFamily="34" charset="0"/>
                <a:ea typeface="Aptos" panose="020B0004020202020204" pitchFamily="34" charset="0"/>
                <a:cs typeface="Times New Roman" panose="02020603050405020304" pitchFamily="18" charset="0"/>
              </a:rPr>
              <a:t> : Une erreur dans un service peut entraîner une cascade d'erreurs dans d'autres services, car il n’y a pas de contrôle centralisé pour gérer les échecs ou coordonner la compensation.</a:t>
            </a:r>
          </a:p>
          <a:p>
            <a:pPr marL="342900" lvl="0" indent="-342900">
              <a:lnSpc>
                <a:spcPct val="115000"/>
              </a:lnSpc>
              <a:spcAft>
                <a:spcPts val="800"/>
              </a:spcAft>
              <a:buFont typeface="Arial" panose="020B0604020202020204" pitchFamily="34" charset="0"/>
              <a:buChar char="•"/>
              <a:tabLst>
                <a:tab pos="457200" algn="l"/>
              </a:tabLst>
            </a:pPr>
            <a:r>
              <a:rPr lang="fr-FR" sz="2000" b="1" kern="100" dirty="0">
                <a:effectLst/>
                <a:latin typeface="Aptos" panose="020B0004020202020204" pitchFamily="34" charset="0"/>
                <a:ea typeface="Aptos" panose="020B0004020202020204" pitchFamily="34" charset="0"/>
                <a:cs typeface="Times New Roman" panose="02020603050405020304" pitchFamily="18" charset="0"/>
              </a:rPr>
              <a:t>Difficile à déboguer et à observer</a:t>
            </a:r>
            <a:r>
              <a:rPr lang="fr-FR" sz="2000" kern="100" dirty="0">
                <a:effectLst/>
                <a:latin typeface="Aptos" panose="020B0004020202020204" pitchFamily="34" charset="0"/>
                <a:ea typeface="Aptos" panose="020B0004020202020204" pitchFamily="34" charset="0"/>
                <a:cs typeface="Times New Roman" panose="02020603050405020304" pitchFamily="18" charset="0"/>
              </a:rPr>
              <a:t> : Sans orchestrateur, il devient plus compliqué de suivre l’état global de la transaction. Le traçage des événements et la compréhension des erreurs demandent un système de monitoring avancé.</a:t>
            </a:r>
          </a:p>
        </p:txBody>
      </p:sp>
    </p:spTree>
    <p:extLst>
      <p:ext uri="{BB962C8B-B14F-4D97-AF65-F5344CB8AC3E}">
        <p14:creationId xmlns:p14="http://schemas.microsoft.com/office/powerpoint/2010/main" val="17180334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E2E07-B360-4584-D2AD-E15E45221186}"/>
            </a:ext>
          </a:extLst>
        </p:cNvPr>
        <p:cNvGrpSpPr/>
        <p:nvPr/>
      </p:nvGrpSpPr>
      <p:grpSpPr>
        <a:xfrm>
          <a:off x="0" y="0"/>
          <a:ext cx="0" cy="0"/>
          <a:chOff x="0" y="0"/>
          <a:chExt cx="0" cy="0"/>
        </a:xfrm>
      </p:grpSpPr>
      <p:sp>
        <p:nvSpPr>
          <p:cNvPr id="4" name="Titre 1">
            <a:extLst>
              <a:ext uri="{FF2B5EF4-FFF2-40B4-BE49-F238E27FC236}">
                <a16:creationId xmlns:a16="http://schemas.microsoft.com/office/drawing/2014/main" id="{9C443533-61B9-99AA-9B5E-F3FD8BCB9D28}"/>
              </a:ext>
            </a:extLst>
          </p:cNvPr>
          <p:cNvSpPr txBox="1">
            <a:spLocks/>
          </p:cNvSpPr>
          <p:nvPr/>
        </p:nvSpPr>
        <p:spPr>
          <a:xfrm>
            <a:off x="223520" y="284485"/>
            <a:ext cx="5116124" cy="42567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b="1" dirty="0"/>
              <a:t>Stratégie Saga : L’Orchestration</a:t>
            </a:r>
          </a:p>
        </p:txBody>
      </p:sp>
      <p:cxnSp>
        <p:nvCxnSpPr>
          <p:cNvPr id="5" name="Connecteur droit 4">
            <a:extLst>
              <a:ext uri="{FF2B5EF4-FFF2-40B4-BE49-F238E27FC236}">
                <a16:creationId xmlns:a16="http://schemas.microsoft.com/office/drawing/2014/main" id="{28BD2D7B-009E-253A-FD3E-87669403ECA6}"/>
              </a:ext>
            </a:extLst>
          </p:cNvPr>
          <p:cNvCxnSpPr>
            <a:cxnSpLocks/>
          </p:cNvCxnSpPr>
          <p:nvPr/>
        </p:nvCxnSpPr>
        <p:spPr>
          <a:xfrm>
            <a:off x="0" y="86754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Sous-titre 2">
            <a:extLst>
              <a:ext uri="{FF2B5EF4-FFF2-40B4-BE49-F238E27FC236}">
                <a16:creationId xmlns:a16="http://schemas.microsoft.com/office/drawing/2014/main" id="{522FEE4F-D847-FD0C-2237-A65884D58823}"/>
              </a:ext>
            </a:extLst>
          </p:cNvPr>
          <p:cNvSpPr txBox="1">
            <a:spLocks/>
          </p:cNvSpPr>
          <p:nvPr/>
        </p:nvSpPr>
        <p:spPr>
          <a:xfrm>
            <a:off x="4324350" y="6643878"/>
            <a:ext cx="2890647" cy="2141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100" b="1">
                <a:solidFill>
                  <a:schemeClr val="tx2"/>
                </a:solidFill>
              </a:rPr>
              <a:t>Préparé et Présenté par Daniel  Lawson</a:t>
            </a:r>
            <a:endParaRPr lang="fr-FR" sz="1100" b="1" dirty="0">
              <a:solidFill>
                <a:schemeClr val="tx2"/>
              </a:solidFill>
            </a:endParaRPr>
          </a:p>
        </p:txBody>
      </p:sp>
      <p:sp>
        <p:nvSpPr>
          <p:cNvPr id="8" name="ZoneTexte 7">
            <a:extLst>
              <a:ext uri="{FF2B5EF4-FFF2-40B4-BE49-F238E27FC236}">
                <a16:creationId xmlns:a16="http://schemas.microsoft.com/office/drawing/2014/main" id="{4C805300-4976-89D3-FAF9-7F05661DC575}"/>
              </a:ext>
            </a:extLst>
          </p:cNvPr>
          <p:cNvSpPr txBox="1"/>
          <p:nvPr/>
        </p:nvSpPr>
        <p:spPr>
          <a:xfrm>
            <a:off x="223520" y="1535319"/>
            <a:ext cx="11607236" cy="4192751"/>
          </a:xfrm>
          <a:prstGeom prst="rect">
            <a:avLst/>
          </a:prstGeom>
          <a:noFill/>
        </p:spPr>
        <p:txBody>
          <a:bodyPr wrap="square">
            <a:spAutoFit/>
          </a:bodyPr>
          <a:lstStyle/>
          <a:p>
            <a:pPr lvl="0">
              <a:lnSpc>
                <a:spcPct val="115000"/>
              </a:lnSpc>
              <a:spcAft>
                <a:spcPts val="800"/>
              </a:spcAft>
              <a:buSzPts val="1000"/>
              <a:tabLst>
                <a:tab pos="457200" algn="l"/>
              </a:tabLst>
            </a:pPr>
            <a:r>
              <a:rPr lang="fr-FR" sz="2200" kern="100" dirty="0">
                <a:effectLst/>
                <a:latin typeface="Aptos" panose="020B0004020202020204" pitchFamily="34" charset="0"/>
                <a:ea typeface="Aptos" panose="020B0004020202020204" pitchFamily="34" charset="0"/>
                <a:cs typeface="Times New Roman" panose="02020603050405020304" pitchFamily="18" charset="0"/>
              </a:rPr>
              <a:t>Dans le modèle Orchestration, un service spécifique, appelé </a:t>
            </a:r>
            <a:r>
              <a:rPr lang="fr-FR" sz="2200" b="1" kern="100" dirty="0">
                <a:effectLst/>
                <a:latin typeface="Aptos" panose="020B0004020202020204" pitchFamily="34" charset="0"/>
                <a:ea typeface="Aptos" panose="020B0004020202020204" pitchFamily="34" charset="0"/>
                <a:cs typeface="Times New Roman" panose="02020603050405020304" pitchFamily="18" charset="0"/>
              </a:rPr>
              <a:t>orchestrateur</a:t>
            </a:r>
            <a:r>
              <a:rPr lang="fr-FR" sz="2200" kern="100" dirty="0">
                <a:effectLst/>
                <a:latin typeface="Aptos" panose="020B0004020202020204" pitchFamily="34" charset="0"/>
                <a:ea typeface="Aptos" panose="020B0004020202020204" pitchFamily="34" charset="0"/>
                <a:cs typeface="Times New Roman" panose="02020603050405020304" pitchFamily="18" charset="0"/>
              </a:rPr>
              <a:t>, coordonne et contrôle l'ordre d'exécution des transactions entre les </a:t>
            </a:r>
            <a:r>
              <a:rPr lang="fr-FR" sz="2200" kern="100" dirty="0" err="1">
                <a:effectLst/>
                <a:latin typeface="Aptos" panose="020B0004020202020204" pitchFamily="34" charset="0"/>
                <a:ea typeface="Aptos" panose="020B0004020202020204" pitchFamily="34" charset="0"/>
                <a:cs typeface="Times New Roman" panose="02020603050405020304" pitchFamily="18" charset="0"/>
              </a:rPr>
              <a:t>microservices</a:t>
            </a:r>
            <a:r>
              <a:rPr lang="fr-FR" sz="2200" kern="100" dirty="0">
                <a:effectLst/>
                <a:latin typeface="Aptos" panose="020B0004020202020204" pitchFamily="34" charset="0"/>
                <a:ea typeface="Aptos" panose="020B0004020202020204" pitchFamily="34" charset="0"/>
                <a:cs typeface="Times New Roman" panose="02020603050405020304" pitchFamily="18" charset="0"/>
              </a:rPr>
              <a:t>.</a:t>
            </a:r>
          </a:p>
          <a:p>
            <a:pPr lvl="0">
              <a:lnSpc>
                <a:spcPct val="115000"/>
              </a:lnSpc>
              <a:spcAft>
                <a:spcPts val="800"/>
              </a:spcAft>
              <a:buSzPts val="1000"/>
              <a:tabLst>
                <a:tab pos="457200" algn="l"/>
              </a:tabLst>
            </a:pPr>
            <a:r>
              <a:rPr lang="fr-FR" sz="2200" kern="100" dirty="0">
                <a:latin typeface="Aptos" panose="020B0004020202020204" pitchFamily="34" charset="0"/>
                <a:ea typeface="Aptos" panose="020B0004020202020204" pitchFamily="34" charset="0"/>
                <a:cs typeface="Times New Roman" panose="02020603050405020304" pitchFamily="18" charset="0"/>
              </a:rPr>
              <a:t>Son rôle est de dire aux participants du saga ce qu’il faut faire. Il communique avec les participants en utilisant un style de communication Commande/Réponse Asynchrone.</a:t>
            </a:r>
          </a:p>
          <a:p>
            <a:pPr lvl="0">
              <a:lnSpc>
                <a:spcPct val="115000"/>
              </a:lnSpc>
              <a:spcAft>
                <a:spcPts val="800"/>
              </a:spcAft>
              <a:buSzPts val="1000"/>
              <a:tabLst>
                <a:tab pos="457200" algn="l"/>
              </a:tabLst>
            </a:pPr>
            <a:r>
              <a:rPr lang="fr-FR" sz="2200" kern="100" dirty="0">
                <a:effectLst/>
                <a:latin typeface="Aptos" panose="020B0004020202020204" pitchFamily="34" charset="0"/>
                <a:ea typeface="Aptos" panose="020B0004020202020204" pitchFamily="34" charset="0"/>
                <a:cs typeface="Times New Roman" panose="02020603050405020304" pitchFamily="18" charset="0"/>
              </a:rPr>
              <a:t>Voici comment se déroule une étape : </a:t>
            </a:r>
          </a:p>
          <a:p>
            <a:pPr marL="457200" lvl="0" indent="-457200">
              <a:lnSpc>
                <a:spcPct val="115000"/>
              </a:lnSpc>
              <a:spcAft>
                <a:spcPts val="800"/>
              </a:spcAft>
              <a:buSzPct val="54000"/>
              <a:buFont typeface="+mj-lt"/>
              <a:buAutoNum type="arabicPeriod"/>
              <a:tabLst>
                <a:tab pos="457200" algn="l"/>
              </a:tabLst>
            </a:pPr>
            <a:r>
              <a:rPr lang="fr-FR" sz="2200" kern="100" dirty="0">
                <a:latin typeface="Aptos" panose="020B0004020202020204" pitchFamily="34" charset="0"/>
                <a:ea typeface="Aptos" panose="020B0004020202020204" pitchFamily="34" charset="0"/>
                <a:cs typeface="Times New Roman" panose="02020603050405020304" pitchFamily="18" charset="0"/>
              </a:rPr>
              <a:t>L’orchestrateur envoie un message au participant sur ce qu’il doit faire</a:t>
            </a:r>
          </a:p>
          <a:p>
            <a:pPr marL="457200" lvl="0" indent="-457200">
              <a:lnSpc>
                <a:spcPct val="115000"/>
              </a:lnSpc>
              <a:spcAft>
                <a:spcPts val="800"/>
              </a:spcAft>
              <a:buSzPct val="54000"/>
              <a:buFont typeface="+mj-lt"/>
              <a:buAutoNum type="arabicPeriod"/>
              <a:tabLst>
                <a:tab pos="457200" algn="l"/>
              </a:tabLst>
            </a:pPr>
            <a:r>
              <a:rPr lang="fr-FR" sz="2200" kern="100" dirty="0">
                <a:latin typeface="Aptos" panose="020B0004020202020204" pitchFamily="34" charset="0"/>
                <a:ea typeface="Aptos" panose="020B0004020202020204" pitchFamily="34" charset="0"/>
                <a:cs typeface="Times New Roman" panose="02020603050405020304" pitchFamily="18" charset="0"/>
              </a:rPr>
              <a:t>Le participant exécute la commande</a:t>
            </a:r>
          </a:p>
          <a:p>
            <a:pPr marL="457200" lvl="0" indent="-457200">
              <a:lnSpc>
                <a:spcPct val="115000"/>
              </a:lnSpc>
              <a:spcAft>
                <a:spcPts val="800"/>
              </a:spcAft>
              <a:buSzPct val="54000"/>
              <a:buFont typeface="+mj-lt"/>
              <a:buAutoNum type="arabicPeriod"/>
              <a:tabLst>
                <a:tab pos="457200" algn="l"/>
              </a:tabLst>
            </a:pPr>
            <a:r>
              <a:rPr lang="fr-FR" sz="2200" kern="100" dirty="0">
                <a:latin typeface="Aptos" panose="020B0004020202020204" pitchFamily="34" charset="0"/>
                <a:ea typeface="Aptos" panose="020B0004020202020204" pitchFamily="34" charset="0"/>
                <a:cs typeface="Times New Roman" panose="02020603050405020304" pitchFamily="18" charset="0"/>
              </a:rPr>
              <a:t>Le participant envoie un message de réponse à l’orchestrateur</a:t>
            </a:r>
          </a:p>
          <a:p>
            <a:pPr marL="457200" lvl="0" indent="-457200">
              <a:lnSpc>
                <a:spcPct val="115000"/>
              </a:lnSpc>
              <a:spcAft>
                <a:spcPts val="800"/>
              </a:spcAft>
              <a:buSzPct val="54000"/>
              <a:buFont typeface="+mj-lt"/>
              <a:buAutoNum type="arabicPeriod"/>
              <a:tabLst>
                <a:tab pos="457200" algn="l"/>
              </a:tabLst>
            </a:pPr>
            <a:r>
              <a:rPr lang="fr-FR" sz="2200" kern="100" dirty="0">
                <a:latin typeface="Aptos" panose="020B0004020202020204" pitchFamily="34" charset="0"/>
                <a:ea typeface="Aptos" panose="020B0004020202020204" pitchFamily="34" charset="0"/>
                <a:cs typeface="Times New Roman" panose="02020603050405020304" pitchFamily="18" charset="0"/>
              </a:rPr>
              <a:t>L’orchestrateur traite le message et détermine quelle étape du saga faire ensuite</a:t>
            </a:r>
          </a:p>
        </p:txBody>
      </p:sp>
    </p:spTree>
    <p:extLst>
      <p:ext uri="{BB962C8B-B14F-4D97-AF65-F5344CB8AC3E}">
        <p14:creationId xmlns:p14="http://schemas.microsoft.com/office/powerpoint/2010/main" val="32475544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67D49-1596-CD28-8981-0DC358EAAE9D}"/>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250C8DBD-1761-9A80-891F-4144107B1D94}"/>
              </a:ext>
            </a:extLst>
          </p:cNvPr>
          <p:cNvPicPr>
            <a:picLocks noChangeAspect="1"/>
          </p:cNvPicPr>
          <p:nvPr/>
        </p:nvPicPr>
        <p:blipFill>
          <a:blip r:embed="rId2"/>
          <a:stretch>
            <a:fillRect/>
          </a:stretch>
        </p:blipFill>
        <p:spPr>
          <a:xfrm>
            <a:off x="5630461" y="863602"/>
            <a:ext cx="6420211" cy="5780276"/>
          </a:xfrm>
          <a:prstGeom prst="rect">
            <a:avLst/>
          </a:prstGeom>
        </p:spPr>
      </p:pic>
      <p:sp>
        <p:nvSpPr>
          <p:cNvPr id="4" name="Titre 1">
            <a:extLst>
              <a:ext uri="{FF2B5EF4-FFF2-40B4-BE49-F238E27FC236}">
                <a16:creationId xmlns:a16="http://schemas.microsoft.com/office/drawing/2014/main" id="{66803202-5C81-3B72-E8F6-69961886BA5F}"/>
              </a:ext>
            </a:extLst>
          </p:cNvPr>
          <p:cNvSpPr txBox="1">
            <a:spLocks/>
          </p:cNvSpPr>
          <p:nvPr/>
        </p:nvSpPr>
        <p:spPr>
          <a:xfrm>
            <a:off x="223520" y="284485"/>
            <a:ext cx="3834772" cy="42567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b="1" dirty="0"/>
              <a:t>Orchestration : Exemple</a:t>
            </a:r>
          </a:p>
        </p:txBody>
      </p:sp>
      <p:cxnSp>
        <p:nvCxnSpPr>
          <p:cNvPr id="5" name="Connecteur droit 4">
            <a:extLst>
              <a:ext uri="{FF2B5EF4-FFF2-40B4-BE49-F238E27FC236}">
                <a16:creationId xmlns:a16="http://schemas.microsoft.com/office/drawing/2014/main" id="{C5717E9D-25B3-8266-4BB4-4ED384DFF6AE}"/>
              </a:ext>
            </a:extLst>
          </p:cNvPr>
          <p:cNvCxnSpPr>
            <a:cxnSpLocks/>
          </p:cNvCxnSpPr>
          <p:nvPr/>
        </p:nvCxnSpPr>
        <p:spPr>
          <a:xfrm>
            <a:off x="0" y="86754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Sous-titre 2">
            <a:extLst>
              <a:ext uri="{FF2B5EF4-FFF2-40B4-BE49-F238E27FC236}">
                <a16:creationId xmlns:a16="http://schemas.microsoft.com/office/drawing/2014/main" id="{28B4B035-927C-8238-BAA5-435B2E233FB7}"/>
              </a:ext>
            </a:extLst>
          </p:cNvPr>
          <p:cNvSpPr txBox="1">
            <a:spLocks/>
          </p:cNvSpPr>
          <p:nvPr/>
        </p:nvSpPr>
        <p:spPr>
          <a:xfrm>
            <a:off x="9307322" y="6643878"/>
            <a:ext cx="2890647" cy="2141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100" b="1" dirty="0">
                <a:solidFill>
                  <a:schemeClr val="tx2"/>
                </a:solidFill>
              </a:rPr>
              <a:t>Préparé et Présenté par Daniel  Lawson</a:t>
            </a:r>
          </a:p>
        </p:txBody>
      </p:sp>
      <p:sp>
        <p:nvSpPr>
          <p:cNvPr id="8" name="ZoneTexte 7">
            <a:extLst>
              <a:ext uri="{FF2B5EF4-FFF2-40B4-BE49-F238E27FC236}">
                <a16:creationId xmlns:a16="http://schemas.microsoft.com/office/drawing/2014/main" id="{9E1ECFA6-FD03-CAB9-3C13-4107EEE6ABC6}"/>
              </a:ext>
            </a:extLst>
          </p:cNvPr>
          <p:cNvSpPr txBox="1"/>
          <p:nvPr/>
        </p:nvSpPr>
        <p:spPr>
          <a:xfrm>
            <a:off x="223520" y="963296"/>
            <a:ext cx="5406941" cy="5891549"/>
          </a:xfrm>
          <a:prstGeom prst="rect">
            <a:avLst/>
          </a:prstGeom>
          <a:noFill/>
        </p:spPr>
        <p:txBody>
          <a:bodyPr wrap="square">
            <a:spAutoFit/>
          </a:bodyPr>
          <a:lstStyle/>
          <a:p>
            <a:pPr marL="342900" lvl="0" indent="-342900">
              <a:lnSpc>
                <a:spcPct val="115000"/>
              </a:lnSpc>
              <a:spcAft>
                <a:spcPts val="800"/>
              </a:spcAft>
              <a:buSzPts val="1000"/>
              <a:buFont typeface="+mj-lt"/>
              <a:buAutoNum type="arabicPeriod"/>
              <a:tabLst>
                <a:tab pos="457200" algn="l"/>
              </a:tabLst>
            </a:pPr>
            <a:r>
              <a:rPr lang="en-US" dirty="0" err="1"/>
              <a:t>L’orchestrateur</a:t>
            </a:r>
            <a:r>
              <a:rPr lang="en-US" dirty="0"/>
              <a:t> </a:t>
            </a:r>
            <a:r>
              <a:rPr lang="en-US" dirty="0" err="1"/>
              <a:t>envoie</a:t>
            </a:r>
            <a:r>
              <a:rPr lang="en-US" dirty="0"/>
              <a:t>  </a:t>
            </a:r>
            <a:r>
              <a:rPr lang="en-US" dirty="0" err="1"/>
              <a:t>une</a:t>
            </a:r>
            <a:r>
              <a:rPr lang="en-US" dirty="0"/>
              <a:t> </a:t>
            </a:r>
            <a:r>
              <a:rPr lang="fr-FR" dirty="0"/>
              <a:t>commande</a:t>
            </a:r>
            <a:r>
              <a:rPr lang="en-US" dirty="0"/>
              <a:t> </a:t>
            </a:r>
            <a:r>
              <a:rPr lang="en-US" sz="1400" b="1" dirty="0" err="1">
                <a:latin typeface="Consolas" panose="020B0609020204030204" pitchFamily="49" charset="0"/>
              </a:rPr>
              <a:t>VerifyConsumer</a:t>
            </a:r>
            <a:r>
              <a:rPr lang="en-US" dirty="0"/>
              <a:t>  au service </a:t>
            </a:r>
            <a:r>
              <a:rPr lang="en-US" b="1" dirty="0"/>
              <a:t>Consumer</a:t>
            </a:r>
            <a:r>
              <a:rPr lang="en-US" dirty="0"/>
              <a:t>. </a:t>
            </a:r>
          </a:p>
          <a:p>
            <a:pPr marL="342900" lvl="0" indent="-342900">
              <a:lnSpc>
                <a:spcPct val="115000"/>
              </a:lnSpc>
              <a:spcAft>
                <a:spcPts val="800"/>
              </a:spcAft>
              <a:buSzPts val="1000"/>
              <a:buFont typeface="+mj-lt"/>
              <a:buAutoNum type="arabicPeriod"/>
              <a:tabLst>
                <a:tab pos="457200" algn="l"/>
              </a:tabLst>
            </a:pPr>
            <a:r>
              <a:rPr lang="en-US" dirty="0"/>
              <a:t>Le service </a:t>
            </a:r>
            <a:r>
              <a:rPr lang="en-US" b="1" dirty="0"/>
              <a:t>Consumer</a:t>
            </a:r>
            <a:r>
              <a:rPr lang="en-US" dirty="0"/>
              <a:t> </a:t>
            </a:r>
            <a:r>
              <a:rPr lang="en-US" dirty="0" err="1"/>
              <a:t>répond</a:t>
            </a:r>
            <a:r>
              <a:rPr lang="en-US" dirty="0"/>
              <a:t> avec un message </a:t>
            </a:r>
            <a:r>
              <a:rPr lang="en-US" sz="1400" b="1" dirty="0" err="1">
                <a:latin typeface="Consolas" panose="020B0609020204030204" pitchFamily="49" charset="0"/>
              </a:rPr>
              <a:t>ConsumerVerified</a:t>
            </a:r>
            <a:r>
              <a:rPr lang="en-US" dirty="0"/>
              <a:t>. </a:t>
            </a:r>
          </a:p>
          <a:p>
            <a:pPr marL="342900" lvl="0" indent="-342900">
              <a:lnSpc>
                <a:spcPct val="115000"/>
              </a:lnSpc>
              <a:spcAft>
                <a:spcPts val="800"/>
              </a:spcAft>
              <a:buSzPts val="1000"/>
              <a:buFont typeface="+mj-lt"/>
              <a:buAutoNum type="arabicPeriod"/>
              <a:tabLst>
                <a:tab pos="457200" algn="l"/>
              </a:tabLst>
            </a:pPr>
            <a:r>
              <a:rPr lang="en-US" dirty="0" err="1"/>
              <a:t>L’orchestrateur</a:t>
            </a:r>
            <a:r>
              <a:rPr lang="en-US" dirty="0"/>
              <a:t> </a:t>
            </a:r>
            <a:r>
              <a:rPr lang="en-US" dirty="0" err="1"/>
              <a:t>envoie</a:t>
            </a:r>
            <a:r>
              <a:rPr lang="en-US" dirty="0"/>
              <a:t> </a:t>
            </a:r>
            <a:r>
              <a:rPr lang="en-US" dirty="0" err="1"/>
              <a:t>une</a:t>
            </a:r>
            <a:r>
              <a:rPr lang="en-US" dirty="0"/>
              <a:t> </a:t>
            </a:r>
            <a:r>
              <a:rPr lang="en-US" dirty="0" err="1"/>
              <a:t>commande</a:t>
            </a:r>
            <a:r>
              <a:rPr lang="en-US" dirty="0"/>
              <a:t> </a:t>
            </a:r>
            <a:r>
              <a:rPr lang="en-US" sz="1400" b="1" dirty="0" err="1">
                <a:latin typeface="Consolas" panose="020B0609020204030204" pitchFamily="49" charset="0"/>
              </a:rPr>
              <a:t>CreateTicket</a:t>
            </a:r>
            <a:r>
              <a:rPr lang="en-US" dirty="0"/>
              <a:t> au service </a:t>
            </a:r>
            <a:r>
              <a:rPr lang="en-US" b="1" dirty="0"/>
              <a:t>Kitchen</a:t>
            </a:r>
            <a:r>
              <a:rPr lang="en-US" dirty="0"/>
              <a:t>. </a:t>
            </a:r>
          </a:p>
          <a:p>
            <a:pPr marL="342900" lvl="0" indent="-342900">
              <a:lnSpc>
                <a:spcPct val="115000"/>
              </a:lnSpc>
              <a:spcAft>
                <a:spcPts val="800"/>
              </a:spcAft>
              <a:buSzPts val="1000"/>
              <a:buFont typeface="+mj-lt"/>
              <a:buAutoNum type="arabicPeriod"/>
              <a:tabLst>
                <a:tab pos="457200" algn="l"/>
              </a:tabLst>
            </a:pPr>
            <a:r>
              <a:rPr lang="en-US" dirty="0"/>
              <a:t>Le service </a:t>
            </a:r>
            <a:r>
              <a:rPr lang="en-US" b="1" dirty="0"/>
              <a:t>Kitchen</a:t>
            </a:r>
            <a:r>
              <a:rPr lang="en-US" dirty="0"/>
              <a:t> </a:t>
            </a:r>
            <a:r>
              <a:rPr lang="en-US" dirty="0" err="1"/>
              <a:t>répond</a:t>
            </a:r>
            <a:r>
              <a:rPr lang="en-US" dirty="0"/>
              <a:t> avec un message </a:t>
            </a:r>
            <a:r>
              <a:rPr lang="en-US" sz="1400" b="1" dirty="0" err="1">
                <a:latin typeface="Consolas" panose="020B0609020204030204" pitchFamily="49" charset="0"/>
              </a:rPr>
              <a:t>TicketCreated</a:t>
            </a:r>
            <a:r>
              <a:rPr lang="en-US" dirty="0"/>
              <a:t>. </a:t>
            </a:r>
          </a:p>
          <a:p>
            <a:pPr marL="342900" lvl="0" indent="-342900">
              <a:lnSpc>
                <a:spcPct val="115000"/>
              </a:lnSpc>
              <a:spcAft>
                <a:spcPts val="800"/>
              </a:spcAft>
              <a:buSzPts val="1000"/>
              <a:buFont typeface="+mj-lt"/>
              <a:buAutoNum type="arabicPeriod"/>
              <a:tabLst>
                <a:tab pos="457200" algn="l"/>
              </a:tabLst>
            </a:pPr>
            <a:r>
              <a:rPr lang="en-US" dirty="0" err="1"/>
              <a:t>L’orchestrateur</a:t>
            </a:r>
            <a:r>
              <a:rPr lang="en-US" dirty="0"/>
              <a:t> </a:t>
            </a:r>
            <a:r>
              <a:rPr lang="en-US" dirty="0" err="1"/>
              <a:t>envoie</a:t>
            </a:r>
            <a:r>
              <a:rPr lang="en-US" dirty="0"/>
              <a:t> un message </a:t>
            </a:r>
            <a:r>
              <a:rPr lang="en-US" sz="1400" b="1" dirty="0" err="1">
                <a:latin typeface="Consolas" panose="020B0609020204030204" pitchFamily="49" charset="0"/>
              </a:rPr>
              <a:t>AuthorizeCard</a:t>
            </a:r>
            <a:r>
              <a:rPr lang="en-US" dirty="0"/>
              <a:t> au service </a:t>
            </a:r>
            <a:r>
              <a:rPr lang="en-US" b="1" dirty="0"/>
              <a:t>Accounting</a:t>
            </a:r>
            <a:r>
              <a:rPr lang="en-US" dirty="0"/>
              <a:t>. </a:t>
            </a:r>
          </a:p>
          <a:p>
            <a:pPr marL="342900" lvl="0" indent="-342900">
              <a:lnSpc>
                <a:spcPct val="115000"/>
              </a:lnSpc>
              <a:spcAft>
                <a:spcPts val="800"/>
              </a:spcAft>
              <a:buSzPts val="1000"/>
              <a:buFont typeface="+mj-lt"/>
              <a:buAutoNum type="arabicPeriod"/>
              <a:tabLst>
                <a:tab pos="457200" algn="l"/>
              </a:tabLst>
            </a:pPr>
            <a:r>
              <a:rPr lang="en-US" dirty="0"/>
              <a:t>Le service </a:t>
            </a:r>
            <a:r>
              <a:rPr lang="en-US" b="1" dirty="0"/>
              <a:t>Accounting</a:t>
            </a:r>
            <a:r>
              <a:rPr lang="en-US" dirty="0"/>
              <a:t> </a:t>
            </a:r>
            <a:r>
              <a:rPr lang="en-US" dirty="0" err="1"/>
              <a:t>répond</a:t>
            </a:r>
            <a:r>
              <a:rPr lang="en-US" dirty="0"/>
              <a:t> avec un message </a:t>
            </a:r>
            <a:r>
              <a:rPr lang="en-US" sz="1400" b="1" dirty="0" err="1">
                <a:latin typeface="Consolas" panose="020B0609020204030204" pitchFamily="49" charset="0"/>
              </a:rPr>
              <a:t>CardAuthorized</a:t>
            </a:r>
            <a:r>
              <a:rPr lang="en-US" dirty="0"/>
              <a:t>. </a:t>
            </a:r>
          </a:p>
          <a:p>
            <a:pPr marL="342900" lvl="0" indent="-342900">
              <a:lnSpc>
                <a:spcPct val="115000"/>
              </a:lnSpc>
              <a:spcAft>
                <a:spcPts val="800"/>
              </a:spcAft>
              <a:buSzPts val="1000"/>
              <a:buFont typeface="+mj-lt"/>
              <a:buAutoNum type="arabicPeriod"/>
              <a:tabLst>
                <a:tab pos="457200" algn="l"/>
              </a:tabLst>
            </a:pPr>
            <a:r>
              <a:rPr lang="en-US" dirty="0" err="1"/>
              <a:t>L’orchestrateur</a:t>
            </a:r>
            <a:r>
              <a:rPr lang="en-US" dirty="0"/>
              <a:t> </a:t>
            </a:r>
            <a:r>
              <a:rPr lang="en-US" dirty="0" err="1"/>
              <a:t>envoie</a:t>
            </a:r>
            <a:r>
              <a:rPr lang="en-US" dirty="0"/>
              <a:t> </a:t>
            </a:r>
            <a:r>
              <a:rPr lang="en-US" dirty="0" err="1"/>
              <a:t>une</a:t>
            </a:r>
            <a:r>
              <a:rPr lang="en-US" dirty="0"/>
              <a:t> </a:t>
            </a:r>
            <a:r>
              <a:rPr lang="en-US" dirty="0" err="1"/>
              <a:t>commande</a:t>
            </a:r>
            <a:r>
              <a:rPr lang="en-US" dirty="0"/>
              <a:t> </a:t>
            </a:r>
            <a:r>
              <a:rPr lang="en-US" sz="1400" b="1" dirty="0" err="1">
                <a:latin typeface="Consolas" panose="020B0609020204030204" pitchFamily="49" charset="0"/>
              </a:rPr>
              <a:t>ApproveTicket</a:t>
            </a:r>
            <a:r>
              <a:rPr lang="en-US" dirty="0"/>
              <a:t>  au service </a:t>
            </a:r>
            <a:r>
              <a:rPr lang="en-US" b="1" dirty="0"/>
              <a:t>Kitchen</a:t>
            </a:r>
            <a:r>
              <a:rPr lang="en-US" dirty="0"/>
              <a:t>. </a:t>
            </a:r>
          </a:p>
          <a:p>
            <a:pPr marL="342900" lvl="0" indent="-342900">
              <a:lnSpc>
                <a:spcPct val="115000"/>
              </a:lnSpc>
              <a:spcAft>
                <a:spcPts val="800"/>
              </a:spcAft>
              <a:buSzPts val="1000"/>
              <a:buFont typeface="+mj-lt"/>
              <a:buAutoNum type="arabicPeriod"/>
              <a:tabLst>
                <a:tab pos="457200" algn="l"/>
              </a:tabLst>
            </a:pPr>
            <a:r>
              <a:rPr lang="en-US" dirty="0" err="1"/>
              <a:t>L’orchestrateur</a:t>
            </a:r>
            <a:r>
              <a:rPr lang="en-US" dirty="0"/>
              <a:t> </a:t>
            </a:r>
            <a:r>
              <a:rPr lang="en-US" dirty="0" err="1"/>
              <a:t>envoie</a:t>
            </a:r>
            <a:r>
              <a:rPr lang="en-US" dirty="0"/>
              <a:t> </a:t>
            </a:r>
            <a:r>
              <a:rPr lang="en-US" dirty="0" err="1"/>
              <a:t>une</a:t>
            </a:r>
            <a:r>
              <a:rPr lang="en-US" dirty="0"/>
              <a:t> </a:t>
            </a:r>
            <a:r>
              <a:rPr lang="en-US" dirty="0" err="1"/>
              <a:t>commande</a:t>
            </a:r>
            <a:r>
              <a:rPr lang="en-US" dirty="0"/>
              <a:t> </a:t>
            </a:r>
            <a:r>
              <a:rPr lang="en-US" sz="1400" b="1" dirty="0" err="1">
                <a:latin typeface="Consolas" panose="020B0609020204030204" pitchFamily="49" charset="0"/>
              </a:rPr>
              <a:t>ApproveOrder</a:t>
            </a:r>
            <a:r>
              <a:rPr lang="en-US" dirty="0"/>
              <a:t> au service </a:t>
            </a:r>
            <a:r>
              <a:rPr lang="en-US" b="1" dirty="0"/>
              <a:t>Order</a:t>
            </a:r>
            <a:r>
              <a:rPr lang="en-US" dirty="0"/>
              <a:t>.</a:t>
            </a:r>
            <a:endParaRPr lang="fr-FR"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5891739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FFA7E-062E-4DC5-9CD3-E8E1B72C2900}"/>
            </a:ext>
          </a:extLst>
        </p:cNvPr>
        <p:cNvGrpSpPr/>
        <p:nvPr/>
      </p:nvGrpSpPr>
      <p:grpSpPr>
        <a:xfrm>
          <a:off x="0" y="0"/>
          <a:ext cx="0" cy="0"/>
          <a:chOff x="0" y="0"/>
          <a:chExt cx="0" cy="0"/>
        </a:xfrm>
      </p:grpSpPr>
      <p:pic>
        <p:nvPicPr>
          <p:cNvPr id="1028" name="Picture 4" descr="Pros and cons concept illustration">
            <a:extLst>
              <a:ext uri="{FF2B5EF4-FFF2-40B4-BE49-F238E27FC236}">
                <a16:creationId xmlns:a16="http://schemas.microsoft.com/office/drawing/2014/main" id="{D35FD408-2746-A6FD-53CD-4F9C93D6F0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16922" y="1272398"/>
            <a:ext cx="4477587" cy="4477587"/>
          </a:xfrm>
          <a:prstGeom prst="rect">
            <a:avLst/>
          </a:prstGeom>
          <a:noFill/>
          <a:extLst>
            <a:ext uri="{909E8E84-426E-40DD-AFC4-6F175D3DCCD1}">
              <a14:hiddenFill xmlns:a14="http://schemas.microsoft.com/office/drawing/2010/main">
                <a:solidFill>
                  <a:srgbClr val="FFFFFF"/>
                </a:solidFill>
              </a14:hiddenFill>
            </a:ext>
          </a:extLst>
        </p:spPr>
      </p:pic>
      <p:sp>
        <p:nvSpPr>
          <p:cNvPr id="4" name="Titre 1">
            <a:extLst>
              <a:ext uri="{FF2B5EF4-FFF2-40B4-BE49-F238E27FC236}">
                <a16:creationId xmlns:a16="http://schemas.microsoft.com/office/drawing/2014/main" id="{02CDF7D0-E31B-BC94-FDA4-8768A444125C}"/>
              </a:ext>
            </a:extLst>
          </p:cNvPr>
          <p:cNvSpPr txBox="1">
            <a:spLocks/>
          </p:cNvSpPr>
          <p:nvPr/>
        </p:nvSpPr>
        <p:spPr>
          <a:xfrm>
            <a:off x="223520" y="284485"/>
            <a:ext cx="7471824" cy="42567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b="1" dirty="0"/>
              <a:t>Orchestration: Avantages et inconvénients</a:t>
            </a:r>
          </a:p>
        </p:txBody>
      </p:sp>
      <p:cxnSp>
        <p:nvCxnSpPr>
          <p:cNvPr id="5" name="Connecteur droit 4">
            <a:extLst>
              <a:ext uri="{FF2B5EF4-FFF2-40B4-BE49-F238E27FC236}">
                <a16:creationId xmlns:a16="http://schemas.microsoft.com/office/drawing/2014/main" id="{9039E214-9DE7-E926-C200-2F03534F6368}"/>
              </a:ext>
            </a:extLst>
          </p:cNvPr>
          <p:cNvCxnSpPr>
            <a:cxnSpLocks/>
          </p:cNvCxnSpPr>
          <p:nvPr/>
        </p:nvCxnSpPr>
        <p:spPr>
          <a:xfrm>
            <a:off x="0" y="86754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Sous-titre 2">
            <a:extLst>
              <a:ext uri="{FF2B5EF4-FFF2-40B4-BE49-F238E27FC236}">
                <a16:creationId xmlns:a16="http://schemas.microsoft.com/office/drawing/2014/main" id="{8A560736-CC6A-F2EA-1359-A161F1111123}"/>
              </a:ext>
            </a:extLst>
          </p:cNvPr>
          <p:cNvSpPr txBox="1">
            <a:spLocks/>
          </p:cNvSpPr>
          <p:nvPr/>
        </p:nvSpPr>
        <p:spPr>
          <a:xfrm>
            <a:off x="4324350" y="6643878"/>
            <a:ext cx="2890647" cy="2141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100" b="1">
                <a:solidFill>
                  <a:schemeClr val="tx2"/>
                </a:solidFill>
              </a:rPr>
              <a:t>Préparé et Présenté par Daniel  Lawson</a:t>
            </a:r>
            <a:endParaRPr lang="fr-FR" sz="1100" b="1" dirty="0">
              <a:solidFill>
                <a:schemeClr val="tx2"/>
              </a:solidFill>
            </a:endParaRPr>
          </a:p>
        </p:txBody>
      </p:sp>
      <p:sp>
        <p:nvSpPr>
          <p:cNvPr id="8" name="ZoneTexte 7">
            <a:extLst>
              <a:ext uri="{FF2B5EF4-FFF2-40B4-BE49-F238E27FC236}">
                <a16:creationId xmlns:a16="http://schemas.microsoft.com/office/drawing/2014/main" id="{A3124592-39D1-E823-041E-8CA05FA2448A}"/>
              </a:ext>
            </a:extLst>
          </p:cNvPr>
          <p:cNvSpPr txBox="1"/>
          <p:nvPr/>
        </p:nvSpPr>
        <p:spPr>
          <a:xfrm>
            <a:off x="223519" y="993116"/>
            <a:ext cx="7471825" cy="5336013"/>
          </a:xfrm>
          <a:prstGeom prst="rect">
            <a:avLst/>
          </a:prstGeom>
          <a:noFill/>
        </p:spPr>
        <p:txBody>
          <a:bodyPr wrap="square">
            <a:spAutoFit/>
          </a:bodyPr>
          <a:lstStyle/>
          <a:p>
            <a:pPr>
              <a:lnSpc>
                <a:spcPct val="115000"/>
              </a:lnSpc>
              <a:spcAft>
                <a:spcPts val="800"/>
              </a:spcAft>
            </a:pPr>
            <a:r>
              <a:rPr lang="fr-FR" sz="2200" b="1" kern="100" dirty="0">
                <a:effectLst/>
                <a:latin typeface="Aptos" panose="020B0004020202020204" pitchFamily="34" charset="0"/>
                <a:ea typeface="Aptos" panose="020B0004020202020204" pitchFamily="34" charset="0"/>
                <a:cs typeface="Times New Roman" panose="02020603050405020304" pitchFamily="18" charset="0"/>
              </a:rPr>
              <a:t>Avantages</a:t>
            </a:r>
            <a:endParaRPr lang="fr-FR" sz="2200" kern="100" dirty="0">
              <a:latin typeface="Aptos" panose="020B0004020202020204" pitchFamily="34" charset="0"/>
              <a:ea typeface="Aptos" panose="020B0004020202020204" pitchFamily="34" charset="0"/>
              <a:cs typeface="Times New Roman" panose="02020603050405020304" pitchFamily="18" charset="0"/>
            </a:endParaRPr>
          </a:p>
          <a:p>
            <a:pPr marL="285750" indent="-285750">
              <a:lnSpc>
                <a:spcPct val="115000"/>
              </a:lnSpc>
              <a:spcAft>
                <a:spcPts val="800"/>
              </a:spcAft>
              <a:buFont typeface="Arial" panose="020B0604020202020204" pitchFamily="34" charset="0"/>
              <a:buChar char="•"/>
            </a:pPr>
            <a:r>
              <a:rPr lang="fr-FR" sz="1800" b="1" kern="100" dirty="0">
                <a:effectLst/>
                <a:latin typeface="Aptos" panose="020B0004020202020204" pitchFamily="34" charset="0"/>
                <a:ea typeface="Aptos" panose="020B0004020202020204" pitchFamily="34" charset="0"/>
                <a:cs typeface="Times New Roman" panose="02020603050405020304" pitchFamily="18" charset="0"/>
              </a:rPr>
              <a:t>Visibilité et contrôle centralisé</a:t>
            </a:r>
            <a:r>
              <a:rPr lang="fr-FR" sz="1800" kern="100" dirty="0">
                <a:effectLst/>
                <a:latin typeface="Aptos" panose="020B0004020202020204" pitchFamily="34" charset="0"/>
                <a:ea typeface="Aptos" panose="020B0004020202020204" pitchFamily="34" charset="0"/>
                <a:cs typeface="Times New Roman" panose="02020603050405020304" pitchFamily="18" charset="0"/>
              </a:rPr>
              <a:t> : L’orchestrateur a une vue d’ensemble de la transaction, ce qui facilite le suivi, le débogage et la gestion des échecs. Il peut enregistrer l'état global de la transaction, ce qui rend les systèmes plus traçables.</a:t>
            </a:r>
          </a:p>
          <a:p>
            <a:pPr marL="285750" lvl="0" indent="-285750">
              <a:lnSpc>
                <a:spcPct val="115000"/>
              </a:lnSpc>
              <a:spcAft>
                <a:spcPts val="800"/>
              </a:spcAft>
              <a:buFont typeface="Arial" panose="020B0604020202020204" pitchFamily="34" charset="0"/>
              <a:buChar char="•"/>
              <a:tabLst>
                <a:tab pos="457200" algn="l"/>
              </a:tabLst>
            </a:pPr>
            <a:r>
              <a:rPr lang="fr-FR" sz="1800" b="1" kern="100" dirty="0">
                <a:effectLst/>
                <a:latin typeface="Aptos" panose="020B0004020202020204" pitchFamily="34" charset="0"/>
                <a:ea typeface="Aptos" panose="020B0004020202020204" pitchFamily="34" charset="0"/>
                <a:cs typeface="Times New Roman" panose="02020603050405020304" pitchFamily="18" charset="0"/>
              </a:rPr>
              <a:t>Gestion explicite des échecs</a:t>
            </a:r>
            <a:r>
              <a:rPr lang="fr-FR" sz="1800" kern="100" dirty="0">
                <a:effectLst/>
                <a:latin typeface="Aptos" panose="020B0004020202020204" pitchFamily="34" charset="0"/>
                <a:ea typeface="Aptos" panose="020B0004020202020204" pitchFamily="34" charset="0"/>
                <a:cs typeface="Times New Roman" panose="02020603050405020304" pitchFamily="18" charset="0"/>
              </a:rPr>
              <a:t> : L’orchestrateur gère de manière centralisée les erreurs et peut déclencher des actions compensatoires si une étape échoue. Cela permet une </a:t>
            </a:r>
            <a:r>
              <a:rPr lang="fr-FR" sz="1800" b="1" kern="100" dirty="0">
                <a:effectLst/>
                <a:latin typeface="Aptos" panose="020B0004020202020204" pitchFamily="34" charset="0"/>
                <a:ea typeface="Aptos" panose="020B0004020202020204" pitchFamily="34" charset="0"/>
                <a:cs typeface="Times New Roman" panose="02020603050405020304" pitchFamily="18" charset="0"/>
              </a:rPr>
              <a:t>gestion plus rigoureuse des échecs</a:t>
            </a:r>
            <a:r>
              <a:rPr lang="fr-FR" sz="1800" kern="100" dirty="0">
                <a:effectLst/>
                <a:latin typeface="Aptos" panose="020B0004020202020204" pitchFamily="34" charset="0"/>
                <a:ea typeface="Aptos" panose="020B0004020202020204" pitchFamily="34" charset="0"/>
                <a:cs typeface="Times New Roman" panose="02020603050405020304" pitchFamily="18" charset="0"/>
              </a:rPr>
              <a:t>.</a:t>
            </a:r>
          </a:p>
          <a:p>
            <a:pPr marL="285750" lvl="0" indent="-285750">
              <a:lnSpc>
                <a:spcPct val="115000"/>
              </a:lnSpc>
              <a:spcAft>
                <a:spcPts val="800"/>
              </a:spcAft>
              <a:buFont typeface="Arial" panose="020B0604020202020204" pitchFamily="34" charset="0"/>
              <a:buChar char="•"/>
              <a:tabLst>
                <a:tab pos="457200" algn="l"/>
              </a:tabLst>
            </a:pPr>
            <a:r>
              <a:rPr lang="fr-FR" sz="1800" b="1" kern="100" dirty="0">
                <a:effectLst/>
                <a:latin typeface="Aptos" panose="020B0004020202020204" pitchFamily="34" charset="0"/>
                <a:ea typeface="Aptos" panose="020B0004020202020204" pitchFamily="34" charset="0"/>
                <a:cs typeface="Times New Roman" panose="02020603050405020304" pitchFamily="18" charset="0"/>
              </a:rPr>
              <a:t>Coordination plus facile des flux complexes</a:t>
            </a:r>
            <a:r>
              <a:rPr lang="fr-FR" sz="1800" kern="100" dirty="0">
                <a:effectLst/>
                <a:latin typeface="Aptos" panose="020B0004020202020204" pitchFamily="34" charset="0"/>
                <a:ea typeface="Aptos" panose="020B0004020202020204" pitchFamily="34" charset="0"/>
                <a:cs typeface="Times New Roman" panose="02020603050405020304" pitchFamily="18" charset="0"/>
              </a:rPr>
              <a:t> : Lorsqu’il y a des interactions complexes entre plusieurs </a:t>
            </a:r>
            <a:r>
              <a:rPr lang="fr-FR" sz="1800" kern="100" dirty="0" err="1">
                <a:effectLst/>
                <a:latin typeface="Aptos" panose="020B0004020202020204" pitchFamily="34" charset="0"/>
                <a:ea typeface="Aptos" panose="020B0004020202020204" pitchFamily="34" charset="0"/>
                <a:cs typeface="Times New Roman" panose="02020603050405020304" pitchFamily="18" charset="0"/>
              </a:rPr>
              <a:t>microservices</a:t>
            </a:r>
            <a:r>
              <a:rPr lang="fr-FR" sz="1800" kern="100" dirty="0">
                <a:effectLst/>
                <a:latin typeface="Aptos" panose="020B0004020202020204" pitchFamily="34" charset="0"/>
                <a:ea typeface="Aptos" panose="020B0004020202020204" pitchFamily="34" charset="0"/>
                <a:cs typeface="Times New Roman" panose="02020603050405020304" pitchFamily="18" charset="0"/>
              </a:rPr>
              <a:t>, l’orchestrateur peut gérer efficacement les dépendances et s’assurer que tout se passe dans le bon ordre.</a:t>
            </a:r>
          </a:p>
          <a:p>
            <a:pPr marL="285750" lvl="0" indent="-285750">
              <a:lnSpc>
                <a:spcPct val="115000"/>
              </a:lnSpc>
              <a:spcAft>
                <a:spcPts val="800"/>
              </a:spcAft>
              <a:buFont typeface="Arial" panose="020B0604020202020204" pitchFamily="34" charset="0"/>
              <a:buChar char="•"/>
              <a:tabLst>
                <a:tab pos="457200" algn="l"/>
              </a:tabLst>
            </a:pPr>
            <a:r>
              <a:rPr lang="fr-FR" sz="1800" b="1" kern="100" dirty="0">
                <a:effectLst/>
                <a:latin typeface="Aptos" panose="020B0004020202020204" pitchFamily="34" charset="0"/>
                <a:ea typeface="Aptos" panose="020B0004020202020204" pitchFamily="34" charset="0"/>
                <a:cs typeface="Times New Roman" panose="02020603050405020304" pitchFamily="18" charset="0"/>
              </a:rPr>
              <a:t>Flexibilité</a:t>
            </a:r>
            <a:r>
              <a:rPr lang="fr-FR" sz="1800" kern="100" dirty="0">
                <a:effectLst/>
                <a:latin typeface="Aptos" panose="020B0004020202020204" pitchFamily="34" charset="0"/>
                <a:ea typeface="Aptos" panose="020B0004020202020204" pitchFamily="34" charset="0"/>
                <a:cs typeface="Times New Roman" panose="02020603050405020304" pitchFamily="18" charset="0"/>
              </a:rPr>
              <a:t> : Il est plus facile de modifier la logique métier et de changer l'ordre des opérations, car tout est centralisé dans l’orchestrateur.</a:t>
            </a:r>
          </a:p>
        </p:txBody>
      </p:sp>
    </p:spTree>
    <p:extLst>
      <p:ext uri="{BB962C8B-B14F-4D97-AF65-F5344CB8AC3E}">
        <p14:creationId xmlns:p14="http://schemas.microsoft.com/office/powerpoint/2010/main" val="30688269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65AAA-D31D-781D-61C4-30C44FC61E31}"/>
            </a:ext>
          </a:extLst>
        </p:cNvPr>
        <p:cNvGrpSpPr/>
        <p:nvPr/>
      </p:nvGrpSpPr>
      <p:grpSpPr>
        <a:xfrm>
          <a:off x="0" y="0"/>
          <a:ext cx="0" cy="0"/>
          <a:chOff x="0" y="0"/>
          <a:chExt cx="0" cy="0"/>
        </a:xfrm>
      </p:grpSpPr>
      <p:sp>
        <p:nvSpPr>
          <p:cNvPr id="4" name="Titre 1">
            <a:extLst>
              <a:ext uri="{FF2B5EF4-FFF2-40B4-BE49-F238E27FC236}">
                <a16:creationId xmlns:a16="http://schemas.microsoft.com/office/drawing/2014/main" id="{44007C90-0BBB-B807-E7B3-81C191A286C2}"/>
              </a:ext>
            </a:extLst>
          </p:cNvPr>
          <p:cNvSpPr txBox="1">
            <a:spLocks/>
          </p:cNvSpPr>
          <p:nvPr/>
        </p:nvSpPr>
        <p:spPr>
          <a:xfrm>
            <a:off x="223520" y="284485"/>
            <a:ext cx="8047178" cy="42567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b="1" dirty="0"/>
              <a:t>CQRS : Command </a:t>
            </a:r>
            <a:r>
              <a:rPr lang="fr-FR" sz="2800" b="1" dirty="0" err="1"/>
              <a:t>Query</a:t>
            </a:r>
            <a:r>
              <a:rPr lang="fr-FR" sz="2800" b="1" dirty="0"/>
              <a:t> </a:t>
            </a:r>
            <a:r>
              <a:rPr lang="fr-FR" sz="2800" b="1" dirty="0" err="1"/>
              <a:t>Responsibility</a:t>
            </a:r>
            <a:r>
              <a:rPr lang="fr-FR" sz="2800" b="1" dirty="0"/>
              <a:t> </a:t>
            </a:r>
            <a:r>
              <a:rPr lang="fr-FR" sz="2800" b="1" dirty="0" err="1"/>
              <a:t>Segregation</a:t>
            </a:r>
            <a:endParaRPr lang="fr-FR" sz="2800" b="1" dirty="0"/>
          </a:p>
        </p:txBody>
      </p:sp>
      <p:cxnSp>
        <p:nvCxnSpPr>
          <p:cNvPr id="5" name="Connecteur droit 4">
            <a:extLst>
              <a:ext uri="{FF2B5EF4-FFF2-40B4-BE49-F238E27FC236}">
                <a16:creationId xmlns:a16="http://schemas.microsoft.com/office/drawing/2014/main" id="{7CDFE1D1-440E-4317-1B69-25D434C22B78}"/>
              </a:ext>
            </a:extLst>
          </p:cNvPr>
          <p:cNvCxnSpPr>
            <a:cxnSpLocks/>
          </p:cNvCxnSpPr>
          <p:nvPr/>
        </p:nvCxnSpPr>
        <p:spPr>
          <a:xfrm>
            <a:off x="0" y="86754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Sous-titre 2">
            <a:extLst>
              <a:ext uri="{FF2B5EF4-FFF2-40B4-BE49-F238E27FC236}">
                <a16:creationId xmlns:a16="http://schemas.microsoft.com/office/drawing/2014/main" id="{35B93351-4208-4F5F-D29D-13192DAC41CA}"/>
              </a:ext>
            </a:extLst>
          </p:cNvPr>
          <p:cNvSpPr txBox="1">
            <a:spLocks/>
          </p:cNvSpPr>
          <p:nvPr/>
        </p:nvSpPr>
        <p:spPr>
          <a:xfrm>
            <a:off x="4324350" y="6643878"/>
            <a:ext cx="2890647" cy="2141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100" b="1">
                <a:solidFill>
                  <a:schemeClr val="tx2"/>
                </a:solidFill>
              </a:rPr>
              <a:t>Préparé et Présenté par Daniel  Lawson</a:t>
            </a:r>
            <a:endParaRPr lang="fr-FR" sz="1100" b="1" dirty="0">
              <a:solidFill>
                <a:schemeClr val="tx2"/>
              </a:solidFill>
            </a:endParaRPr>
          </a:p>
        </p:txBody>
      </p:sp>
      <p:sp>
        <p:nvSpPr>
          <p:cNvPr id="8" name="ZoneTexte 7">
            <a:extLst>
              <a:ext uri="{FF2B5EF4-FFF2-40B4-BE49-F238E27FC236}">
                <a16:creationId xmlns:a16="http://schemas.microsoft.com/office/drawing/2014/main" id="{9C4BD768-DEC3-35EB-0832-33C6640071ED}"/>
              </a:ext>
            </a:extLst>
          </p:cNvPr>
          <p:cNvSpPr txBox="1"/>
          <p:nvPr/>
        </p:nvSpPr>
        <p:spPr>
          <a:xfrm>
            <a:off x="113939" y="1139898"/>
            <a:ext cx="7441291" cy="4972387"/>
          </a:xfrm>
          <a:prstGeom prst="rect">
            <a:avLst/>
          </a:prstGeom>
          <a:noFill/>
        </p:spPr>
        <p:txBody>
          <a:bodyPr wrap="square">
            <a:spAutoFit/>
          </a:bodyPr>
          <a:lstStyle/>
          <a:p>
            <a:pPr marL="228600">
              <a:lnSpc>
                <a:spcPct val="150000"/>
              </a:lnSpc>
              <a:spcAft>
                <a:spcPts val="800"/>
              </a:spcAft>
            </a:pPr>
            <a:r>
              <a:rPr lang="fr-FR" sz="2000" b="1" kern="100" dirty="0">
                <a:effectLst/>
                <a:latin typeface="Aptos" panose="020B0004020202020204" pitchFamily="34" charset="0"/>
                <a:ea typeface="Aptos" panose="020B0004020202020204" pitchFamily="34" charset="0"/>
                <a:cs typeface="Times New Roman" panose="02020603050405020304" pitchFamily="18" charset="0"/>
              </a:rPr>
              <a:t>Quelques défis </a:t>
            </a:r>
            <a:r>
              <a:rPr lang="fr-FR" sz="2000" kern="100" dirty="0">
                <a:effectLst/>
                <a:latin typeface="Aptos" panose="020B0004020202020204" pitchFamily="34" charset="0"/>
                <a:ea typeface="Aptos" panose="020B0004020202020204" pitchFamily="34" charset="0"/>
                <a:cs typeface="Times New Roman" panose="02020603050405020304" pitchFamily="18" charset="0"/>
              </a:rPr>
              <a:t>communément rencontrés dans </a:t>
            </a:r>
            <a:r>
              <a:rPr lang="fr-FR" sz="2000" b="1" kern="100" dirty="0">
                <a:effectLst/>
                <a:latin typeface="Aptos" panose="020B0004020202020204" pitchFamily="34" charset="0"/>
                <a:ea typeface="Aptos" panose="020B0004020202020204" pitchFamily="34" charset="0"/>
                <a:cs typeface="Times New Roman" panose="02020603050405020304" pitchFamily="18" charset="0"/>
              </a:rPr>
              <a:t>l’implémentation des requêtes</a:t>
            </a:r>
            <a:r>
              <a:rPr lang="fr-FR" sz="2000" kern="100" dirty="0">
                <a:effectLst/>
                <a:latin typeface="Aptos" panose="020B0004020202020204" pitchFamily="34" charset="0"/>
                <a:ea typeface="Aptos" panose="020B0004020202020204" pitchFamily="34" charset="0"/>
                <a:cs typeface="Times New Roman" panose="02020603050405020304" pitchFamily="18" charset="0"/>
              </a:rPr>
              <a:t> en architecture </a:t>
            </a:r>
            <a:r>
              <a:rPr lang="fr-FR" sz="2000" kern="100" dirty="0" err="1">
                <a:effectLst/>
                <a:latin typeface="Aptos" panose="020B0004020202020204" pitchFamily="34" charset="0"/>
                <a:ea typeface="Aptos" panose="020B0004020202020204" pitchFamily="34" charset="0"/>
                <a:cs typeface="Times New Roman" panose="02020603050405020304" pitchFamily="18" charset="0"/>
              </a:rPr>
              <a:t>microservices</a:t>
            </a:r>
            <a:r>
              <a:rPr lang="fr-FR" sz="2000" kern="100" dirty="0">
                <a:effectLst/>
                <a:latin typeface="Aptos" panose="020B0004020202020204" pitchFamily="34" charset="0"/>
                <a:ea typeface="Aptos" panose="020B0004020202020204" pitchFamily="34" charset="0"/>
                <a:cs typeface="Times New Roman" panose="02020603050405020304" pitchFamily="18" charset="0"/>
              </a:rPr>
              <a:t> sont : </a:t>
            </a:r>
          </a:p>
          <a:p>
            <a:pPr marL="571500" indent="-342900">
              <a:lnSpc>
                <a:spcPct val="150000"/>
              </a:lnSpc>
              <a:spcAft>
                <a:spcPts val="800"/>
              </a:spcAft>
              <a:buFont typeface="Arial" panose="020B0604020202020204" pitchFamily="34" charset="0"/>
              <a:buChar char="•"/>
            </a:pPr>
            <a:r>
              <a:rPr lang="fr-FR" sz="2000" kern="100" dirty="0">
                <a:effectLst/>
                <a:latin typeface="Aptos" panose="020B0004020202020204" pitchFamily="34" charset="0"/>
                <a:ea typeface="Aptos" panose="020B0004020202020204" pitchFamily="34" charset="0"/>
                <a:cs typeface="Times New Roman" panose="02020603050405020304" pitchFamily="18" charset="0"/>
              </a:rPr>
              <a:t>L’utilisation de la composition d’API est souvent coûteuse et inefficace dans les jointures en mémoire</a:t>
            </a:r>
          </a:p>
          <a:p>
            <a:pPr marL="571500" indent="-342900">
              <a:lnSpc>
                <a:spcPct val="150000"/>
              </a:lnSpc>
              <a:spcAft>
                <a:spcPts val="800"/>
              </a:spcAft>
              <a:buFont typeface="Arial" panose="020B0604020202020204" pitchFamily="34" charset="0"/>
              <a:buChar char="•"/>
            </a:pPr>
            <a:r>
              <a:rPr lang="fr-FR" sz="2000" kern="100" dirty="0">
                <a:latin typeface="Aptos" panose="020B0004020202020204" pitchFamily="34" charset="0"/>
                <a:ea typeface="Aptos" panose="020B0004020202020204" pitchFamily="34" charset="0"/>
                <a:cs typeface="Times New Roman" panose="02020603050405020304" pitchFamily="18" charset="0"/>
              </a:rPr>
              <a:t>Le service qui détient la donnée dans sa base de données ne supporte pas le type de requête de manière efficiente</a:t>
            </a:r>
          </a:p>
          <a:p>
            <a:pPr marL="571500" indent="-342900">
              <a:lnSpc>
                <a:spcPct val="150000"/>
              </a:lnSpc>
              <a:spcAft>
                <a:spcPts val="800"/>
              </a:spcAft>
              <a:buFont typeface="Arial" panose="020B0604020202020204" pitchFamily="34" charset="0"/>
              <a:buChar char="•"/>
            </a:pPr>
            <a:r>
              <a:rPr lang="fr-FR" sz="2000" kern="100" dirty="0">
                <a:effectLst/>
                <a:latin typeface="Aptos" panose="020B0004020202020204" pitchFamily="34" charset="0"/>
                <a:ea typeface="Aptos" panose="020B0004020202020204" pitchFamily="34" charset="0"/>
                <a:cs typeface="Times New Roman" panose="02020603050405020304" pitchFamily="18" charset="0"/>
              </a:rPr>
              <a:t>Le besoin de séparer les fonctionnalités fait que le service qui détient la donnée n’est parfois pas celui qui doit implémenter la requête.</a:t>
            </a:r>
          </a:p>
        </p:txBody>
      </p:sp>
      <p:pic>
        <p:nvPicPr>
          <p:cNvPr id="1028" name="Picture 4" descr="Critical thinking concept illustration">
            <a:extLst>
              <a:ext uri="{FF2B5EF4-FFF2-40B4-BE49-F238E27FC236}">
                <a16:creationId xmlns:a16="http://schemas.microsoft.com/office/drawing/2014/main" id="{EF8E1673-AFB3-50A4-AF26-AC2B3062A2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1762" y="1282941"/>
            <a:ext cx="4686299" cy="46862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43052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BC025-5126-4E7B-89D1-4AA6C2F2F40C}"/>
            </a:ext>
          </a:extLst>
        </p:cNvPr>
        <p:cNvGrpSpPr/>
        <p:nvPr/>
      </p:nvGrpSpPr>
      <p:grpSpPr>
        <a:xfrm>
          <a:off x="0" y="0"/>
          <a:ext cx="0" cy="0"/>
          <a:chOff x="0" y="0"/>
          <a:chExt cx="0" cy="0"/>
        </a:xfrm>
      </p:grpSpPr>
      <p:sp>
        <p:nvSpPr>
          <p:cNvPr id="4" name="Titre 1">
            <a:extLst>
              <a:ext uri="{FF2B5EF4-FFF2-40B4-BE49-F238E27FC236}">
                <a16:creationId xmlns:a16="http://schemas.microsoft.com/office/drawing/2014/main" id="{7E228BD0-63AA-A227-CCA8-CF7F534B5A30}"/>
              </a:ext>
            </a:extLst>
          </p:cNvPr>
          <p:cNvSpPr txBox="1">
            <a:spLocks/>
          </p:cNvSpPr>
          <p:nvPr/>
        </p:nvSpPr>
        <p:spPr>
          <a:xfrm>
            <a:off x="223520" y="284485"/>
            <a:ext cx="8047178" cy="42567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b="1" dirty="0"/>
              <a:t>CQRS : Command </a:t>
            </a:r>
            <a:r>
              <a:rPr lang="fr-FR" sz="2800" b="1" dirty="0" err="1"/>
              <a:t>Query</a:t>
            </a:r>
            <a:r>
              <a:rPr lang="fr-FR" sz="2800" b="1" dirty="0"/>
              <a:t> </a:t>
            </a:r>
            <a:r>
              <a:rPr lang="fr-FR" sz="2800" b="1" dirty="0" err="1"/>
              <a:t>Responsibility</a:t>
            </a:r>
            <a:r>
              <a:rPr lang="fr-FR" sz="2800" b="1" dirty="0"/>
              <a:t> </a:t>
            </a:r>
            <a:r>
              <a:rPr lang="fr-FR" sz="2800" b="1" dirty="0" err="1"/>
              <a:t>Segregation</a:t>
            </a:r>
            <a:endParaRPr lang="fr-FR" sz="2800" b="1" dirty="0"/>
          </a:p>
        </p:txBody>
      </p:sp>
      <p:cxnSp>
        <p:nvCxnSpPr>
          <p:cNvPr id="5" name="Connecteur droit 4">
            <a:extLst>
              <a:ext uri="{FF2B5EF4-FFF2-40B4-BE49-F238E27FC236}">
                <a16:creationId xmlns:a16="http://schemas.microsoft.com/office/drawing/2014/main" id="{8592C52A-5B9C-0D00-CC84-0CB9E9E0A30D}"/>
              </a:ext>
            </a:extLst>
          </p:cNvPr>
          <p:cNvCxnSpPr>
            <a:cxnSpLocks/>
          </p:cNvCxnSpPr>
          <p:nvPr/>
        </p:nvCxnSpPr>
        <p:spPr>
          <a:xfrm>
            <a:off x="0" y="86754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Sous-titre 2">
            <a:extLst>
              <a:ext uri="{FF2B5EF4-FFF2-40B4-BE49-F238E27FC236}">
                <a16:creationId xmlns:a16="http://schemas.microsoft.com/office/drawing/2014/main" id="{FD08616D-E176-11C4-FD76-698BBC53A485}"/>
              </a:ext>
            </a:extLst>
          </p:cNvPr>
          <p:cNvSpPr txBox="1">
            <a:spLocks/>
          </p:cNvSpPr>
          <p:nvPr/>
        </p:nvSpPr>
        <p:spPr>
          <a:xfrm>
            <a:off x="4324350" y="6643878"/>
            <a:ext cx="2890647" cy="2141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100" b="1">
                <a:solidFill>
                  <a:schemeClr val="tx2"/>
                </a:solidFill>
              </a:rPr>
              <a:t>Préparé et Présenté par Daniel  Lawson</a:t>
            </a:r>
            <a:endParaRPr lang="fr-FR" sz="1100" b="1" dirty="0">
              <a:solidFill>
                <a:schemeClr val="tx2"/>
              </a:solidFill>
            </a:endParaRPr>
          </a:p>
        </p:txBody>
      </p:sp>
      <p:sp>
        <p:nvSpPr>
          <p:cNvPr id="8" name="ZoneTexte 7">
            <a:extLst>
              <a:ext uri="{FF2B5EF4-FFF2-40B4-BE49-F238E27FC236}">
                <a16:creationId xmlns:a16="http://schemas.microsoft.com/office/drawing/2014/main" id="{45CCD6F3-C357-5823-17BB-39CFE63CFAE0}"/>
              </a:ext>
            </a:extLst>
          </p:cNvPr>
          <p:cNvSpPr txBox="1"/>
          <p:nvPr/>
        </p:nvSpPr>
        <p:spPr>
          <a:xfrm>
            <a:off x="113939" y="1139898"/>
            <a:ext cx="11716817" cy="4332468"/>
          </a:xfrm>
          <a:prstGeom prst="rect">
            <a:avLst/>
          </a:prstGeom>
          <a:noFill/>
        </p:spPr>
        <p:txBody>
          <a:bodyPr wrap="square">
            <a:spAutoFit/>
          </a:bodyPr>
          <a:lstStyle/>
          <a:p>
            <a:pPr marL="228600">
              <a:lnSpc>
                <a:spcPct val="115000"/>
              </a:lnSpc>
              <a:spcAft>
                <a:spcPts val="800"/>
              </a:spcAft>
            </a:pPr>
            <a:r>
              <a:rPr lang="fr-FR" sz="2000" b="1" kern="100" dirty="0">
                <a:effectLst/>
                <a:latin typeface="Aptos" panose="020B0004020202020204" pitchFamily="34" charset="0"/>
                <a:ea typeface="Aptos" panose="020B0004020202020204" pitchFamily="34" charset="0"/>
                <a:cs typeface="Times New Roman" panose="02020603050405020304" pitchFamily="18" charset="0"/>
              </a:rPr>
              <a:t>Définition</a:t>
            </a:r>
          </a:p>
          <a:p>
            <a:pPr marL="228600">
              <a:lnSpc>
                <a:spcPct val="115000"/>
              </a:lnSpc>
              <a:spcAft>
                <a:spcPts val="800"/>
              </a:spcAft>
            </a:pPr>
            <a:r>
              <a:rPr lang="fr-FR" sz="2000" kern="100" dirty="0">
                <a:effectLst/>
                <a:latin typeface="Aptos" panose="020B0004020202020204" pitchFamily="34" charset="0"/>
                <a:ea typeface="Aptos" panose="020B0004020202020204" pitchFamily="34" charset="0"/>
                <a:cs typeface="Times New Roman" panose="02020603050405020304" pitchFamily="18" charset="0"/>
              </a:rPr>
              <a:t>Le </a:t>
            </a:r>
            <a:r>
              <a:rPr lang="fr-FR" sz="2000" b="1" kern="100" dirty="0">
                <a:effectLst/>
                <a:latin typeface="Aptos" panose="020B0004020202020204" pitchFamily="34" charset="0"/>
                <a:ea typeface="Aptos" panose="020B0004020202020204" pitchFamily="34" charset="0"/>
                <a:cs typeface="Times New Roman" panose="02020603050405020304" pitchFamily="18" charset="0"/>
              </a:rPr>
              <a:t>CQRS</a:t>
            </a:r>
            <a:r>
              <a:rPr lang="fr-FR" sz="2000" kern="100" dirty="0">
                <a:effectLst/>
                <a:latin typeface="Aptos" panose="020B0004020202020204" pitchFamily="34" charset="0"/>
                <a:ea typeface="Aptos" panose="020B0004020202020204" pitchFamily="34" charset="0"/>
                <a:cs typeface="Times New Roman" panose="02020603050405020304" pitchFamily="18" charset="0"/>
              </a:rPr>
              <a:t> est un autre modèle utile dans les transactions distribuées. </a:t>
            </a:r>
          </a:p>
          <a:p>
            <a:pPr marL="228600">
              <a:lnSpc>
                <a:spcPct val="115000"/>
              </a:lnSpc>
              <a:spcAft>
                <a:spcPts val="800"/>
              </a:spcAft>
            </a:pPr>
            <a:r>
              <a:rPr lang="fr-FR" sz="2000" kern="100" dirty="0">
                <a:effectLst/>
                <a:latin typeface="Aptos" panose="020B0004020202020204" pitchFamily="34" charset="0"/>
                <a:ea typeface="Aptos" panose="020B0004020202020204" pitchFamily="34" charset="0"/>
                <a:cs typeface="Times New Roman" panose="02020603050405020304" pitchFamily="18" charset="0"/>
              </a:rPr>
              <a:t>Il consiste à </a:t>
            </a:r>
            <a:r>
              <a:rPr lang="fr-FR" sz="2000" b="1" kern="100" dirty="0">
                <a:effectLst/>
                <a:latin typeface="Aptos" panose="020B0004020202020204" pitchFamily="34" charset="0"/>
                <a:ea typeface="Aptos" panose="020B0004020202020204" pitchFamily="34" charset="0"/>
                <a:cs typeface="Times New Roman" panose="02020603050405020304" pitchFamily="18" charset="0"/>
              </a:rPr>
              <a:t>séparer les opérations de lecture et d'écriture en deux modèles distincts</a:t>
            </a:r>
            <a:r>
              <a:rPr lang="fr-FR" sz="2000" kern="100" dirty="0">
                <a:effectLst/>
                <a:latin typeface="Aptos" panose="020B0004020202020204" pitchFamily="34" charset="0"/>
                <a:ea typeface="Aptos" panose="020B0004020202020204" pitchFamily="34" charset="0"/>
                <a:cs typeface="Times New Roman" panose="02020603050405020304" pitchFamily="18" charset="0"/>
              </a:rPr>
              <a:t>, permettant aux </a:t>
            </a:r>
            <a:r>
              <a:rPr lang="fr-FR" sz="2000" kern="100" dirty="0" err="1">
                <a:effectLst/>
                <a:latin typeface="Aptos" panose="020B0004020202020204" pitchFamily="34" charset="0"/>
                <a:ea typeface="Aptos" panose="020B0004020202020204" pitchFamily="34" charset="0"/>
                <a:cs typeface="Times New Roman" panose="02020603050405020304" pitchFamily="18" charset="0"/>
              </a:rPr>
              <a:t>microservices</a:t>
            </a:r>
            <a:r>
              <a:rPr lang="fr-FR" sz="2000" kern="100" dirty="0">
                <a:effectLst/>
                <a:latin typeface="Aptos" panose="020B0004020202020204" pitchFamily="34" charset="0"/>
                <a:ea typeface="Aptos" panose="020B0004020202020204" pitchFamily="34" charset="0"/>
                <a:cs typeface="Times New Roman" panose="02020603050405020304" pitchFamily="18" charset="0"/>
              </a:rPr>
              <a:t> </a:t>
            </a:r>
            <a:r>
              <a:rPr lang="fr-FR" sz="2000" b="1" kern="100" dirty="0">
                <a:effectLst/>
                <a:latin typeface="Aptos" panose="020B0004020202020204" pitchFamily="34" charset="0"/>
                <a:ea typeface="Aptos" panose="020B0004020202020204" pitchFamily="34" charset="0"/>
                <a:cs typeface="Times New Roman" panose="02020603050405020304" pitchFamily="18" charset="0"/>
              </a:rPr>
              <a:t>d'optimiser chaque opération indépendamment</a:t>
            </a:r>
            <a:r>
              <a:rPr lang="fr-FR" sz="2000" kern="100" dirty="0">
                <a:effectLst/>
                <a:latin typeface="Aptos" panose="020B0004020202020204" pitchFamily="34" charset="0"/>
                <a:ea typeface="Aptos" panose="020B0004020202020204" pitchFamily="34" charset="0"/>
                <a:cs typeface="Times New Roman" panose="02020603050405020304" pitchFamily="18" charset="0"/>
              </a:rPr>
              <a:t>. </a:t>
            </a:r>
          </a:p>
          <a:p>
            <a:pPr marL="228600">
              <a:lnSpc>
                <a:spcPct val="115000"/>
              </a:lnSpc>
              <a:spcAft>
                <a:spcPts val="800"/>
              </a:spcAft>
            </a:pPr>
            <a:endParaRPr lang="fr-FR" sz="2000" kern="100" dirty="0">
              <a:effectLst/>
              <a:latin typeface="Aptos" panose="020B0004020202020204" pitchFamily="34" charset="0"/>
              <a:ea typeface="Aptos" panose="020B0004020202020204" pitchFamily="34" charset="0"/>
              <a:cs typeface="Times New Roman" panose="02020603050405020304" pitchFamily="18" charset="0"/>
            </a:endParaRPr>
          </a:p>
          <a:p>
            <a:pPr marL="228600">
              <a:lnSpc>
                <a:spcPct val="115000"/>
              </a:lnSpc>
              <a:spcAft>
                <a:spcPts val="800"/>
              </a:spcAft>
            </a:pPr>
            <a:r>
              <a:rPr lang="fr-FR" sz="2000" kern="100" dirty="0">
                <a:latin typeface="Aptos" panose="020B0004020202020204" pitchFamily="34" charset="0"/>
                <a:ea typeface="Aptos" panose="020B0004020202020204" pitchFamily="34" charset="0"/>
                <a:cs typeface="Times New Roman" panose="02020603050405020304" pitchFamily="18" charset="0"/>
              </a:rPr>
              <a:t>Le modèle d’ écriture (</a:t>
            </a:r>
            <a:r>
              <a:rPr lang="fr-FR" sz="2000" b="1" kern="100" dirty="0">
                <a:latin typeface="Aptos" panose="020B0004020202020204" pitchFamily="34" charset="0"/>
                <a:ea typeface="Aptos" panose="020B0004020202020204" pitchFamily="34" charset="0"/>
                <a:cs typeface="Times New Roman" panose="02020603050405020304" pitchFamily="18" charset="0"/>
              </a:rPr>
              <a:t>Command</a:t>
            </a:r>
            <a:r>
              <a:rPr lang="fr-FR" sz="2000" kern="100" dirty="0">
                <a:latin typeface="Aptos" panose="020B0004020202020204" pitchFamily="34" charset="0"/>
                <a:ea typeface="Aptos" panose="020B0004020202020204" pitchFamily="34" charset="0"/>
                <a:cs typeface="Times New Roman" panose="02020603050405020304" pitchFamily="18" charset="0"/>
              </a:rPr>
              <a:t>) implémente les opérations </a:t>
            </a:r>
            <a:r>
              <a:rPr lang="fr-FR" sz="2000" kern="100" dirty="0" err="1">
                <a:latin typeface="Aptos" panose="020B0004020202020204" pitchFamily="34" charset="0"/>
                <a:ea typeface="Aptos" panose="020B0004020202020204" pitchFamily="34" charset="0"/>
                <a:cs typeface="Times New Roman" panose="02020603050405020304" pitchFamily="18" charset="0"/>
              </a:rPr>
              <a:t>Create</a:t>
            </a:r>
            <a:r>
              <a:rPr lang="fr-FR" sz="2000" kern="100" dirty="0">
                <a:latin typeface="Aptos" panose="020B0004020202020204" pitchFamily="34" charset="0"/>
                <a:ea typeface="Aptos" panose="020B0004020202020204" pitchFamily="34" charset="0"/>
                <a:cs typeface="Times New Roman" panose="02020603050405020304" pitchFamily="18" charset="0"/>
              </a:rPr>
              <a:t>, Update et DELETE (CUD). </a:t>
            </a:r>
          </a:p>
          <a:p>
            <a:pPr marL="228600">
              <a:lnSpc>
                <a:spcPct val="115000"/>
              </a:lnSpc>
              <a:spcAft>
                <a:spcPts val="800"/>
              </a:spcAft>
            </a:pPr>
            <a:r>
              <a:rPr lang="fr-FR" sz="2000" kern="100" dirty="0">
                <a:latin typeface="Aptos" panose="020B0004020202020204" pitchFamily="34" charset="0"/>
                <a:ea typeface="Aptos" panose="020B0004020202020204" pitchFamily="34" charset="0"/>
                <a:cs typeface="Times New Roman" panose="02020603050405020304" pitchFamily="18" charset="0"/>
              </a:rPr>
              <a:t>Le modèle de lecture (</a:t>
            </a:r>
            <a:r>
              <a:rPr lang="fr-FR" sz="2000" b="1" kern="100" dirty="0" err="1">
                <a:latin typeface="Aptos" panose="020B0004020202020204" pitchFamily="34" charset="0"/>
                <a:ea typeface="Aptos" panose="020B0004020202020204" pitchFamily="34" charset="0"/>
                <a:cs typeface="Times New Roman" panose="02020603050405020304" pitchFamily="18" charset="0"/>
              </a:rPr>
              <a:t>Query</a:t>
            </a:r>
            <a:r>
              <a:rPr lang="fr-FR" sz="2000" kern="100" dirty="0">
                <a:latin typeface="Aptos" panose="020B0004020202020204" pitchFamily="34" charset="0"/>
                <a:ea typeface="Aptos" panose="020B0004020202020204" pitchFamily="34" charset="0"/>
                <a:cs typeface="Times New Roman" panose="02020603050405020304" pitchFamily="18" charset="0"/>
              </a:rPr>
              <a:t>) implémente les opérations Read.</a:t>
            </a:r>
          </a:p>
          <a:p>
            <a:pPr marL="228600">
              <a:lnSpc>
                <a:spcPct val="115000"/>
              </a:lnSpc>
              <a:spcAft>
                <a:spcPts val="800"/>
              </a:spcAft>
            </a:pPr>
            <a:endParaRPr lang="fr-FR" sz="2000" kern="100" dirty="0">
              <a:effectLst/>
              <a:latin typeface="Aptos" panose="020B0004020202020204" pitchFamily="34" charset="0"/>
              <a:ea typeface="Aptos" panose="020B0004020202020204" pitchFamily="34" charset="0"/>
              <a:cs typeface="Times New Roman" panose="02020603050405020304" pitchFamily="18" charset="0"/>
            </a:endParaRPr>
          </a:p>
          <a:p>
            <a:pPr marL="228600">
              <a:lnSpc>
                <a:spcPct val="115000"/>
              </a:lnSpc>
              <a:spcAft>
                <a:spcPts val="800"/>
              </a:spcAft>
            </a:pPr>
            <a:r>
              <a:rPr lang="fr-FR" sz="2000" kern="100" dirty="0">
                <a:effectLst/>
                <a:latin typeface="Aptos" panose="020B0004020202020204" pitchFamily="34" charset="0"/>
                <a:ea typeface="Aptos" panose="020B0004020202020204" pitchFamily="34" charset="0"/>
                <a:cs typeface="Times New Roman" panose="02020603050405020304" pitchFamily="18" charset="0"/>
              </a:rPr>
              <a:t>Les événements générés par les écritures peuvent ensuite être propagés aux services de lecture pour maintenir une consistance éventuelle.</a:t>
            </a:r>
          </a:p>
        </p:txBody>
      </p:sp>
    </p:spTree>
    <p:extLst>
      <p:ext uri="{BB962C8B-B14F-4D97-AF65-F5344CB8AC3E}">
        <p14:creationId xmlns:p14="http://schemas.microsoft.com/office/powerpoint/2010/main" val="39218583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AA204-2E5A-DA52-29A5-FD6A3CD17FAD}"/>
            </a:ext>
          </a:extLst>
        </p:cNvPr>
        <p:cNvGrpSpPr/>
        <p:nvPr/>
      </p:nvGrpSpPr>
      <p:grpSpPr>
        <a:xfrm>
          <a:off x="0" y="0"/>
          <a:ext cx="0" cy="0"/>
          <a:chOff x="0" y="0"/>
          <a:chExt cx="0" cy="0"/>
        </a:xfrm>
      </p:grpSpPr>
      <p:sp>
        <p:nvSpPr>
          <p:cNvPr id="4" name="Titre 1">
            <a:extLst>
              <a:ext uri="{FF2B5EF4-FFF2-40B4-BE49-F238E27FC236}">
                <a16:creationId xmlns:a16="http://schemas.microsoft.com/office/drawing/2014/main" id="{484B138E-A1FC-FE22-54C2-013C6D5AF2D7}"/>
              </a:ext>
            </a:extLst>
          </p:cNvPr>
          <p:cNvSpPr txBox="1">
            <a:spLocks/>
          </p:cNvSpPr>
          <p:nvPr/>
        </p:nvSpPr>
        <p:spPr>
          <a:xfrm>
            <a:off x="223520" y="284485"/>
            <a:ext cx="5594350" cy="42567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b="1" dirty="0"/>
              <a:t>Comparaison CQRS vs Non-CQRS</a:t>
            </a:r>
          </a:p>
        </p:txBody>
      </p:sp>
      <p:cxnSp>
        <p:nvCxnSpPr>
          <p:cNvPr id="5" name="Connecteur droit 4">
            <a:extLst>
              <a:ext uri="{FF2B5EF4-FFF2-40B4-BE49-F238E27FC236}">
                <a16:creationId xmlns:a16="http://schemas.microsoft.com/office/drawing/2014/main" id="{B38923FF-2EDE-70A7-1FD0-E2AD5FB26CFC}"/>
              </a:ext>
            </a:extLst>
          </p:cNvPr>
          <p:cNvCxnSpPr>
            <a:cxnSpLocks/>
          </p:cNvCxnSpPr>
          <p:nvPr/>
        </p:nvCxnSpPr>
        <p:spPr>
          <a:xfrm>
            <a:off x="0" y="86754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Sous-titre 2">
            <a:extLst>
              <a:ext uri="{FF2B5EF4-FFF2-40B4-BE49-F238E27FC236}">
                <a16:creationId xmlns:a16="http://schemas.microsoft.com/office/drawing/2014/main" id="{5223DAE6-6A7A-F08A-801D-3979A3AE63EB}"/>
              </a:ext>
            </a:extLst>
          </p:cNvPr>
          <p:cNvSpPr txBox="1">
            <a:spLocks/>
          </p:cNvSpPr>
          <p:nvPr/>
        </p:nvSpPr>
        <p:spPr>
          <a:xfrm>
            <a:off x="4324350" y="6643878"/>
            <a:ext cx="2890647" cy="2141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100" b="1">
                <a:solidFill>
                  <a:schemeClr val="tx2"/>
                </a:solidFill>
              </a:rPr>
              <a:t>Préparé et Présenté par Daniel  Lawson</a:t>
            </a:r>
            <a:endParaRPr lang="fr-FR" sz="1100" b="1" dirty="0">
              <a:solidFill>
                <a:schemeClr val="tx2"/>
              </a:solidFill>
            </a:endParaRPr>
          </a:p>
        </p:txBody>
      </p:sp>
      <p:sp>
        <p:nvSpPr>
          <p:cNvPr id="8" name="ZoneTexte 7">
            <a:extLst>
              <a:ext uri="{FF2B5EF4-FFF2-40B4-BE49-F238E27FC236}">
                <a16:creationId xmlns:a16="http://schemas.microsoft.com/office/drawing/2014/main" id="{8A2733C0-8C87-ABAF-97C5-5A228AE56525}"/>
              </a:ext>
            </a:extLst>
          </p:cNvPr>
          <p:cNvSpPr txBox="1"/>
          <p:nvPr/>
        </p:nvSpPr>
        <p:spPr>
          <a:xfrm>
            <a:off x="0" y="2008536"/>
            <a:ext cx="3589021" cy="2619628"/>
          </a:xfrm>
          <a:prstGeom prst="rect">
            <a:avLst/>
          </a:prstGeom>
          <a:noFill/>
        </p:spPr>
        <p:txBody>
          <a:bodyPr wrap="square">
            <a:spAutoFit/>
          </a:bodyPr>
          <a:lstStyle/>
          <a:p>
            <a:pPr marL="228600">
              <a:lnSpc>
                <a:spcPct val="115000"/>
              </a:lnSpc>
              <a:spcAft>
                <a:spcPts val="800"/>
              </a:spcAft>
            </a:pPr>
            <a:r>
              <a:rPr lang="fr-FR" sz="2000" b="1" kern="100" dirty="0">
                <a:effectLst/>
                <a:latin typeface="Aptos" panose="020B0004020202020204" pitchFamily="34" charset="0"/>
                <a:ea typeface="Aptos" panose="020B0004020202020204" pitchFamily="34" charset="0"/>
                <a:cs typeface="Times New Roman" panose="02020603050405020304" pitchFamily="18" charset="0"/>
              </a:rPr>
              <a:t>Ci-contre</a:t>
            </a:r>
            <a:r>
              <a:rPr lang="fr-FR" sz="2000" kern="100" dirty="0">
                <a:effectLst/>
                <a:latin typeface="Aptos" panose="020B0004020202020204" pitchFamily="34" charset="0"/>
                <a:ea typeface="Aptos" panose="020B0004020202020204" pitchFamily="34" charset="0"/>
                <a:cs typeface="Times New Roman" panose="02020603050405020304" pitchFamily="18" charset="0"/>
              </a:rPr>
              <a:t>, un schéma de comparaison entre un service non-CQRS et d’un service basé sur CQRS,</a:t>
            </a:r>
          </a:p>
          <a:p>
            <a:pPr marL="228600">
              <a:lnSpc>
                <a:spcPct val="115000"/>
              </a:lnSpc>
              <a:spcAft>
                <a:spcPts val="800"/>
              </a:spcAft>
            </a:pPr>
            <a:endParaRPr lang="fr-FR" sz="2000" kern="100" dirty="0">
              <a:effectLst/>
              <a:latin typeface="Aptos" panose="020B0004020202020204" pitchFamily="34" charset="0"/>
              <a:ea typeface="Aptos" panose="020B0004020202020204" pitchFamily="34" charset="0"/>
              <a:cs typeface="Times New Roman" panose="02020603050405020304" pitchFamily="18" charset="0"/>
            </a:endParaRPr>
          </a:p>
          <a:p>
            <a:pPr marL="228600">
              <a:lnSpc>
                <a:spcPct val="115000"/>
              </a:lnSpc>
              <a:spcAft>
                <a:spcPts val="800"/>
              </a:spcAft>
            </a:pPr>
            <a:r>
              <a:rPr lang="fr-FR" sz="1600" b="1" kern="100" dirty="0">
                <a:latin typeface="Aptos" panose="020B0004020202020204" pitchFamily="34" charset="0"/>
                <a:ea typeface="Aptos" panose="020B0004020202020204" pitchFamily="34" charset="0"/>
                <a:cs typeface="Times New Roman" panose="02020603050405020304" pitchFamily="18" charset="0"/>
              </a:rPr>
              <a:t>Source</a:t>
            </a:r>
            <a:r>
              <a:rPr lang="fr-FR" sz="1600" kern="100" dirty="0">
                <a:latin typeface="Aptos" panose="020B0004020202020204" pitchFamily="34" charset="0"/>
                <a:ea typeface="Aptos" panose="020B0004020202020204" pitchFamily="34" charset="0"/>
                <a:cs typeface="Times New Roman" panose="02020603050405020304" pitchFamily="18" charset="0"/>
              </a:rPr>
              <a:t> : Livre « </a:t>
            </a:r>
            <a:r>
              <a:rPr lang="fr-FR" sz="1600" kern="100" dirty="0" err="1">
                <a:latin typeface="Aptos" panose="020B0004020202020204" pitchFamily="34" charset="0"/>
                <a:ea typeface="Aptos" panose="020B0004020202020204" pitchFamily="34" charset="0"/>
                <a:cs typeface="Times New Roman" panose="02020603050405020304" pitchFamily="18" charset="0"/>
              </a:rPr>
              <a:t>Microservices</a:t>
            </a:r>
            <a:r>
              <a:rPr lang="fr-FR" sz="1600" kern="100" dirty="0">
                <a:latin typeface="Aptos" panose="020B0004020202020204" pitchFamily="34" charset="0"/>
                <a:ea typeface="Aptos" panose="020B0004020202020204" pitchFamily="34" charset="0"/>
                <a:cs typeface="Times New Roman" panose="02020603050405020304" pitchFamily="18" charset="0"/>
              </a:rPr>
              <a:t> Patterns », Chris </a:t>
            </a:r>
            <a:r>
              <a:rPr lang="fr-FR" sz="1600" kern="100" dirty="0" err="1">
                <a:latin typeface="Aptos" panose="020B0004020202020204" pitchFamily="34" charset="0"/>
                <a:ea typeface="Aptos" panose="020B0004020202020204" pitchFamily="34" charset="0"/>
                <a:cs typeface="Times New Roman" panose="02020603050405020304" pitchFamily="18" charset="0"/>
              </a:rPr>
              <a:t>Richarson</a:t>
            </a:r>
            <a:endParaRPr lang="fr-FR" sz="16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3" name="Image 2">
            <a:extLst>
              <a:ext uri="{FF2B5EF4-FFF2-40B4-BE49-F238E27FC236}">
                <a16:creationId xmlns:a16="http://schemas.microsoft.com/office/drawing/2014/main" id="{BD11EBEB-FB34-FAB4-7195-8D53B40E3789}"/>
              </a:ext>
            </a:extLst>
          </p:cNvPr>
          <p:cNvPicPr>
            <a:picLocks noChangeAspect="1"/>
          </p:cNvPicPr>
          <p:nvPr/>
        </p:nvPicPr>
        <p:blipFill>
          <a:blip r:embed="rId3"/>
          <a:stretch>
            <a:fillRect/>
          </a:stretch>
        </p:blipFill>
        <p:spPr>
          <a:xfrm>
            <a:off x="4160520" y="999018"/>
            <a:ext cx="7743975" cy="5568411"/>
          </a:xfrm>
          <a:prstGeom prst="rect">
            <a:avLst/>
          </a:prstGeom>
        </p:spPr>
      </p:pic>
    </p:spTree>
    <p:extLst>
      <p:ext uri="{BB962C8B-B14F-4D97-AF65-F5344CB8AC3E}">
        <p14:creationId xmlns:p14="http://schemas.microsoft.com/office/powerpoint/2010/main" val="13114918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6CDB3-F538-4FDB-A614-F6DD2B8BE326}"/>
            </a:ext>
          </a:extLst>
        </p:cNvPr>
        <p:cNvGrpSpPr/>
        <p:nvPr/>
      </p:nvGrpSpPr>
      <p:grpSpPr>
        <a:xfrm>
          <a:off x="0" y="0"/>
          <a:ext cx="0" cy="0"/>
          <a:chOff x="0" y="0"/>
          <a:chExt cx="0" cy="0"/>
        </a:xfrm>
      </p:grpSpPr>
      <p:sp>
        <p:nvSpPr>
          <p:cNvPr id="4" name="Titre 1">
            <a:extLst>
              <a:ext uri="{FF2B5EF4-FFF2-40B4-BE49-F238E27FC236}">
                <a16:creationId xmlns:a16="http://schemas.microsoft.com/office/drawing/2014/main" id="{D38BEDAE-721B-67C8-2461-10952B5FEA7B}"/>
              </a:ext>
            </a:extLst>
          </p:cNvPr>
          <p:cNvSpPr txBox="1">
            <a:spLocks/>
          </p:cNvSpPr>
          <p:nvPr/>
        </p:nvSpPr>
        <p:spPr>
          <a:xfrm>
            <a:off x="223520" y="284485"/>
            <a:ext cx="5228590" cy="42567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b="1" dirty="0"/>
              <a:t>CQRS et les services de lecture</a:t>
            </a:r>
          </a:p>
        </p:txBody>
      </p:sp>
      <p:cxnSp>
        <p:nvCxnSpPr>
          <p:cNvPr id="5" name="Connecteur droit 4">
            <a:extLst>
              <a:ext uri="{FF2B5EF4-FFF2-40B4-BE49-F238E27FC236}">
                <a16:creationId xmlns:a16="http://schemas.microsoft.com/office/drawing/2014/main" id="{DA9839B4-880F-A09B-F626-E8D4209A3462}"/>
              </a:ext>
            </a:extLst>
          </p:cNvPr>
          <p:cNvCxnSpPr>
            <a:cxnSpLocks/>
          </p:cNvCxnSpPr>
          <p:nvPr/>
        </p:nvCxnSpPr>
        <p:spPr>
          <a:xfrm>
            <a:off x="0" y="86754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Sous-titre 2">
            <a:extLst>
              <a:ext uri="{FF2B5EF4-FFF2-40B4-BE49-F238E27FC236}">
                <a16:creationId xmlns:a16="http://schemas.microsoft.com/office/drawing/2014/main" id="{46EF8988-026F-CC83-585B-459A57A97830}"/>
              </a:ext>
            </a:extLst>
          </p:cNvPr>
          <p:cNvSpPr txBox="1">
            <a:spLocks/>
          </p:cNvSpPr>
          <p:nvPr/>
        </p:nvSpPr>
        <p:spPr>
          <a:xfrm>
            <a:off x="4324350" y="6643878"/>
            <a:ext cx="2890647" cy="2141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100" b="1">
                <a:solidFill>
                  <a:schemeClr val="tx2"/>
                </a:solidFill>
              </a:rPr>
              <a:t>Préparé et Présenté par Daniel  Lawson</a:t>
            </a:r>
            <a:endParaRPr lang="fr-FR" sz="1100" b="1" dirty="0">
              <a:solidFill>
                <a:schemeClr val="tx2"/>
              </a:solidFill>
            </a:endParaRPr>
          </a:p>
        </p:txBody>
      </p:sp>
      <p:sp>
        <p:nvSpPr>
          <p:cNvPr id="8" name="ZoneTexte 7">
            <a:extLst>
              <a:ext uri="{FF2B5EF4-FFF2-40B4-BE49-F238E27FC236}">
                <a16:creationId xmlns:a16="http://schemas.microsoft.com/office/drawing/2014/main" id="{55F29C42-2DC4-4393-8A56-C20B11F9C39D}"/>
              </a:ext>
            </a:extLst>
          </p:cNvPr>
          <p:cNvSpPr txBox="1"/>
          <p:nvPr/>
        </p:nvSpPr>
        <p:spPr>
          <a:xfrm>
            <a:off x="0" y="2008535"/>
            <a:ext cx="4324350" cy="2973571"/>
          </a:xfrm>
          <a:prstGeom prst="rect">
            <a:avLst/>
          </a:prstGeom>
          <a:noFill/>
        </p:spPr>
        <p:txBody>
          <a:bodyPr wrap="square">
            <a:spAutoFit/>
          </a:bodyPr>
          <a:lstStyle/>
          <a:p>
            <a:pPr marL="228600">
              <a:lnSpc>
                <a:spcPct val="115000"/>
              </a:lnSpc>
              <a:spcAft>
                <a:spcPts val="800"/>
              </a:spcAft>
            </a:pPr>
            <a:r>
              <a:rPr lang="fr-FR" sz="2000" kern="100" dirty="0">
                <a:latin typeface="Aptos" panose="020B0004020202020204" pitchFamily="34" charset="0"/>
                <a:ea typeface="Aptos" panose="020B0004020202020204" pitchFamily="34" charset="0"/>
                <a:cs typeface="Times New Roman" panose="02020603050405020304" pitchFamily="18" charset="0"/>
              </a:rPr>
              <a:t>Le modèle </a:t>
            </a:r>
            <a:r>
              <a:rPr lang="fr-FR" sz="2000" b="1" kern="100" dirty="0">
                <a:latin typeface="Aptos" panose="020B0004020202020204" pitchFamily="34" charset="0"/>
                <a:ea typeface="Aptos" panose="020B0004020202020204" pitchFamily="34" charset="0"/>
                <a:cs typeface="Times New Roman" panose="02020603050405020304" pitchFamily="18" charset="0"/>
              </a:rPr>
              <a:t>CQRS</a:t>
            </a:r>
            <a:r>
              <a:rPr lang="fr-FR" sz="2000" kern="100" dirty="0">
                <a:latin typeface="Aptos" panose="020B0004020202020204" pitchFamily="34" charset="0"/>
                <a:ea typeface="Aptos" panose="020B0004020202020204" pitchFamily="34" charset="0"/>
                <a:cs typeface="Times New Roman" panose="02020603050405020304" pitchFamily="18" charset="0"/>
              </a:rPr>
              <a:t> peut également motiver la création de </a:t>
            </a:r>
            <a:r>
              <a:rPr lang="fr-FR" sz="2000" kern="100" dirty="0" err="1">
                <a:latin typeface="Aptos" panose="020B0004020202020204" pitchFamily="34" charset="0"/>
                <a:ea typeface="Aptos" panose="020B0004020202020204" pitchFamily="34" charset="0"/>
                <a:cs typeface="Times New Roman" panose="02020603050405020304" pitchFamily="18" charset="0"/>
              </a:rPr>
              <a:t>microservices</a:t>
            </a:r>
            <a:r>
              <a:rPr lang="fr-FR" sz="2000" kern="100" dirty="0">
                <a:latin typeface="Aptos" panose="020B0004020202020204" pitchFamily="34" charset="0"/>
                <a:ea typeface="Aptos" panose="020B0004020202020204" pitchFamily="34" charset="0"/>
                <a:cs typeface="Times New Roman" panose="02020603050405020304" pitchFamily="18" charset="0"/>
              </a:rPr>
              <a:t> </a:t>
            </a:r>
            <a:r>
              <a:rPr lang="fr-FR" sz="2000" b="1" kern="100" dirty="0">
                <a:latin typeface="Aptos" panose="020B0004020202020204" pitchFamily="34" charset="0"/>
                <a:ea typeface="Aptos" panose="020B0004020202020204" pitchFamily="34" charset="0"/>
                <a:cs typeface="Times New Roman" panose="02020603050405020304" pitchFamily="18" charset="0"/>
              </a:rPr>
              <a:t>dédiés uniquement à la lecture </a:t>
            </a:r>
            <a:r>
              <a:rPr lang="fr-FR" sz="2000" kern="100" dirty="0">
                <a:latin typeface="Aptos" panose="020B0004020202020204" pitchFamily="34" charset="0"/>
                <a:ea typeface="Aptos" panose="020B0004020202020204" pitchFamily="34" charset="0"/>
                <a:cs typeface="Times New Roman" panose="02020603050405020304" pitchFamily="18" charset="0"/>
              </a:rPr>
              <a:t>de données, comme illustré ci-contre :</a:t>
            </a:r>
          </a:p>
          <a:p>
            <a:pPr marL="228600">
              <a:lnSpc>
                <a:spcPct val="115000"/>
              </a:lnSpc>
              <a:spcAft>
                <a:spcPts val="800"/>
              </a:spcAft>
            </a:pPr>
            <a:endParaRPr lang="fr-FR" sz="2000" kern="100" dirty="0">
              <a:effectLst/>
              <a:latin typeface="Aptos" panose="020B0004020202020204" pitchFamily="34" charset="0"/>
              <a:ea typeface="Aptos" panose="020B0004020202020204" pitchFamily="34" charset="0"/>
              <a:cs typeface="Times New Roman" panose="02020603050405020304" pitchFamily="18" charset="0"/>
            </a:endParaRPr>
          </a:p>
          <a:p>
            <a:pPr marL="228600">
              <a:lnSpc>
                <a:spcPct val="115000"/>
              </a:lnSpc>
              <a:spcAft>
                <a:spcPts val="800"/>
              </a:spcAft>
            </a:pPr>
            <a:r>
              <a:rPr lang="fr-FR" sz="1600" b="1" kern="100" dirty="0">
                <a:latin typeface="Aptos" panose="020B0004020202020204" pitchFamily="34" charset="0"/>
                <a:ea typeface="Aptos" panose="020B0004020202020204" pitchFamily="34" charset="0"/>
                <a:cs typeface="Times New Roman" panose="02020603050405020304" pitchFamily="18" charset="0"/>
              </a:rPr>
              <a:t>Source</a:t>
            </a:r>
            <a:r>
              <a:rPr lang="fr-FR" sz="1600" kern="100" dirty="0">
                <a:latin typeface="Aptos" panose="020B0004020202020204" pitchFamily="34" charset="0"/>
                <a:ea typeface="Aptos" panose="020B0004020202020204" pitchFamily="34" charset="0"/>
                <a:cs typeface="Times New Roman" panose="02020603050405020304" pitchFamily="18" charset="0"/>
              </a:rPr>
              <a:t> : Microservices Patterns, Chris </a:t>
            </a:r>
            <a:r>
              <a:rPr lang="fr-FR" sz="1600" kern="100" dirty="0" err="1">
                <a:latin typeface="Aptos" panose="020B0004020202020204" pitchFamily="34" charset="0"/>
                <a:ea typeface="Aptos" panose="020B0004020202020204" pitchFamily="34" charset="0"/>
                <a:cs typeface="Times New Roman" panose="02020603050405020304" pitchFamily="18" charset="0"/>
              </a:rPr>
              <a:t>Richarson</a:t>
            </a:r>
            <a:endParaRPr lang="fr-FR" sz="16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7" name="Image 6">
            <a:extLst>
              <a:ext uri="{FF2B5EF4-FFF2-40B4-BE49-F238E27FC236}">
                <a16:creationId xmlns:a16="http://schemas.microsoft.com/office/drawing/2014/main" id="{DB4F4E13-363A-D08F-0F38-F8D7E834161D}"/>
              </a:ext>
            </a:extLst>
          </p:cNvPr>
          <p:cNvPicPr>
            <a:picLocks noChangeAspect="1"/>
          </p:cNvPicPr>
          <p:nvPr/>
        </p:nvPicPr>
        <p:blipFill>
          <a:blip r:embed="rId3"/>
          <a:stretch>
            <a:fillRect/>
          </a:stretch>
        </p:blipFill>
        <p:spPr>
          <a:xfrm>
            <a:off x="4716782" y="929334"/>
            <a:ext cx="7292340" cy="5469255"/>
          </a:xfrm>
          <a:prstGeom prst="rect">
            <a:avLst/>
          </a:prstGeom>
        </p:spPr>
      </p:pic>
    </p:spTree>
    <p:extLst>
      <p:ext uri="{BB962C8B-B14F-4D97-AF65-F5344CB8AC3E}">
        <p14:creationId xmlns:p14="http://schemas.microsoft.com/office/powerpoint/2010/main" val="33911751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00539-2E1C-73EA-F1AE-5CEFDAFF5758}"/>
            </a:ext>
          </a:extLst>
        </p:cNvPr>
        <p:cNvGrpSpPr/>
        <p:nvPr/>
      </p:nvGrpSpPr>
      <p:grpSpPr>
        <a:xfrm>
          <a:off x="0" y="0"/>
          <a:ext cx="0" cy="0"/>
          <a:chOff x="0" y="0"/>
          <a:chExt cx="0" cy="0"/>
        </a:xfrm>
      </p:grpSpPr>
      <p:pic>
        <p:nvPicPr>
          <p:cNvPr id="1028" name="Picture 4" descr="Pros and cons concept illustration">
            <a:extLst>
              <a:ext uri="{FF2B5EF4-FFF2-40B4-BE49-F238E27FC236}">
                <a16:creationId xmlns:a16="http://schemas.microsoft.com/office/drawing/2014/main" id="{CDFD5193-85D4-230D-7780-CF689E58C6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16922" y="1272398"/>
            <a:ext cx="4477587" cy="4477587"/>
          </a:xfrm>
          <a:prstGeom prst="rect">
            <a:avLst/>
          </a:prstGeom>
          <a:noFill/>
          <a:extLst>
            <a:ext uri="{909E8E84-426E-40DD-AFC4-6F175D3DCCD1}">
              <a14:hiddenFill xmlns:a14="http://schemas.microsoft.com/office/drawing/2010/main">
                <a:solidFill>
                  <a:srgbClr val="FFFFFF"/>
                </a:solidFill>
              </a14:hiddenFill>
            </a:ext>
          </a:extLst>
        </p:spPr>
      </p:pic>
      <p:sp>
        <p:nvSpPr>
          <p:cNvPr id="4" name="Titre 1">
            <a:extLst>
              <a:ext uri="{FF2B5EF4-FFF2-40B4-BE49-F238E27FC236}">
                <a16:creationId xmlns:a16="http://schemas.microsoft.com/office/drawing/2014/main" id="{5656DA9A-A38D-DF6C-BA0B-E34B10CB242E}"/>
              </a:ext>
            </a:extLst>
          </p:cNvPr>
          <p:cNvSpPr txBox="1">
            <a:spLocks/>
          </p:cNvSpPr>
          <p:nvPr/>
        </p:nvSpPr>
        <p:spPr>
          <a:xfrm>
            <a:off x="223520" y="284485"/>
            <a:ext cx="5491480" cy="42567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b="1" dirty="0"/>
              <a:t>CQRS: Avantages et inconvénients</a:t>
            </a:r>
          </a:p>
        </p:txBody>
      </p:sp>
      <p:cxnSp>
        <p:nvCxnSpPr>
          <p:cNvPr id="5" name="Connecteur droit 4">
            <a:extLst>
              <a:ext uri="{FF2B5EF4-FFF2-40B4-BE49-F238E27FC236}">
                <a16:creationId xmlns:a16="http://schemas.microsoft.com/office/drawing/2014/main" id="{4A077E06-4CB3-4D97-99C1-6BCAEF00D34E}"/>
              </a:ext>
            </a:extLst>
          </p:cNvPr>
          <p:cNvCxnSpPr>
            <a:cxnSpLocks/>
          </p:cNvCxnSpPr>
          <p:nvPr/>
        </p:nvCxnSpPr>
        <p:spPr>
          <a:xfrm>
            <a:off x="0" y="86754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Sous-titre 2">
            <a:extLst>
              <a:ext uri="{FF2B5EF4-FFF2-40B4-BE49-F238E27FC236}">
                <a16:creationId xmlns:a16="http://schemas.microsoft.com/office/drawing/2014/main" id="{1D24ECCD-98F7-4E1F-369A-E617F00A5C3C}"/>
              </a:ext>
            </a:extLst>
          </p:cNvPr>
          <p:cNvSpPr txBox="1">
            <a:spLocks/>
          </p:cNvSpPr>
          <p:nvPr/>
        </p:nvSpPr>
        <p:spPr>
          <a:xfrm>
            <a:off x="4324350" y="6643878"/>
            <a:ext cx="2890647" cy="2141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100" b="1">
                <a:solidFill>
                  <a:schemeClr val="tx2"/>
                </a:solidFill>
              </a:rPr>
              <a:t>Préparé et Présenté par Daniel  Lawson</a:t>
            </a:r>
            <a:endParaRPr lang="fr-FR" sz="1100" b="1" dirty="0">
              <a:solidFill>
                <a:schemeClr val="tx2"/>
              </a:solidFill>
            </a:endParaRPr>
          </a:p>
        </p:txBody>
      </p:sp>
      <p:sp>
        <p:nvSpPr>
          <p:cNvPr id="8" name="ZoneTexte 7">
            <a:extLst>
              <a:ext uri="{FF2B5EF4-FFF2-40B4-BE49-F238E27FC236}">
                <a16:creationId xmlns:a16="http://schemas.microsoft.com/office/drawing/2014/main" id="{041D220A-3ACF-B538-D7D9-EC67F63BE67C}"/>
              </a:ext>
            </a:extLst>
          </p:cNvPr>
          <p:cNvSpPr txBox="1"/>
          <p:nvPr/>
        </p:nvSpPr>
        <p:spPr>
          <a:xfrm>
            <a:off x="223519" y="993116"/>
            <a:ext cx="7471825" cy="3803285"/>
          </a:xfrm>
          <a:prstGeom prst="rect">
            <a:avLst/>
          </a:prstGeom>
          <a:noFill/>
        </p:spPr>
        <p:txBody>
          <a:bodyPr wrap="square">
            <a:spAutoFit/>
          </a:bodyPr>
          <a:lstStyle/>
          <a:p>
            <a:pPr>
              <a:lnSpc>
                <a:spcPct val="115000"/>
              </a:lnSpc>
              <a:spcAft>
                <a:spcPts val="800"/>
              </a:spcAft>
            </a:pPr>
            <a:r>
              <a:rPr lang="fr-FR" sz="2200" b="1" kern="100" dirty="0">
                <a:effectLst/>
                <a:latin typeface="Aptos" panose="020B0004020202020204" pitchFamily="34" charset="0"/>
                <a:ea typeface="Aptos" panose="020B0004020202020204" pitchFamily="34" charset="0"/>
                <a:cs typeface="Times New Roman" panose="02020603050405020304" pitchFamily="18" charset="0"/>
              </a:rPr>
              <a:t>Avantages</a:t>
            </a:r>
            <a:endParaRPr lang="fr-FR" sz="2200" kern="100" dirty="0">
              <a:latin typeface="Aptos" panose="020B0004020202020204" pitchFamily="34" charset="0"/>
              <a:ea typeface="Aptos" panose="020B0004020202020204" pitchFamily="34" charset="0"/>
              <a:cs typeface="Times New Roman" panose="02020603050405020304" pitchFamily="18" charset="0"/>
            </a:endParaRPr>
          </a:p>
          <a:p>
            <a:pPr marL="285750" lvl="0" indent="-285750">
              <a:lnSpc>
                <a:spcPct val="115000"/>
              </a:lnSpc>
              <a:spcAft>
                <a:spcPts val="800"/>
              </a:spcAft>
              <a:buFont typeface="Arial" panose="020B0604020202020204" pitchFamily="34" charset="0"/>
              <a:buChar char="•"/>
              <a:tabLst>
                <a:tab pos="457200" algn="l"/>
              </a:tabLst>
            </a:pPr>
            <a:r>
              <a:rPr lang="fr-FR" kern="100" dirty="0">
                <a:latin typeface="Aptos" panose="020B0004020202020204" pitchFamily="34" charset="0"/>
                <a:ea typeface="Aptos" panose="020B0004020202020204" pitchFamily="34" charset="0"/>
                <a:cs typeface="Times New Roman" panose="02020603050405020304" pitchFamily="18" charset="0"/>
              </a:rPr>
              <a:t>Permet l’implémentation efficience des requêtes de lecture dans une architecture </a:t>
            </a:r>
            <a:r>
              <a:rPr lang="fr-FR" kern="100" dirty="0" err="1">
                <a:latin typeface="Aptos" panose="020B0004020202020204" pitchFamily="34" charset="0"/>
                <a:ea typeface="Aptos" panose="020B0004020202020204" pitchFamily="34" charset="0"/>
                <a:cs typeface="Times New Roman" panose="02020603050405020304" pitchFamily="18" charset="0"/>
              </a:rPr>
              <a:t>microservices</a:t>
            </a:r>
            <a:endParaRPr lang="fr-FR" sz="1800" kern="100" dirty="0">
              <a:effectLst/>
              <a:latin typeface="Aptos" panose="020B0004020202020204" pitchFamily="34" charset="0"/>
              <a:ea typeface="Aptos" panose="020B0004020202020204" pitchFamily="34" charset="0"/>
              <a:cs typeface="Times New Roman" panose="02020603050405020304" pitchFamily="18" charset="0"/>
            </a:endParaRPr>
          </a:p>
          <a:p>
            <a:pPr marL="285750" lvl="0" indent="-285750">
              <a:lnSpc>
                <a:spcPct val="115000"/>
              </a:lnSpc>
              <a:spcAft>
                <a:spcPts val="800"/>
              </a:spcAft>
              <a:buFont typeface="Arial" panose="020B0604020202020204" pitchFamily="34" charset="0"/>
              <a:buChar char="•"/>
              <a:tabLst>
                <a:tab pos="457200" algn="l"/>
              </a:tabLst>
            </a:pPr>
            <a:r>
              <a:rPr lang="fr-FR" sz="1800" kern="100" dirty="0">
                <a:effectLst/>
                <a:latin typeface="Aptos" panose="020B0004020202020204" pitchFamily="34" charset="0"/>
                <a:ea typeface="Aptos" panose="020B0004020202020204" pitchFamily="34" charset="0"/>
                <a:cs typeface="Times New Roman" panose="02020603050405020304" pitchFamily="18" charset="0"/>
              </a:rPr>
              <a:t>Favorise l’implémentation de requêtes diversifiées.</a:t>
            </a:r>
          </a:p>
          <a:p>
            <a:pPr marL="285750" lvl="0" indent="-285750">
              <a:lnSpc>
                <a:spcPct val="115000"/>
              </a:lnSpc>
              <a:spcAft>
                <a:spcPts val="800"/>
              </a:spcAft>
              <a:buFont typeface="Arial" panose="020B0604020202020204" pitchFamily="34" charset="0"/>
              <a:buChar char="•"/>
              <a:tabLst>
                <a:tab pos="457200" algn="l"/>
              </a:tabLst>
            </a:pPr>
            <a:r>
              <a:rPr lang="fr-FR" kern="100" dirty="0">
                <a:latin typeface="Aptos" panose="020B0004020202020204" pitchFamily="34" charset="0"/>
                <a:ea typeface="Aptos" panose="020B0004020202020204" pitchFamily="34" charset="0"/>
                <a:cs typeface="Times New Roman" panose="02020603050405020304" pitchFamily="18" charset="0"/>
              </a:rPr>
              <a:t>Augmente la modularité et la séparation des tâches</a:t>
            </a:r>
          </a:p>
          <a:p>
            <a:pPr marL="285750" lvl="0" indent="-285750">
              <a:lnSpc>
                <a:spcPct val="115000"/>
              </a:lnSpc>
              <a:spcAft>
                <a:spcPts val="800"/>
              </a:spcAft>
              <a:buFont typeface="Arial" panose="020B0604020202020204" pitchFamily="34" charset="0"/>
              <a:buChar char="•"/>
              <a:tabLst>
                <a:tab pos="457200" algn="l"/>
              </a:tabLst>
            </a:pPr>
            <a:endParaRPr lang="fr-FR" sz="1800" kern="100" dirty="0">
              <a:effectLst/>
              <a:latin typeface="Aptos" panose="020B0004020202020204" pitchFamily="34" charset="0"/>
              <a:ea typeface="Aptos" panose="020B0004020202020204" pitchFamily="34" charset="0"/>
              <a:cs typeface="Times New Roman" panose="02020603050405020304" pitchFamily="18" charset="0"/>
            </a:endParaRPr>
          </a:p>
          <a:p>
            <a:pPr lvl="0">
              <a:lnSpc>
                <a:spcPct val="115000"/>
              </a:lnSpc>
              <a:spcAft>
                <a:spcPts val="800"/>
              </a:spcAft>
              <a:tabLst>
                <a:tab pos="457200" algn="l"/>
              </a:tabLst>
            </a:pPr>
            <a:r>
              <a:rPr lang="fr-FR" sz="2200" b="1" kern="100" dirty="0">
                <a:latin typeface="Aptos" panose="020B0004020202020204" pitchFamily="34" charset="0"/>
                <a:ea typeface="Aptos" panose="020B0004020202020204" pitchFamily="34" charset="0"/>
                <a:cs typeface="Times New Roman" panose="02020603050405020304" pitchFamily="18" charset="0"/>
              </a:rPr>
              <a:t>Inconvénients</a:t>
            </a:r>
            <a:endParaRPr lang="fr-FR" sz="2200" b="1" kern="100" dirty="0">
              <a:effectLst/>
              <a:latin typeface="Aptos" panose="020B0004020202020204" pitchFamily="34" charset="0"/>
              <a:ea typeface="Aptos" panose="020B0004020202020204" pitchFamily="34" charset="0"/>
              <a:cs typeface="Times New Roman" panose="02020603050405020304" pitchFamily="18" charset="0"/>
            </a:endParaRPr>
          </a:p>
          <a:p>
            <a:pPr marL="285750" lvl="0" indent="-285750">
              <a:lnSpc>
                <a:spcPct val="115000"/>
              </a:lnSpc>
              <a:spcAft>
                <a:spcPts val="800"/>
              </a:spcAft>
              <a:buFont typeface="Arial" panose="020B0604020202020204" pitchFamily="34" charset="0"/>
              <a:buChar char="•"/>
              <a:tabLst>
                <a:tab pos="457200" algn="l"/>
              </a:tabLst>
            </a:pPr>
            <a:r>
              <a:rPr lang="fr-FR" sz="1800" kern="100" dirty="0">
                <a:effectLst/>
                <a:latin typeface="Aptos" panose="020B0004020202020204" pitchFamily="34" charset="0"/>
                <a:ea typeface="Aptos" panose="020B0004020202020204" pitchFamily="34" charset="0"/>
                <a:cs typeface="Times New Roman" panose="02020603050405020304" pitchFamily="18" charset="0"/>
              </a:rPr>
              <a:t>Complexe à mettre en place</a:t>
            </a:r>
          </a:p>
          <a:p>
            <a:pPr marL="285750" lvl="0" indent="-285750">
              <a:lnSpc>
                <a:spcPct val="115000"/>
              </a:lnSpc>
              <a:spcAft>
                <a:spcPts val="800"/>
              </a:spcAft>
              <a:buFont typeface="Arial" panose="020B0604020202020204" pitchFamily="34" charset="0"/>
              <a:buChar char="•"/>
              <a:tabLst>
                <a:tab pos="457200" algn="l"/>
              </a:tabLst>
            </a:pPr>
            <a:r>
              <a:rPr lang="fr-FR" sz="1800" kern="100" dirty="0">
                <a:effectLst/>
                <a:latin typeface="Aptos" panose="020B0004020202020204" pitchFamily="34" charset="0"/>
                <a:ea typeface="Aptos" panose="020B0004020202020204" pitchFamily="34" charset="0"/>
                <a:cs typeface="Times New Roman" panose="02020603050405020304" pitchFamily="18" charset="0"/>
              </a:rPr>
              <a:t>Il faut gérer les délais de réplication des données</a:t>
            </a:r>
          </a:p>
        </p:txBody>
      </p:sp>
    </p:spTree>
    <p:extLst>
      <p:ext uri="{BB962C8B-B14F-4D97-AF65-F5344CB8AC3E}">
        <p14:creationId xmlns:p14="http://schemas.microsoft.com/office/powerpoint/2010/main" val="3591450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B4E1D-12AF-D7BC-A8C7-B470A91DEE3C}"/>
            </a:ext>
          </a:extLst>
        </p:cNvPr>
        <p:cNvGrpSpPr/>
        <p:nvPr/>
      </p:nvGrpSpPr>
      <p:grpSpPr>
        <a:xfrm>
          <a:off x="0" y="0"/>
          <a:ext cx="0" cy="0"/>
          <a:chOff x="0" y="0"/>
          <a:chExt cx="0" cy="0"/>
        </a:xfrm>
      </p:grpSpPr>
      <p:sp>
        <p:nvSpPr>
          <p:cNvPr id="4" name="Titre 1">
            <a:extLst>
              <a:ext uri="{FF2B5EF4-FFF2-40B4-BE49-F238E27FC236}">
                <a16:creationId xmlns:a16="http://schemas.microsoft.com/office/drawing/2014/main" id="{0F8C1423-409C-7EA4-1000-46C153F3CD4C}"/>
              </a:ext>
            </a:extLst>
          </p:cNvPr>
          <p:cNvSpPr txBox="1">
            <a:spLocks/>
          </p:cNvSpPr>
          <p:nvPr/>
        </p:nvSpPr>
        <p:spPr>
          <a:xfrm>
            <a:off x="223520" y="284485"/>
            <a:ext cx="4100830" cy="42567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b="1" dirty="0"/>
              <a:t>Event </a:t>
            </a:r>
            <a:r>
              <a:rPr lang="fr-FR" sz="2800" b="1" dirty="0" err="1"/>
              <a:t>Sourcing</a:t>
            </a:r>
            <a:r>
              <a:rPr lang="fr-FR" sz="2800" b="1" dirty="0"/>
              <a:t>: Définition</a:t>
            </a:r>
          </a:p>
        </p:txBody>
      </p:sp>
      <p:cxnSp>
        <p:nvCxnSpPr>
          <p:cNvPr id="5" name="Connecteur droit 4">
            <a:extLst>
              <a:ext uri="{FF2B5EF4-FFF2-40B4-BE49-F238E27FC236}">
                <a16:creationId xmlns:a16="http://schemas.microsoft.com/office/drawing/2014/main" id="{B2FC6BF9-5027-E168-762E-3672B61A008B}"/>
              </a:ext>
            </a:extLst>
          </p:cNvPr>
          <p:cNvCxnSpPr>
            <a:cxnSpLocks/>
          </p:cNvCxnSpPr>
          <p:nvPr/>
        </p:nvCxnSpPr>
        <p:spPr>
          <a:xfrm>
            <a:off x="0" y="86754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Sous-titre 2">
            <a:extLst>
              <a:ext uri="{FF2B5EF4-FFF2-40B4-BE49-F238E27FC236}">
                <a16:creationId xmlns:a16="http://schemas.microsoft.com/office/drawing/2014/main" id="{BDBEA005-C122-2452-3E91-14CCF6047D3F}"/>
              </a:ext>
            </a:extLst>
          </p:cNvPr>
          <p:cNvSpPr txBox="1">
            <a:spLocks/>
          </p:cNvSpPr>
          <p:nvPr/>
        </p:nvSpPr>
        <p:spPr>
          <a:xfrm>
            <a:off x="4324350" y="6643878"/>
            <a:ext cx="2890647" cy="2141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100" b="1">
                <a:solidFill>
                  <a:schemeClr val="tx2"/>
                </a:solidFill>
              </a:rPr>
              <a:t>Préparé et Présenté par Daniel  Lawson</a:t>
            </a:r>
            <a:endParaRPr lang="fr-FR" sz="1100" b="1" dirty="0">
              <a:solidFill>
                <a:schemeClr val="tx2"/>
              </a:solidFill>
            </a:endParaRPr>
          </a:p>
        </p:txBody>
      </p:sp>
      <p:sp>
        <p:nvSpPr>
          <p:cNvPr id="8" name="ZoneTexte 7">
            <a:extLst>
              <a:ext uri="{FF2B5EF4-FFF2-40B4-BE49-F238E27FC236}">
                <a16:creationId xmlns:a16="http://schemas.microsoft.com/office/drawing/2014/main" id="{F0D396B0-5A28-A260-813F-B47BEB7FE936}"/>
              </a:ext>
            </a:extLst>
          </p:cNvPr>
          <p:cNvSpPr txBox="1"/>
          <p:nvPr/>
        </p:nvSpPr>
        <p:spPr>
          <a:xfrm>
            <a:off x="0" y="1258792"/>
            <a:ext cx="11841841" cy="2561470"/>
          </a:xfrm>
          <a:prstGeom prst="rect">
            <a:avLst/>
          </a:prstGeom>
          <a:noFill/>
        </p:spPr>
        <p:txBody>
          <a:bodyPr wrap="square">
            <a:spAutoFit/>
          </a:bodyPr>
          <a:lstStyle/>
          <a:p>
            <a:pPr marL="228600">
              <a:lnSpc>
                <a:spcPct val="150000"/>
              </a:lnSpc>
              <a:spcAft>
                <a:spcPts val="800"/>
              </a:spcAft>
            </a:pPr>
            <a:r>
              <a:rPr lang="fr-FR" sz="2000" kern="100" dirty="0">
                <a:effectLst/>
                <a:latin typeface="Aptos" panose="020B0004020202020204" pitchFamily="34" charset="0"/>
                <a:ea typeface="Aptos" panose="020B0004020202020204" pitchFamily="34" charset="0"/>
                <a:cs typeface="Times New Roman" panose="02020603050405020304" pitchFamily="18" charset="0"/>
              </a:rPr>
              <a:t>L’Event </a:t>
            </a:r>
            <a:r>
              <a:rPr lang="fr-FR" sz="2000" kern="100" dirty="0" err="1">
                <a:effectLst/>
                <a:latin typeface="Aptos" panose="020B0004020202020204" pitchFamily="34" charset="0"/>
                <a:ea typeface="Aptos" panose="020B0004020202020204" pitchFamily="34" charset="0"/>
                <a:cs typeface="Times New Roman" panose="02020603050405020304" pitchFamily="18" charset="0"/>
              </a:rPr>
              <a:t>Sourcing</a:t>
            </a:r>
            <a:r>
              <a:rPr lang="fr-FR" sz="2000" kern="100" dirty="0">
                <a:effectLst/>
                <a:latin typeface="Aptos" panose="020B0004020202020204" pitchFamily="34" charset="0"/>
                <a:ea typeface="Aptos" panose="020B0004020202020204" pitchFamily="34" charset="0"/>
                <a:cs typeface="Times New Roman" panose="02020603050405020304" pitchFamily="18" charset="0"/>
              </a:rPr>
              <a:t> consiste à stocker dans une base de données, tous les états liés au métier comme une séquence d ’évènements. A chaque changement d’une entité métier, un évènement est créé et rajouté à la liste des évènements.</a:t>
            </a:r>
          </a:p>
          <a:p>
            <a:pPr marL="571500" indent="-342900">
              <a:lnSpc>
                <a:spcPct val="150000"/>
              </a:lnSpc>
              <a:spcAft>
                <a:spcPts val="800"/>
              </a:spcAft>
              <a:buFont typeface="Arial" panose="020B0604020202020204" pitchFamily="34" charset="0"/>
              <a:buChar char="•"/>
            </a:pPr>
            <a:r>
              <a:rPr lang="fr-FR" sz="2000" kern="100" dirty="0">
                <a:latin typeface="Aptos" panose="020B0004020202020204" pitchFamily="34" charset="0"/>
                <a:ea typeface="Aptos" panose="020B0004020202020204" pitchFamily="34" charset="0"/>
                <a:cs typeface="Times New Roman" panose="02020603050405020304" pitchFamily="18" charset="0"/>
              </a:rPr>
              <a:t>Chaque évènement est </a:t>
            </a:r>
            <a:r>
              <a:rPr lang="fr-FR" sz="2000" b="1" kern="100" dirty="0">
                <a:latin typeface="Aptos" panose="020B0004020202020204" pitchFamily="34" charset="0"/>
                <a:ea typeface="Aptos" panose="020B0004020202020204" pitchFamily="34" charset="0"/>
                <a:cs typeface="Times New Roman" panose="02020603050405020304" pitchFamily="18" charset="0"/>
              </a:rPr>
              <a:t>atomique</a:t>
            </a:r>
            <a:r>
              <a:rPr lang="fr-FR" sz="2000" kern="100" dirty="0">
                <a:latin typeface="Aptos" panose="020B0004020202020204" pitchFamily="34" charset="0"/>
                <a:ea typeface="Aptos" panose="020B0004020202020204" pitchFamily="34" charset="0"/>
                <a:cs typeface="Times New Roman" panose="02020603050405020304" pitchFamily="18" charset="0"/>
              </a:rPr>
              <a:t> et </a:t>
            </a:r>
            <a:r>
              <a:rPr lang="fr-FR" sz="2000" b="1" kern="100" dirty="0">
                <a:latin typeface="Aptos" panose="020B0004020202020204" pitchFamily="34" charset="0"/>
                <a:ea typeface="Aptos" panose="020B0004020202020204" pitchFamily="34" charset="0"/>
                <a:cs typeface="Times New Roman" panose="02020603050405020304" pitchFamily="18" charset="0"/>
              </a:rPr>
              <a:t>immuable</a:t>
            </a:r>
          </a:p>
          <a:p>
            <a:pPr marL="571500" indent="-342900">
              <a:lnSpc>
                <a:spcPct val="150000"/>
              </a:lnSpc>
              <a:spcAft>
                <a:spcPts val="800"/>
              </a:spcAft>
              <a:buFont typeface="Arial" panose="020B0604020202020204" pitchFamily="34" charset="0"/>
              <a:buChar char="•"/>
            </a:pPr>
            <a:r>
              <a:rPr lang="fr-FR" sz="2000" kern="100" dirty="0">
                <a:effectLst/>
                <a:latin typeface="Aptos" panose="020B0004020202020204" pitchFamily="34" charset="0"/>
                <a:ea typeface="Aptos" panose="020B0004020202020204" pitchFamily="34" charset="0"/>
                <a:cs typeface="Times New Roman" panose="02020603050405020304" pitchFamily="18" charset="0"/>
              </a:rPr>
              <a:t>L’application </a:t>
            </a:r>
            <a:r>
              <a:rPr lang="fr-FR" sz="2000" kern="100" dirty="0">
                <a:latin typeface="Aptos" panose="020B0004020202020204" pitchFamily="34" charset="0"/>
                <a:ea typeface="Aptos" panose="020B0004020202020204" pitchFamily="34" charset="0"/>
                <a:cs typeface="Times New Roman" panose="02020603050405020304" pitchFamily="18" charset="0"/>
              </a:rPr>
              <a:t>reconstruit l’état courant d’une entité en rejouant les évènements</a:t>
            </a:r>
            <a:endParaRPr lang="fr-FR" sz="20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1026" name="Picture 2" descr="EventStoreDB">
            <a:extLst>
              <a:ext uri="{FF2B5EF4-FFF2-40B4-BE49-F238E27FC236}">
                <a16:creationId xmlns:a16="http://schemas.microsoft.com/office/drawing/2014/main" id="{228FE12B-A640-76A2-FA50-08C5487285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38143" y="4944922"/>
            <a:ext cx="5359908" cy="13085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88269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60056-ED34-BB91-1A59-BB4509370B53}"/>
            </a:ext>
          </a:extLst>
        </p:cNvPr>
        <p:cNvGrpSpPr/>
        <p:nvPr/>
      </p:nvGrpSpPr>
      <p:grpSpPr>
        <a:xfrm>
          <a:off x="0" y="0"/>
          <a:ext cx="0" cy="0"/>
          <a:chOff x="0" y="0"/>
          <a:chExt cx="0" cy="0"/>
        </a:xfrm>
      </p:grpSpPr>
      <p:sp>
        <p:nvSpPr>
          <p:cNvPr id="4" name="Titre 1">
            <a:extLst>
              <a:ext uri="{FF2B5EF4-FFF2-40B4-BE49-F238E27FC236}">
                <a16:creationId xmlns:a16="http://schemas.microsoft.com/office/drawing/2014/main" id="{F9BAD663-A1AD-42A3-BF15-519C978F3C7C}"/>
              </a:ext>
            </a:extLst>
          </p:cNvPr>
          <p:cNvSpPr txBox="1">
            <a:spLocks/>
          </p:cNvSpPr>
          <p:nvPr/>
        </p:nvSpPr>
        <p:spPr>
          <a:xfrm>
            <a:off x="223520" y="284485"/>
            <a:ext cx="4100830" cy="42567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b="1" dirty="0"/>
              <a:t>Event </a:t>
            </a:r>
            <a:r>
              <a:rPr lang="fr-FR" sz="2800" b="1" dirty="0" err="1"/>
              <a:t>Sourcing</a:t>
            </a:r>
            <a:r>
              <a:rPr lang="fr-FR" sz="2800" b="1" dirty="0"/>
              <a:t>: Exemple</a:t>
            </a:r>
          </a:p>
        </p:txBody>
      </p:sp>
      <p:cxnSp>
        <p:nvCxnSpPr>
          <p:cNvPr id="5" name="Connecteur droit 4">
            <a:extLst>
              <a:ext uri="{FF2B5EF4-FFF2-40B4-BE49-F238E27FC236}">
                <a16:creationId xmlns:a16="http://schemas.microsoft.com/office/drawing/2014/main" id="{B063DA71-31CC-CF47-7C91-F95C8588AC23}"/>
              </a:ext>
            </a:extLst>
          </p:cNvPr>
          <p:cNvCxnSpPr>
            <a:cxnSpLocks/>
          </p:cNvCxnSpPr>
          <p:nvPr/>
        </p:nvCxnSpPr>
        <p:spPr>
          <a:xfrm>
            <a:off x="0" y="86754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Sous-titre 2">
            <a:extLst>
              <a:ext uri="{FF2B5EF4-FFF2-40B4-BE49-F238E27FC236}">
                <a16:creationId xmlns:a16="http://schemas.microsoft.com/office/drawing/2014/main" id="{E5882DD1-6AA0-5AA5-2552-4DD61263EB42}"/>
              </a:ext>
            </a:extLst>
          </p:cNvPr>
          <p:cNvSpPr txBox="1">
            <a:spLocks/>
          </p:cNvSpPr>
          <p:nvPr/>
        </p:nvSpPr>
        <p:spPr>
          <a:xfrm>
            <a:off x="4324350" y="6643878"/>
            <a:ext cx="2890647" cy="2141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100" b="1">
                <a:solidFill>
                  <a:schemeClr val="tx2"/>
                </a:solidFill>
              </a:rPr>
              <a:t>Préparé et Présenté par Daniel  Lawson</a:t>
            </a:r>
            <a:endParaRPr lang="fr-FR" sz="1100" b="1" dirty="0">
              <a:solidFill>
                <a:schemeClr val="tx2"/>
              </a:solidFill>
            </a:endParaRPr>
          </a:p>
        </p:txBody>
      </p:sp>
      <p:pic>
        <p:nvPicPr>
          <p:cNvPr id="9" name="Image 8">
            <a:extLst>
              <a:ext uri="{FF2B5EF4-FFF2-40B4-BE49-F238E27FC236}">
                <a16:creationId xmlns:a16="http://schemas.microsoft.com/office/drawing/2014/main" id="{E56E8F72-FB98-8002-5CE7-F8411D2A5CB7}"/>
              </a:ext>
            </a:extLst>
          </p:cNvPr>
          <p:cNvPicPr>
            <a:picLocks noChangeAspect="1"/>
          </p:cNvPicPr>
          <p:nvPr/>
        </p:nvPicPr>
        <p:blipFill>
          <a:blip r:embed="rId3"/>
          <a:stretch>
            <a:fillRect/>
          </a:stretch>
        </p:blipFill>
        <p:spPr>
          <a:xfrm>
            <a:off x="1066392" y="1039922"/>
            <a:ext cx="10260738" cy="5205083"/>
          </a:xfrm>
          <a:prstGeom prst="rect">
            <a:avLst/>
          </a:prstGeom>
        </p:spPr>
      </p:pic>
    </p:spTree>
    <p:extLst>
      <p:ext uri="{BB962C8B-B14F-4D97-AF65-F5344CB8AC3E}">
        <p14:creationId xmlns:p14="http://schemas.microsoft.com/office/powerpoint/2010/main" val="6462916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DB69E-7614-D51C-5746-06CCB43888C8}"/>
            </a:ext>
          </a:extLst>
        </p:cNvPr>
        <p:cNvGrpSpPr/>
        <p:nvPr/>
      </p:nvGrpSpPr>
      <p:grpSpPr>
        <a:xfrm>
          <a:off x="0" y="0"/>
          <a:ext cx="0" cy="0"/>
          <a:chOff x="0" y="0"/>
          <a:chExt cx="0" cy="0"/>
        </a:xfrm>
      </p:grpSpPr>
      <p:pic>
        <p:nvPicPr>
          <p:cNvPr id="1028" name="Picture 4" descr="Pros and cons concept illustration">
            <a:extLst>
              <a:ext uri="{FF2B5EF4-FFF2-40B4-BE49-F238E27FC236}">
                <a16:creationId xmlns:a16="http://schemas.microsoft.com/office/drawing/2014/main" id="{A7FADD33-DFC4-121E-3185-E1FB1F7244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16922" y="1272398"/>
            <a:ext cx="4477587" cy="4477587"/>
          </a:xfrm>
          <a:prstGeom prst="rect">
            <a:avLst/>
          </a:prstGeom>
          <a:noFill/>
          <a:extLst>
            <a:ext uri="{909E8E84-426E-40DD-AFC4-6F175D3DCCD1}">
              <a14:hiddenFill xmlns:a14="http://schemas.microsoft.com/office/drawing/2010/main">
                <a:solidFill>
                  <a:srgbClr val="FFFFFF"/>
                </a:solidFill>
              </a14:hiddenFill>
            </a:ext>
          </a:extLst>
        </p:spPr>
      </p:pic>
      <p:sp>
        <p:nvSpPr>
          <p:cNvPr id="4" name="Titre 1">
            <a:extLst>
              <a:ext uri="{FF2B5EF4-FFF2-40B4-BE49-F238E27FC236}">
                <a16:creationId xmlns:a16="http://schemas.microsoft.com/office/drawing/2014/main" id="{18B68793-146E-4BDB-F330-DE4FF0BF018F}"/>
              </a:ext>
            </a:extLst>
          </p:cNvPr>
          <p:cNvSpPr txBox="1">
            <a:spLocks/>
          </p:cNvSpPr>
          <p:nvPr/>
        </p:nvSpPr>
        <p:spPr>
          <a:xfrm>
            <a:off x="223520" y="284485"/>
            <a:ext cx="6828790" cy="42567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b="1" dirty="0"/>
              <a:t>Event </a:t>
            </a:r>
            <a:r>
              <a:rPr lang="fr-FR" sz="2800" b="1" dirty="0" err="1"/>
              <a:t>Sourcing</a:t>
            </a:r>
            <a:r>
              <a:rPr lang="fr-FR" sz="2800" b="1" dirty="0"/>
              <a:t>: Avantages et inconvénients</a:t>
            </a:r>
          </a:p>
        </p:txBody>
      </p:sp>
      <p:cxnSp>
        <p:nvCxnSpPr>
          <p:cNvPr id="5" name="Connecteur droit 4">
            <a:extLst>
              <a:ext uri="{FF2B5EF4-FFF2-40B4-BE49-F238E27FC236}">
                <a16:creationId xmlns:a16="http://schemas.microsoft.com/office/drawing/2014/main" id="{EBC1EDB2-122F-CC0F-E92B-9D94B2E08734}"/>
              </a:ext>
            </a:extLst>
          </p:cNvPr>
          <p:cNvCxnSpPr>
            <a:cxnSpLocks/>
          </p:cNvCxnSpPr>
          <p:nvPr/>
        </p:nvCxnSpPr>
        <p:spPr>
          <a:xfrm>
            <a:off x="0" y="86754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Sous-titre 2">
            <a:extLst>
              <a:ext uri="{FF2B5EF4-FFF2-40B4-BE49-F238E27FC236}">
                <a16:creationId xmlns:a16="http://schemas.microsoft.com/office/drawing/2014/main" id="{48B4394E-F2B3-6DE5-7BDF-80BBB5373AEE}"/>
              </a:ext>
            </a:extLst>
          </p:cNvPr>
          <p:cNvSpPr txBox="1">
            <a:spLocks/>
          </p:cNvSpPr>
          <p:nvPr/>
        </p:nvSpPr>
        <p:spPr>
          <a:xfrm>
            <a:off x="4324350" y="6643878"/>
            <a:ext cx="2890647" cy="2141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100" b="1">
                <a:solidFill>
                  <a:schemeClr val="tx2"/>
                </a:solidFill>
              </a:rPr>
              <a:t>Préparé et Présenté par Daniel  Lawson</a:t>
            </a:r>
            <a:endParaRPr lang="fr-FR" sz="1100" b="1" dirty="0">
              <a:solidFill>
                <a:schemeClr val="tx2"/>
              </a:solidFill>
            </a:endParaRPr>
          </a:p>
        </p:txBody>
      </p:sp>
      <p:sp>
        <p:nvSpPr>
          <p:cNvPr id="8" name="ZoneTexte 7">
            <a:extLst>
              <a:ext uri="{FF2B5EF4-FFF2-40B4-BE49-F238E27FC236}">
                <a16:creationId xmlns:a16="http://schemas.microsoft.com/office/drawing/2014/main" id="{3CF464D9-B3A1-B654-29AB-7FC7D7DD4985}"/>
              </a:ext>
            </a:extLst>
          </p:cNvPr>
          <p:cNvSpPr txBox="1"/>
          <p:nvPr/>
        </p:nvSpPr>
        <p:spPr>
          <a:xfrm>
            <a:off x="223519" y="993116"/>
            <a:ext cx="7766051" cy="5180072"/>
          </a:xfrm>
          <a:prstGeom prst="rect">
            <a:avLst/>
          </a:prstGeom>
          <a:noFill/>
        </p:spPr>
        <p:txBody>
          <a:bodyPr wrap="square">
            <a:spAutoFit/>
          </a:bodyPr>
          <a:lstStyle/>
          <a:p>
            <a:pPr>
              <a:lnSpc>
                <a:spcPct val="115000"/>
              </a:lnSpc>
              <a:spcAft>
                <a:spcPts val="800"/>
              </a:spcAft>
            </a:pPr>
            <a:r>
              <a:rPr lang="fr-FR" sz="2200" b="1" kern="100" dirty="0">
                <a:effectLst/>
                <a:latin typeface="Aptos" panose="020B0004020202020204" pitchFamily="34" charset="0"/>
                <a:ea typeface="Aptos" panose="020B0004020202020204" pitchFamily="34" charset="0"/>
                <a:cs typeface="Times New Roman" panose="02020603050405020304" pitchFamily="18" charset="0"/>
              </a:rPr>
              <a:t>Avantages</a:t>
            </a:r>
            <a:endParaRPr lang="fr-FR" sz="2200" kern="100" dirty="0">
              <a:latin typeface="Aptos" panose="020B0004020202020204" pitchFamily="34" charset="0"/>
              <a:ea typeface="Aptos" panose="020B0004020202020204" pitchFamily="34" charset="0"/>
              <a:cs typeface="Times New Roman" panose="02020603050405020304" pitchFamily="18" charset="0"/>
            </a:endParaRPr>
          </a:p>
          <a:p>
            <a:pPr marL="285750" lvl="0" indent="-285750">
              <a:lnSpc>
                <a:spcPct val="115000"/>
              </a:lnSpc>
              <a:spcAft>
                <a:spcPts val="800"/>
              </a:spcAft>
              <a:buFont typeface="Arial" panose="020B0604020202020204" pitchFamily="34" charset="0"/>
              <a:buChar char="•"/>
              <a:tabLst>
                <a:tab pos="457200" algn="l"/>
              </a:tabLst>
            </a:pPr>
            <a:r>
              <a:rPr lang="fr-FR" kern="100" dirty="0">
                <a:latin typeface="Aptos" panose="020B0004020202020204" pitchFamily="34" charset="0"/>
                <a:ea typeface="Aptos" panose="020B0004020202020204" pitchFamily="34" charset="0"/>
                <a:cs typeface="Times New Roman" panose="02020603050405020304" pitchFamily="18" charset="0"/>
              </a:rPr>
              <a:t>Facilite l’implémentation d’une architecture orientée évènements</a:t>
            </a:r>
            <a:endParaRPr lang="fr-FR" sz="1800" kern="100" dirty="0">
              <a:effectLst/>
              <a:latin typeface="Aptos" panose="020B0004020202020204" pitchFamily="34" charset="0"/>
              <a:ea typeface="Aptos" panose="020B0004020202020204" pitchFamily="34" charset="0"/>
              <a:cs typeface="Times New Roman" panose="02020603050405020304" pitchFamily="18" charset="0"/>
            </a:endParaRPr>
          </a:p>
          <a:p>
            <a:pPr marL="285750" lvl="0" indent="-285750">
              <a:lnSpc>
                <a:spcPct val="115000"/>
              </a:lnSpc>
              <a:spcAft>
                <a:spcPts val="800"/>
              </a:spcAft>
              <a:buFont typeface="Arial" panose="020B0604020202020204" pitchFamily="34" charset="0"/>
              <a:buChar char="•"/>
              <a:tabLst>
                <a:tab pos="457200" algn="l"/>
              </a:tabLst>
            </a:pPr>
            <a:r>
              <a:rPr lang="fr-FR" sz="1800" kern="100" dirty="0">
                <a:effectLst/>
                <a:latin typeface="Aptos" panose="020B0004020202020204" pitchFamily="34" charset="0"/>
                <a:ea typeface="Aptos" panose="020B0004020202020204" pitchFamily="34" charset="0"/>
                <a:cs typeface="Times New Roman" panose="02020603050405020304" pitchFamily="18" charset="0"/>
              </a:rPr>
              <a:t>Offre un journal d’audit sûr de l’ensemble des modifications apportées à une entité métier</a:t>
            </a:r>
          </a:p>
          <a:p>
            <a:pPr marL="285750" lvl="0" indent="-285750">
              <a:lnSpc>
                <a:spcPct val="115000"/>
              </a:lnSpc>
              <a:spcAft>
                <a:spcPts val="800"/>
              </a:spcAft>
              <a:buFont typeface="Arial" panose="020B0604020202020204" pitchFamily="34" charset="0"/>
              <a:buChar char="•"/>
              <a:tabLst>
                <a:tab pos="457200" algn="l"/>
              </a:tabLst>
            </a:pPr>
            <a:r>
              <a:rPr lang="fr-FR" kern="100" dirty="0">
                <a:latin typeface="Aptos" panose="020B0004020202020204" pitchFamily="34" charset="0"/>
                <a:ea typeface="Aptos" panose="020B0004020202020204" pitchFamily="34" charset="0"/>
                <a:cs typeface="Times New Roman" panose="02020603050405020304" pitchFamily="18" charset="0"/>
              </a:rPr>
              <a:t>Permet de reconstituer l’état d’un système à un point donné dans le temps</a:t>
            </a:r>
          </a:p>
          <a:p>
            <a:pPr marL="285750" lvl="0" indent="-285750">
              <a:lnSpc>
                <a:spcPct val="115000"/>
              </a:lnSpc>
              <a:spcAft>
                <a:spcPts val="800"/>
              </a:spcAft>
              <a:buFont typeface="Arial" panose="020B0604020202020204" pitchFamily="34" charset="0"/>
              <a:buChar char="•"/>
              <a:tabLst>
                <a:tab pos="457200" algn="l"/>
              </a:tabLst>
            </a:pPr>
            <a:r>
              <a:rPr lang="fr-FR" kern="100" dirty="0">
                <a:latin typeface="Aptos" panose="020B0004020202020204" pitchFamily="34" charset="0"/>
                <a:ea typeface="Aptos" panose="020B0004020202020204" pitchFamily="34" charset="0"/>
                <a:cs typeface="Times New Roman" panose="02020603050405020304" pitchFamily="18" charset="0"/>
              </a:rPr>
              <a:t>Favorise le faible couplage des entités qui s’échangent des évènements</a:t>
            </a:r>
          </a:p>
          <a:p>
            <a:pPr marL="285750" lvl="0" indent="-285750">
              <a:lnSpc>
                <a:spcPct val="115000"/>
              </a:lnSpc>
              <a:spcAft>
                <a:spcPts val="800"/>
              </a:spcAft>
              <a:buFont typeface="Arial" panose="020B0604020202020204" pitchFamily="34" charset="0"/>
              <a:buChar char="•"/>
              <a:tabLst>
                <a:tab pos="457200" algn="l"/>
              </a:tabLst>
            </a:pPr>
            <a:endParaRPr lang="fr-FR" sz="1800" kern="100" dirty="0">
              <a:effectLst/>
              <a:latin typeface="Aptos" panose="020B0004020202020204" pitchFamily="34" charset="0"/>
              <a:ea typeface="Aptos" panose="020B0004020202020204" pitchFamily="34" charset="0"/>
              <a:cs typeface="Times New Roman" panose="02020603050405020304" pitchFamily="18" charset="0"/>
            </a:endParaRPr>
          </a:p>
          <a:p>
            <a:pPr lvl="0">
              <a:lnSpc>
                <a:spcPct val="115000"/>
              </a:lnSpc>
              <a:spcAft>
                <a:spcPts val="800"/>
              </a:spcAft>
              <a:tabLst>
                <a:tab pos="457200" algn="l"/>
              </a:tabLst>
            </a:pPr>
            <a:r>
              <a:rPr lang="fr-FR" sz="2200" b="1" kern="100" dirty="0">
                <a:latin typeface="Aptos" panose="020B0004020202020204" pitchFamily="34" charset="0"/>
                <a:ea typeface="Aptos" panose="020B0004020202020204" pitchFamily="34" charset="0"/>
                <a:cs typeface="Times New Roman" panose="02020603050405020304" pitchFamily="18" charset="0"/>
              </a:rPr>
              <a:t>Inconvénients</a:t>
            </a:r>
            <a:endParaRPr lang="fr-FR" sz="2200" b="1" kern="100" dirty="0">
              <a:effectLst/>
              <a:latin typeface="Aptos" panose="020B0004020202020204" pitchFamily="34" charset="0"/>
              <a:ea typeface="Aptos" panose="020B0004020202020204" pitchFamily="34" charset="0"/>
              <a:cs typeface="Times New Roman" panose="02020603050405020304" pitchFamily="18" charset="0"/>
            </a:endParaRPr>
          </a:p>
          <a:p>
            <a:pPr marL="285750" lvl="0" indent="-285750">
              <a:lnSpc>
                <a:spcPct val="115000"/>
              </a:lnSpc>
              <a:spcAft>
                <a:spcPts val="800"/>
              </a:spcAft>
              <a:buFont typeface="Arial" panose="020B0604020202020204" pitchFamily="34" charset="0"/>
              <a:buChar char="•"/>
              <a:tabLst>
                <a:tab pos="457200" algn="l"/>
              </a:tabLst>
            </a:pPr>
            <a:r>
              <a:rPr lang="fr-FR" sz="1800" kern="100" dirty="0">
                <a:effectLst/>
                <a:latin typeface="Aptos" panose="020B0004020202020204" pitchFamily="34" charset="0"/>
                <a:ea typeface="Aptos" panose="020B0004020202020204" pitchFamily="34" charset="0"/>
                <a:cs typeface="Times New Roman" panose="02020603050405020304" pitchFamily="18" charset="0"/>
              </a:rPr>
              <a:t>Nécessite une courbe d’apprentissage, car c’est une manière peu familière de développer des applications</a:t>
            </a:r>
          </a:p>
          <a:p>
            <a:pPr marL="285750" lvl="0" indent="-285750">
              <a:lnSpc>
                <a:spcPct val="115000"/>
              </a:lnSpc>
              <a:spcAft>
                <a:spcPts val="800"/>
              </a:spcAft>
              <a:buFont typeface="Arial" panose="020B0604020202020204" pitchFamily="34" charset="0"/>
              <a:buChar char="•"/>
              <a:tabLst>
                <a:tab pos="457200" algn="l"/>
              </a:tabLst>
            </a:pPr>
            <a:r>
              <a:rPr lang="fr-FR" kern="100" dirty="0">
                <a:latin typeface="Aptos" panose="020B0004020202020204" pitchFamily="34" charset="0"/>
                <a:ea typeface="Aptos" panose="020B0004020202020204" pitchFamily="34" charset="0"/>
                <a:cs typeface="Times New Roman" panose="02020603050405020304" pitchFamily="18" charset="0"/>
              </a:rPr>
              <a:t>Difficile de faire des requêtes de lecture,  car elles nécessiteraient de reconstituer l’état des entités métier. Ce qui rend les requêtes complexes et inefficaces</a:t>
            </a:r>
            <a:endParaRPr lang="fr-FR"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2192723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103E1-7A70-FCE6-60FF-2AC3C6C4B65E}"/>
            </a:ext>
          </a:extLst>
        </p:cNvPr>
        <p:cNvGrpSpPr/>
        <p:nvPr/>
      </p:nvGrpSpPr>
      <p:grpSpPr>
        <a:xfrm>
          <a:off x="0" y="0"/>
          <a:ext cx="0" cy="0"/>
          <a:chOff x="0" y="0"/>
          <a:chExt cx="0" cy="0"/>
        </a:xfrm>
      </p:grpSpPr>
      <p:pic>
        <p:nvPicPr>
          <p:cNvPr id="7172" name="Picture 4" descr="Tiny business persons working on jigsaw puzzle together. Metaphor for cooperation or partnership, collaboration between team of people flat vector illustration. Communication, teamwork concept">
            <a:extLst>
              <a:ext uri="{FF2B5EF4-FFF2-40B4-BE49-F238E27FC236}">
                <a16:creationId xmlns:a16="http://schemas.microsoft.com/office/drawing/2014/main" id="{55F62128-26DC-3F54-3813-58051674D9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39231"/>
            <a:ext cx="5962650" cy="4591050"/>
          </a:xfrm>
          <a:prstGeom prst="rect">
            <a:avLst/>
          </a:prstGeom>
          <a:noFill/>
          <a:extLst>
            <a:ext uri="{909E8E84-426E-40DD-AFC4-6F175D3DCCD1}">
              <a14:hiddenFill xmlns:a14="http://schemas.microsoft.com/office/drawing/2010/main">
                <a:solidFill>
                  <a:srgbClr val="FFFFFF"/>
                </a:solidFill>
              </a14:hiddenFill>
            </a:ext>
          </a:extLst>
        </p:spPr>
      </p:pic>
      <p:sp>
        <p:nvSpPr>
          <p:cNvPr id="3" name="Espace réservé du contenu 2">
            <a:extLst>
              <a:ext uri="{FF2B5EF4-FFF2-40B4-BE49-F238E27FC236}">
                <a16:creationId xmlns:a16="http://schemas.microsoft.com/office/drawing/2014/main" id="{C6D9166E-59AE-AA0B-3098-9E681CB84916}"/>
              </a:ext>
            </a:extLst>
          </p:cNvPr>
          <p:cNvSpPr>
            <a:spLocks noGrp="1"/>
          </p:cNvSpPr>
          <p:nvPr>
            <p:ph idx="1"/>
          </p:nvPr>
        </p:nvSpPr>
        <p:spPr>
          <a:xfrm>
            <a:off x="5415280" y="1287144"/>
            <a:ext cx="6635990" cy="5083171"/>
          </a:xfrm>
        </p:spPr>
        <p:txBody>
          <a:bodyPr>
            <a:noAutofit/>
          </a:bodyPr>
          <a:lstStyle/>
          <a:p>
            <a:pPr>
              <a:lnSpc>
                <a:spcPct val="150000"/>
              </a:lnSpc>
            </a:pPr>
            <a:r>
              <a:rPr lang="fr-FR" sz="2200" dirty="0"/>
              <a:t>Quelles stratégies adopter quant à la gestion des données de nos </a:t>
            </a:r>
            <a:r>
              <a:rPr lang="fr-FR" sz="2200" dirty="0" err="1"/>
              <a:t>microservices</a:t>
            </a:r>
            <a:r>
              <a:rPr lang="fr-FR" sz="2200" dirty="0"/>
              <a:t> ?</a:t>
            </a:r>
          </a:p>
          <a:p>
            <a:pPr>
              <a:lnSpc>
                <a:spcPct val="150000"/>
              </a:lnSpc>
            </a:pPr>
            <a:r>
              <a:rPr lang="fr-FR" sz="2200" dirty="0"/>
              <a:t>Faut-il éviter ou accepter la duplication des données entre les services ?</a:t>
            </a:r>
          </a:p>
          <a:p>
            <a:pPr>
              <a:lnSpc>
                <a:spcPct val="150000"/>
              </a:lnSpc>
            </a:pPr>
            <a:r>
              <a:rPr lang="fr-FR" sz="2200" dirty="0"/>
              <a:t>Comment assurer : </a:t>
            </a:r>
          </a:p>
          <a:p>
            <a:pPr lvl="1">
              <a:lnSpc>
                <a:spcPct val="150000"/>
              </a:lnSpc>
            </a:pPr>
            <a:r>
              <a:rPr lang="fr-FR" sz="2000" dirty="0"/>
              <a:t>La</a:t>
            </a:r>
            <a:r>
              <a:rPr lang="fr-FR" sz="1800" dirty="0"/>
              <a:t> </a:t>
            </a:r>
            <a:r>
              <a:rPr lang="fr-FR" sz="2000" dirty="0"/>
              <a:t>cohérence</a:t>
            </a:r>
          </a:p>
          <a:p>
            <a:pPr lvl="1">
              <a:lnSpc>
                <a:spcPct val="150000"/>
              </a:lnSpc>
            </a:pPr>
            <a:r>
              <a:rPr lang="fr-FR" sz="2000" dirty="0"/>
              <a:t>La fiabilité</a:t>
            </a:r>
          </a:p>
          <a:p>
            <a:pPr lvl="1">
              <a:lnSpc>
                <a:spcPct val="150000"/>
              </a:lnSpc>
            </a:pPr>
            <a:r>
              <a:rPr lang="fr-FR" sz="2000" dirty="0"/>
              <a:t>La disponibilité</a:t>
            </a:r>
          </a:p>
          <a:p>
            <a:pPr lvl="1">
              <a:lnSpc>
                <a:spcPct val="150000"/>
              </a:lnSpc>
            </a:pPr>
            <a:r>
              <a:rPr lang="fr-FR" sz="2000" dirty="0"/>
              <a:t>La résilience et la tolérance aux pannes</a:t>
            </a:r>
          </a:p>
        </p:txBody>
      </p:sp>
      <p:sp>
        <p:nvSpPr>
          <p:cNvPr id="4" name="Titre 1">
            <a:extLst>
              <a:ext uri="{FF2B5EF4-FFF2-40B4-BE49-F238E27FC236}">
                <a16:creationId xmlns:a16="http://schemas.microsoft.com/office/drawing/2014/main" id="{AA7513F8-E8DA-8C1A-A255-454D7F5F391B}"/>
              </a:ext>
            </a:extLst>
          </p:cNvPr>
          <p:cNvSpPr txBox="1">
            <a:spLocks/>
          </p:cNvSpPr>
          <p:nvPr/>
        </p:nvSpPr>
        <p:spPr>
          <a:xfrm>
            <a:off x="223520" y="396271"/>
            <a:ext cx="3902710" cy="31388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b="1" dirty="0"/>
              <a:t>Répondre aux questions</a:t>
            </a:r>
          </a:p>
        </p:txBody>
      </p:sp>
      <p:cxnSp>
        <p:nvCxnSpPr>
          <p:cNvPr id="5" name="Connecteur droit 4">
            <a:extLst>
              <a:ext uri="{FF2B5EF4-FFF2-40B4-BE49-F238E27FC236}">
                <a16:creationId xmlns:a16="http://schemas.microsoft.com/office/drawing/2014/main" id="{9EB325AE-8A60-9B94-E9BD-C8B87A3ADDB6}"/>
              </a:ext>
            </a:extLst>
          </p:cNvPr>
          <p:cNvCxnSpPr>
            <a:cxnSpLocks/>
          </p:cNvCxnSpPr>
          <p:nvPr/>
        </p:nvCxnSpPr>
        <p:spPr>
          <a:xfrm>
            <a:off x="0" y="86754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Sous-titre 2">
            <a:extLst>
              <a:ext uri="{FF2B5EF4-FFF2-40B4-BE49-F238E27FC236}">
                <a16:creationId xmlns:a16="http://schemas.microsoft.com/office/drawing/2014/main" id="{E264F686-9569-6245-AEEF-6F59FE4484BB}"/>
              </a:ext>
            </a:extLst>
          </p:cNvPr>
          <p:cNvSpPr txBox="1">
            <a:spLocks/>
          </p:cNvSpPr>
          <p:nvPr/>
        </p:nvSpPr>
        <p:spPr>
          <a:xfrm>
            <a:off x="4324350" y="6643878"/>
            <a:ext cx="2890647" cy="2141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100" b="1">
                <a:solidFill>
                  <a:schemeClr val="tx2"/>
                </a:solidFill>
              </a:rPr>
              <a:t>Préparé et Présenté par Daniel  Lawson</a:t>
            </a:r>
            <a:endParaRPr lang="fr-FR" sz="1100" b="1" dirty="0">
              <a:solidFill>
                <a:schemeClr val="tx2"/>
              </a:solidFill>
            </a:endParaRPr>
          </a:p>
        </p:txBody>
      </p:sp>
    </p:spTree>
    <p:extLst>
      <p:ext uri="{BB962C8B-B14F-4D97-AF65-F5344CB8AC3E}">
        <p14:creationId xmlns:p14="http://schemas.microsoft.com/office/powerpoint/2010/main" val="36616980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00BBE-B96A-7C40-325A-0696B2BE5166}"/>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FAFAB6AB-1F2C-7EFF-78BD-EDDFE41AA71D}"/>
              </a:ext>
            </a:extLst>
          </p:cNvPr>
          <p:cNvSpPr txBox="1"/>
          <p:nvPr/>
        </p:nvSpPr>
        <p:spPr>
          <a:xfrm>
            <a:off x="2643187" y="3067362"/>
            <a:ext cx="6905625" cy="723275"/>
          </a:xfrm>
          <a:prstGeom prst="rect">
            <a:avLst/>
          </a:prstGeom>
          <a:noFill/>
        </p:spPr>
        <p:txBody>
          <a:bodyPr wrap="square">
            <a:spAutoFit/>
          </a:bodyPr>
          <a:lstStyle/>
          <a:p>
            <a:pPr algn="ctr"/>
            <a:r>
              <a:rPr lang="fr-FR" sz="4100" b="1" dirty="0">
                <a:solidFill>
                  <a:schemeClr val="tx2"/>
                </a:solidFill>
                <a:latin typeface="Lora" pitchFamily="2" charset="0"/>
              </a:rPr>
              <a:t>Contrôle de connaissances</a:t>
            </a:r>
            <a:endParaRPr lang="fr-FR" sz="4100" dirty="0"/>
          </a:p>
        </p:txBody>
      </p:sp>
    </p:spTree>
    <p:extLst>
      <p:ext uri="{BB962C8B-B14F-4D97-AF65-F5344CB8AC3E}">
        <p14:creationId xmlns:p14="http://schemas.microsoft.com/office/powerpoint/2010/main" val="141590098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O_APP_VERSION" val="1.14.0.5919"/>
  <p:tag name="SLIDO_PRESENTATION_ID" val="fbe061b6-9bd8-432a-a7c9-d5901898a2dd"/>
  <p:tag name="SLIDO_EVENT_UUID" val="d3adc871-5ba9-4fa8-8c43-b58bb3b764fe"/>
  <p:tag name="SLIDO_EVENT_SECTION_UUID" val="3ba8c385-eed6-4ba2-9d60-88eac8cf0f2d"/>
</p:tagLst>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7572</TotalTime>
  <Words>3159</Words>
  <Application>Microsoft Office PowerPoint</Application>
  <PresentationFormat>Grand écran</PresentationFormat>
  <Paragraphs>297</Paragraphs>
  <Slides>44</Slides>
  <Notes>12</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44</vt:i4>
      </vt:variant>
    </vt:vector>
  </HeadingPairs>
  <TitlesOfParts>
    <vt:vector size="51" baseType="lpstr">
      <vt:lpstr>Aptos</vt:lpstr>
      <vt:lpstr>Aptos Display</vt:lpstr>
      <vt:lpstr>Arial</vt:lpstr>
      <vt:lpstr>Consolas</vt:lpstr>
      <vt:lpstr>Lora</vt:lpstr>
      <vt:lpstr>Symbol</vt:lpstr>
      <vt:lpstr>Thème Office</vt:lpstr>
      <vt:lpstr>Microservices</vt:lpstr>
      <vt:lpstr>Présentation PowerPoint</vt:lpstr>
      <vt:lpstr>Présentation PowerPoint</vt:lpstr>
      <vt:lpstr>Présentation PowerPoint</vt:lpstr>
      <vt:lpstr>Stratégies de stockage des données</vt:lpstr>
      <vt:lpstr>Présentation PowerPoint</vt:lpstr>
      <vt:lpstr>Présentation PowerPoint</vt:lpstr>
      <vt:lpstr>Présentation PowerPoint</vt:lpstr>
      <vt:lpstr>Présentation PowerPoint</vt:lpstr>
      <vt:lpstr>Présentation PowerPoint</vt:lpstr>
      <vt:lpstr>Les défis liés à la gestion des données</vt:lpstr>
      <vt:lpstr>Défi 1 :  Cohérence des données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Défi 2 :  Les transactions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 LAWSON</dc:creator>
  <cp:lastModifiedBy>Daniel LAWSON</cp:lastModifiedBy>
  <cp:revision>140</cp:revision>
  <dcterms:created xsi:type="dcterms:W3CDTF">2024-10-03T09:41:06Z</dcterms:created>
  <dcterms:modified xsi:type="dcterms:W3CDTF">2024-12-08T06:22:12Z</dcterms:modified>
</cp:coreProperties>
</file>